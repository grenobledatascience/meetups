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5"/>
  </p:notesMasterIdLst>
  <p:handoutMasterIdLst>
    <p:handoutMasterId r:id="rId26"/>
  </p:handoutMasterIdLst>
  <p:sldIdLst>
    <p:sldId id="256" r:id="rId6"/>
    <p:sldId id="364" r:id="rId7"/>
    <p:sldId id="372" r:id="rId8"/>
    <p:sldId id="366" r:id="rId9"/>
    <p:sldId id="367" r:id="rId10"/>
    <p:sldId id="368" r:id="rId11"/>
    <p:sldId id="371" r:id="rId12"/>
    <p:sldId id="359" r:id="rId13"/>
    <p:sldId id="330" r:id="rId14"/>
    <p:sldId id="341" r:id="rId15"/>
    <p:sldId id="329" r:id="rId16"/>
    <p:sldId id="324" r:id="rId17"/>
    <p:sldId id="325" r:id="rId18"/>
    <p:sldId id="331" r:id="rId19"/>
    <p:sldId id="333" r:id="rId20"/>
    <p:sldId id="354" r:id="rId21"/>
    <p:sldId id="336" r:id="rId22"/>
    <p:sldId id="337" r:id="rId23"/>
    <p:sldId id="338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3C1365B3-B061-4403-9D8C-88BA4E2043F1}">
          <p14:sldIdLst>
            <p14:sldId id="256"/>
            <p14:sldId id="364"/>
            <p14:sldId id="372"/>
            <p14:sldId id="366"/>
            <p14:sldId id="367"/>
            <p14:sldId id="368"/>
            <p14:sldId id="371"/>
            <p14:sldId id="359"/>
            <p14:sldId id="330"/>
            <p14:sldId id="341"/>
            <p14:sldId id="329"/>
            <p14:sldId id="324"/>
            <p14:sldId id="325"/>
            <p14:sldId id="331"/>
            <p14:sldId id="333"/>
            <p14:sldId id="354"/>
            <p14:sldId id="336"/>
            <p14:sldId id="337"/>
            <p14:sldId id="338"/>
          </p14:sldIdLst>
        </p14:section>
        <p14:section name="BUS" id="{D3AABBF5-573C-4AF2-BA13-D1B560456FA0}">
          <p14:sldIdLst/>
        </p14:section>
        <p14:section name="Prev slides" id="{FD04EC16-F935-41C5-8DE3-B314D13AECF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3468"/>
    <a:srgbClr val="FC6DED"/>
    <a:srgbClr val="70AD47"/>
    <a:srgbClr val="FFE2E2"/>
    <a:srgbClr val="33022D"/>
    <a:srgbClr val="E593CE"/>
    <a:srgbClr val="ED7D31"/>
    <a:srgbClr val="F2D8EF"/>
    <a:srgbClr val="000000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88575" autoAdjust="0"/>
  </p:normalViewPr>
  <p:slideViewPr>
    <p:cSldViewPr snapToGrid="0">
      <p:cViewPr varScale="1">
        <p:scale>
          <a:sx n="78" d="100"/>
          <a:sy n="78" d="100"/>
        </p:scale>
        <p:origin x="90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1230463-975F-1FC5-F130-344B42C6A7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A2308-FA37-6278-0449-3B38B9528E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98CF4-0D8F-4DD3-B28A-923FF3FEE419}" type="datetimeFigureOut">
              <a:rPr lang="fr-FR" smtClean="0"/>
              <a:t>26/10/2023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7B76CB-13A6-4357-471D-C13C8A6F57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15A29A-0630-2B6D-5C6E-AD2B8E056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57BD6-0A34-47E4-9D7D-D4D6BB6549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670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2B5AC-F81D-469C-ADE7-402A20B32007}" type="datetimeFigureOut">
              <a:rPr lang="fr-FR" smtClean="0"/>
              <a:t>26/10/2023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C14E6-2559-451E-807A-4A34163A34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14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1 : citer aussi Masked auto-encoder</a:t>
            </a:r>
            <a:r>
              <a:rPr lang="fr-FR" baseline="0" smtClean="0"/>
              <a:t> (SAM)</a:t>
            </a:r>
          </a:p>
          <a:p>
            <a:r>
              <a:rPr lang="fr-FR" baseline="0" smtClean="0"/>
              <a:t>2 : citer aussi 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862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SNN : spiking neural</a:t>
            </a:r>
            <a:r>
              <a:rPr lang="en-US" baseline="0" smtClean="0"/>
              <a:t> network</a:t>
            </a:r>
          </a:p>
          <a:p>
            <a:r>
              <a:rPr lang="en-US" baseline="0" smtClean="0"/>
              <a:t>FPN : Feature Pyramid network</a:t>
            </a:r>
          </a:p>
          <a:p>
            <a:endParaRPr lang="fr-FR" baseline="0" smtClean="0"/>
          </a:p>
          <a:p>
            <a:r>
              <a:rPr lang="fr-FR" baseline="0" smtClean="0"/>
              <a:t>So big that we can change paradigm : no fine-tuning</a:t>
            </a:r>
          </a:p>
          <a:p>
            <a:endParaRPr lang="fr-FR" baseline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/>
              <a:t>Scrap internet for images associated with the 500k words most common in Wikipedia</a:t>
            </a:r>
          </a:p>
          <a:p>
            <a:endParaRPr lang="fr-FR" baseline="0" smtClean="0"/>
          </a:p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09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963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Ordre d’idée d’entrainement</a:t>
            </a:r>
            <a:r>
              <a:rPr lang="en-US" baseline="0" smtClean="0"/>
              <a:t> : un mois sur 500 GPUs</a:t>
            </a:r>
          </a:p>
          <a:p>
            <a:r>
              <a:rPr lang="en-US" baseline="0" smtClean="0"/>
              <a:t>Nb de params : de l’ordre de ViT (600M) + Transformer (60M)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217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417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/>
              <a:t>V2 : repro du meme jeu</a:t>
            </a:r>
          </a:p>
          <a:p>
            <a:r>
              <a:rPr lang="en-US" sz="1200" smtClean="0"/>
              <a:t>R : cartoon, dessins, etc</a:t>
            </a:r>
          </a:p>
          <a:p>
            <a:r>
              <a:rPr lang="en-US" sz="1200" smtClean="0"/>
              <a:t>A : mis-classified by ResNet models</a:t>
            </a:r>
          </a:p>
          <a:p>
            <a:r>
              <a:rPr lang="en-US" sz="1200" smtClean="0"/>
              <a:t>ObjectNet : moins centré, plus d’angles, de background foireux</a:t>
            </a:r>
          </a:p>
          <a:p>
            <a:endParaRPr lang="en-US" sz="1200" smtClean="0"/>
          </a:p>
          <a:p>
            <a:r>
              <a:rPr lang="en-US" sz="1200" smtClean="0"/>
              <a:t>Robustness comes from :</a:t>
            </a:r>
          </a:p>
          <a:p>
            <a:pPr marL="285750" indent="-285750">
              <a:buFontTx/>
              <a:buChar char="-"/>
            </a:pPr>
            <a:r>
              <a:rPr lang="en-US" sz="1200" smtClean="0"/>
              <a:t>CLIP architecture ?</a:t>
            </a:r>
          </a:p>
          <a:p>
            <a:pPr marL="285750" indent="-285750">
              <a:buFontTx/>
              <a:buChar char="-"/>
            </a:pPr>
            <a:r>
              <a:rPr lang="en-US" sz="1200" smtClean="0"/>
              <a:t>Natural Language supervision ?</a:t>
            </a:r>
          </a:p>
          <a:p>
            <a:pPr marL="285750" indent="-285750">
              <a:buFontTx/>
              <a:buChar char="-"/>
            </a:pPr>
            <a:r>
              <a:rPr lang="en-US" sz="1200" smtClean="0"/>
              <a:t>Large dataset ?</a:t>
            </a:r>
          </a:p>
          <a:p>
            <a:pPr marL="285750" indent="-285750">
              <a:buFontTx/>
              <a:buChar char="-"/>
            </a:pPr>
            <a:r>
              <a:rPr lang="en-US" sz="1200" smtClean="0"/>
              <a:t>Not training on ImageNet ?</a:t>
            </a:r>
          </a:p>
          <a:p>
            <a:endParaRPr lang="en-US" sz="120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468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1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13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 dirty="0"/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828EFF-0769-991A-745D-86154BF58E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1286138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1CD6972B-DFC0-49E0-CEDD-F3560A107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5283201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2141578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re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"/>
            <a:ext cx="12192001" cy="685755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2B667D-CC06-7D82-8E0F-CFDA021D6AD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</a:t>
            </a:r>
            <a:r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t>CEA-Leti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4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157583"/>
            <a:ext cx="3563937" cy="1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706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image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734798"/>
            <a:ext cx="3563937" cy="17988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t>Titre CEA-Leti 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1CD6972B-DFC0-49E0-CEDD-F3560A107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5283201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94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8" y="1381125"/>
            <a:ext cx="8329612" cy="4795838"/>
          </a:xfrm>
        </p:spPr>
        <p:txBody>
          <a:bodyPr lIns="0"/>
          <a:lstStyle>
            <a:lvl1pPr marL="358775" indent="-358775">
              <a:spcBef>
                <a:spcPts val="1800"/>
              </a:spcBef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Sommaire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717F4D1-D2E3-F44D-BEED-845604742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53" b="2802"/>
          <a:stretch/>
        </p:blipFill>
        <p:spPr>
          <a:xfrm>
            <a:off x="11647944" y="-1"/>
            <a:ext cx="544056" cy="6858001"/>
          </a:xfrm>
          <a:prstGeom prst="rect">
            <a:avLst/>
          </a:prstGeom>
        </p:spPr>
      </p:pic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914C3EDF-84FF-56C5-6EEE-62348DC5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CA229E7D-5925-577A-6E99-3E009A5C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E0039A2A-B2A3-3003-AC28-98B94837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5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706" y="1354930"/>
            <a:ext cx="11136061" cy="4636512"/>
          </a:xfrm>
        </p:spPr>
        <p:txBody>
          <a:bodyPr lIns="0" numCol="2" spcCol="360000"/>
          <a:lstStyle>
            <a:lvl1pPr marL="358775" indent="-358775">
              <a:spcBef>
                <a:spcPts val="1800"/>
              </a:spcBef>
              <a:buClr>
                <a:schemeClr val="tx1"/>
              </a:buClr>
              <a:buSzPct val="100000"/>
              <a:buFont typeface="+mj-lt"/>
              <a:buAutoNum type="arabicPeriod"/>
              <a:defRPr>
                <a:solidFill>
                  <a:schemeClr val="tx1"/>
                </a:solidFill>
                <a:latin typeface="+mj-lt"/>
              </a:defRPr>
            </a:lvl1pPr>
            <a:lvl2pPr marL="644525" indent="-28575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Sommaire </a:t>
            </a:r>
            <a:r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t>light sur deux colonnes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1E7187-2172-D725-E095-C0FCE93238AE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:Ce sommaire est sur deux colonnes, pour passer sur une colonne : Clic droit sur la zone de texte + « Format de la forme » / « Options de texte » / « Colonnes » = 1 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07" y="179397"/>
            <a:ext cx="11136060" cy="87182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B329AAF-3546-DCEA-619B-466FB9B544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42" b="2802"/>
          <a:stretch/>
        </p:blipFill>
        <p:spPr>
          <a:xfrm>
            <a:off x="11647944" y="0"/>
            <a:ext cx="544056" cy="6858000"/>
          </a:xfrm>
          <a:prstGeom prst="rect">
            <a:avLst/>
          </a:prstGeom>
        </p:spPr>
      </p:pic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AB8B2ECB-EC50-E1E8-3A70-D0DF5B5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38548604-3796-63A0-C437-28EAB17A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3A448DB-A450-22D2-9A30-CE94EAFD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312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</a:t>
            </a:r>
          </a:p>
        </p:txBody>
      </p:sp>
      <p:pic>
        <p:nvPicPr>
          <p:cNvPr id="26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grpSp>
        <p:nvGrpSpPr>
          <p:cNvPr id="2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2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0543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 light</a:t>
            </a:r>
          </a:p>
        </p:txBody>
      </p:sp>
      <p:pic>
        <p:nvPicPr>
          <p:cNvPr id="8" name="PATTERN 14">
            <a:extLst>
              <a:ext uri="{FF2B5EF4-FFF2-40B4-BE49-F238E27FC236}">
                <a16:creationId xmlns:a16="http://schemas.microsoft.com/office/drawing/2014/main" id="{2582F57D-4CEF-BB5A-C74F-450386FD8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5" t="80145" r="2860" b="-12214"/>
          <a:stretch/>
        </p:blipFill>
        <p:spPr>
          <a:xfrm>
            <a:off x="0" y="0"/>
            <a:ext cx="12192001" cy="974400"/>
          </a:xfrm>
          <a:prstGeom prst="rect">
            <a:avLst/>
          </a:prstGeom>
        </p:spPr>
      </p:pic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8F1117-0C05-E4A8-4E70-E7172B08AA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BB4C71F-0E19-B583-5B43-59128B9CB2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035A95C-D228-2D25-8FE9-AE69EC8177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8613F5A-9984-C727-F600-CCBEDD585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E05DBD74-1959-0025-2022-DD6D5BC56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BD0683F2-0083-B473-85FA-BF21CA1AA74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9564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 Gris</a:t>
            </a:r>
          </a:p>
        </p:txBody>
      </p:sp>
      <p:pic>
        <p:nvPicPr>
          <p:cNvPr id="15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4805F626-181E-BCC6-1382-C547F81E4E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CF5C4E32-AAC2-242C-F6B9-3F8CFBDB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AA9B25-BFB9-155C-3383-B48A6E03F6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602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Ble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 Bleu</a:t>
            </a:r>
          </a:p>
        </p:txBody>
      </p:sp>
      <p:pic>
        <p:nvPicPr>
          <p:cNvPr id="14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1EE20C3D-7EDC-C467-57AB-6011AB94E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F06A08C-C6D3-6EB1-26CF-BBE33E5D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6FC69820-7AD8-8DE6-6DD2-0BCC3DF92B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531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284257"/>
            <a:ext cx="11552023" cy="4803722"/>
          </a:xfrm>
        </p:spPr>
        <p:txBody>
          <a:bodyPr/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1303A6F-3D61-F6AC-9302-9FE476FE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390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et contenu 2 colonnes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90406E3-1995-7E53-4201-E3BFE87A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34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Deux contenus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3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93B771A-F9FE-5447-E51C-40360A18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7532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271B01-F4E4-B2FD-ADE2-0F5A7423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D7597D-BC71-3CA1-38C9-B6FBD6A7F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38" y="2298700"/>
            <a:ext cx="5220000" cy="389096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B97958-7FD8-2766-D566-D383863BB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163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42EBB1-652D-E679-13E7-0B6ECA90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163" y="2298700"/>
            <a:ext cx="5220000" cy="389096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ADA965-F8EA-5D12-7ED9-A3674AF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16C217-F7F2-6EE2-D15A-89EA21D2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D0E24-8938-8209-D803-6F81B0B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3701A9-B73D-CA83-ABED-FAE572A2B991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Comparaison</a:t>
            </a:r>
          </a:p>
        </p:txBody>
      </p:sp>
      <p:pic>
        <p:nvPicPr>
          <p:cNvPr id="12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48A9086-96BC-9730-CABD-6DAB6AC2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373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Fond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Deux contenus Fond gris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F77F40-08E8-9301-36C7-9AA7D4B9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667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rou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Deux contenus Fond rouge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D5ECB44-F5B7-CEEC-4B2D-A554A8F1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4B43398-30BC-703C-A14C-DC9A429930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4B12903-F071-BF45-FDEC-76B53C49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6731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Contenu + visuel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5483" y="0"/>
            <a:ext cx="5957423" cy="6858000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957423" h="6858000">
                <a:moveTo>
                  <a:pt x="738225" y="6793932"/>
                </a:moveTo>
                <a:cubicBezTo>
                  <a:pt x="771350" y="6819166"/>
                  <a:pt x="796195" y="6838092"/>
                  <a:pt x="814828" y="6852286"/>
                </a:cubicBezTo>
                <a:lnTo>
                  <a:pt x="822329" y="6858000"/>
                </a:lnTo>
                <a:lnTo>
                  <a:pt x="655724" y="6858000"/>
                </a:lnTo>
                <a:lnTo>
                  <a:pt x="656989" y="6857017"/>
                </a:lnTo>
                <a:cubicBezTo>
                  <a:pt x="738225" y="6793932"/>
                  <a:pt x="738225" y="6793932"/>
                  <a:pt x="738225" y="6793932"/>
                </a:cubicBezTo>
                <a:close/>
                <a:moveTo>
                  <a:pt x="733493" y="6434348"/>
                </a:moveTo>
                <a:cubicBezTo>
                  <a:pt x="733493" y="6780527"/>
                  <a:pt x="733493" y="6780527"/>
                  <a:pt x="733493" y="6780527"/>
                </a:cubicBezTo>
                <a:cubicBezTo>
                  <a:pt x="639637" y="6853075"/>
                  <a:pt x="639637" y="6853075"/>
                  <a:pt x="639637" y="6853075"/>
                </a:cubicBezTo>
                <a:cubicBezTo>
                  <a:pt x="645158" y="6854652"/>
                  <a:pt x="650679" y="6855440"/>
                  <a:pt x="656989" y="6857017"/>
                </a:cubicBezTo>
                <a:cubicBezTo>
                  <a:pt x="650679" y="6856229"/>
                  <a:pt x="644369" y="6854652"/>
                  <a:pt x="638848" y="6853863"/>
                </a:cubicBezTo>
                <a:lnTo>
                  <a:pt x="633515" y="6858000"/>
                </a:lnTo>
                <a:lnTo>
                  <a:pt x="371479" y="6858000"/>
                </a:lnTo>
                <a:lnTo>
                  <a:pt x="371479" y="6799592"/>
                </a:lnTo>
                <a:cubicBezTo>
                  <a:pt x="371479" y="6715076"/>
                  <a:pt x="371479" y="6715076"/>
                  <a:pt x="371479" y="6715076"/>
                </a:cubicBezTo>
                <a:cubicBezTo>
                  <a:pt x="733493" y="6434348"/>
                  <a:pt x="733493" y="6434348"/>
                  <a:pt x="733493" y="6434348"/>
                </a:cubicBezTo>
                <a:close/>
                <a:moveTo>
                  <a:pt x="1106548" y="5786939"/>
                </a:moveTo>
                <a:cubicBezTo>
                  <a:pt x="1106548" y="6133906"/>
                  <a:pt x="1106548" y="6133906"/>
                  <a:pt x="1106548" y="6133906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744534" y="6413845"/>
                  <a:pt x="744534" y="6413845"/>
                  <a:pt x="744534" y="6413845"/>
                </a:cubicBezTo>
                <a:cubicBezTo>
                  <a:pt x="744534" y="6067667"/>
                  <a:pt x="744534" y="6067667"/>
                  <a:pt x="744534" y="6067667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1106548" y="5786939"/>
                  <a:pt x="1106548" y="5786939"/>
                  <a:pt x="1106548" y="5786939"/>
                </a:cubicBezTo>
                <a:close/>
                <a:moveTo>
                  <a:pt x="1739875" y="5671020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739875" y="5671020"/>
                  <a:pt x="1739875" y="5671020"/>
                  <a:pt x="1739875" y="5671020"/>
                </a:cubicBezTo>
                <a:close/>
                <a:moveTo>
                  <a:pt x="1488280" y="5495959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853448" y="5773533"/>
                  <a:pt x="1853448" y="5773533"/>
                  <a:pt x="1853448" y="5773533"/>
                </a:cubicBezTo>
                <a:cubicBezTo>
                  <a:pt x="1489068" y="6056627"/>
                  <a:pt x="1489068" y="6056627"/>
                  <a:pt x="1489068" y="6056627"/>
                </a:cubicBezTo>
                <a:cubicBezTo>
                  <a:pt x="1123900" y="5779053"/>
                  <a:pt x="1123900" y="5779053"/>
                  <a:pt x="1123900" y="5779053"/>
                </a:cubicBezTo>
                <a:cubicBezTo>
                  <a:pt x="1488280" y="5495959"/>
                  <a:pt x="1488280" y="5495959"/>
                  <a:pt x="1488280" y="5495959"/>
                </a:cubicBezTo>
                <a:close/>
                <a:moveTo>
                  <a:pt x="359648" y="4847761"/>
                </a:moveTo>
                <a:cubicBezTo>
                  <a:pt x="724817" y="5125335"/>
                  <a:pt x="724817" y="5125335"/>
                  <a:pt x="724817" y="5125335"/>
                </a:cubicBezTo>
                <a:cubicBezTo>
                  <a:pt x="487418" y="5309070"/>
                  <a:pt x="487418" y="5309070"/>
                  <a:pt x="487418" y="5309070"/>
                </a:cubicBezTo>
                <a:cubicBezTo>
                  <a:pt x="493727" y="5320110"/>
                  <a:pt x="493727" y="5320110"/>
                  <a:pt x="493727" y="5320110"/>
                </a:cubicBezTo>
                <a:cubicBezTo>
                  <a:pt x="733493" y="5134798"/>
                  <a:pt x="733493" y="5134798"/>
                  <a:pt x="733493" y="5134798"/>
                </a:cubicBezTo>
                <a:cubicBezTo>
                  <a:pt x="733493" y="5480976"/>
                  <a:pt x="733493" y="5480976"/>
                  <a:pt x="733493" y="5480976"/>
                </a:cubicBezTo>
                <a:cubicBezTo>
                  <a:pt x="633328" y="5558256"/>
                  <a:pt x="633328" y="5558256"/>
                  <a:pt x="633328" y="5558256"/>
                </a:cubicBezTo>
                <a:cubicBezTo>
                  <a:pt x="641215" y="5570873"/>
                  <a:pt x="641215" y="5570873"/>
                  <a:pt x="641215" y="5570873"/>
                </a:cubicBezTo>
                <a:cubicBezTo>
                  <a:pt x="737436" y="5495959"/>
                  <a:pt x="737436" y="5495959"/>
                  <a:pt x="737436" y="5495959"/>
                </a:cubicBezTo>
                <a:cubicBezTo>
                  <a:pt x="1102605" y="5773533"/>
                  <a:pt x="1102605" y="5773533"/>
                  <a:pt x="1102605" y="5773533"/>
                </a:cubicBezTo>
                <a:cubicBezTo>
                  <a:pt x="866783" y="5956479"/>
                  <a:pt x="866783" y="5956479"/>
                  <a:pt x="866783" y="5956479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865994" y="5957268"/>
                  <a:pt x="865994" y="5957268"/>
                  <a:pt x="865994" y="5957268"/>
                </a:cubicBezTo>
                <a:cubicBezTo>
                  <a:pt x="738225" y="6056627"/>
                  <a:pt x="738225" y="6056627"/>
                  <a:pt x="738225" y="6056627"/>
                </a:cubicBezTo>
                <a:cubicBezTo>
                  <a:pt x="373056" y="5779053"/>
                  <a:pt x="373056" y="5779053"/>
                  <a:pt x="373056" y="5779053"/>
                </a:cubicBezTo>
                <a:cubicBezTo>
                  <a:pt x="640426" y="5571661"/>
                  <a:pt x="640426" y="5571661"/>
                  <a:pt x="640426" y="5571661"/>
                </a:cubicBezTo>
                <a:cubicBezTo>
                  <a:pt x="633328" y="5559044"/>
                  <a:pt x="633328" y="5559044"/>
                  <a:pt x="633328" y="5559044"/>
                </a:cubicBezTo>
                <a:cubicBezTo>
                  <a:pt x="371479" y="5761705"/>
                  <a:pt x="371479" y="5761705"/>
                  <a:pt x="371479" y="5761705"/>
                </a:cubicBezTo>
                <a:cubicBezTo>
                  <a:pt x="371479" y="5415526"/>
                  <a:pt x="371479" y="5415526"/>
                  <a:pt x="371479" y="5415526"/>
                </a:cubicBezTo>
                <a:cubicBezTo>
                  <a:pt x="493727" y="5320898"/>
                  <a:pt x="493727" y="5320898"/>
                  <a:pt x="493727" y="5320898"/>
                </a:cubicBezTo>
                <a:cubicBezTo>
                  <a:pt x="486629" y="5309070"/>
                  <a:pt x="486629" y="5309070"/>
                  <a:pt x="486629" y="5309070"/>
                </a:cubicBezTo>
                <a:cubicBezTo>
                  <a:pt x="365169" y="5403697"/>
                  <a:pt x="365169" y="5403697"/>
                  <a:pt x="365169" y="5403697"/>
                </a:cubicBezTo>
                <a:cubicBezTo>
                  <a:pt x="0" y="5126124"/>
                  <a:pt x="0" y="5126124"/>
                  <a:pt x="0" y="5126124"/>
                </a:cubicBezTo>
                <a:cubicBezTo>
                  <a:pt x="359648" y="4847761"/>
                  <a:pt x="359648" y="4847761"/>
                  <a:pt x="359648" y="4847761"/>
                </a:cubicBezTo>
                <a:close/>
                <a:moveTo>
                  <a:pt x="1106548" y="4487388"/>
                </a:moveTo>
                <a:cubicBezTo>
                  <a:pt x="1106548" y="4833567"/>
                  <a:pt x="1106548" y="4833567"/>
                  <a:pt x="1106548" y="4833567"/>
                </a:cubicBezTo>
                <a:cubicBezTo>
                  <a:pt x="1018214" y="4902172"/>
                  <a:pt x="1018214" y="4902172"/>
                  <a:pt x="1018214" y="4902172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017425" y="4902960"/>
                  <a:pt x="1017425" y="4902960"/>
                  <a:pt x="1017425" y="4902960"/>
                </a:cubicBezTo>
                <a:cubicBezTo>
                  <a:pt x="744534" y="5114295"/>
                  <a:pt x="744534" y="5114295"/>
                  <a:pt x="744534" y="5114295"/>
                </a:cubicBezTo>
                <a:cubicBezTo>
                  <a:pt x="744534" y="4768116"/>
                  <a:pt x="744534" y="4768116"/>
                  <a:pt x="744534" y="4768116"/>
                </a:cubicBezTo>
                <a:cubicBezTo>
                  <a:pt x="856530" y="4680586"/>
                  <a:pt x="856530" y="4680586"/>
                  <a:pt x="856530" y="4680586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857319" y="4680586"/>
                  <a:pt x="857319" y="4680586"/>
                  <a:pt x="857319" y="4680586"/>
                </a:cubicBezTo>
                <a:cubicBezTo>
                  <a:pt x="1106548" y="4487388"/>
                  <a:pt x="1106548" y="4487388"/>
                  <a:pt x="1106548" y="4487388"/>
                </a:cubicBezTo>
                <a:close/>
                <a:moveTo>
                  <a:pt x="737436" y="4196409"/>
                </a:moveTo>
                <a:cubicBezTo>
                  <a:pt x="1102605" y="4473983"/>
                  <a:pt x="1102605" y="4473983"/>
                  <a:pt x="1102605" y="4473983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738225" y="4756288"/>
                  <a:pt x="738225" y="4756288"/>
                  <a:pt x="738225" y="4756288"/>
                </a:cubicBezTo>
                <a:cubicBezTo>
                  <a:pt x="373056" y="4478714"/>
                  <a:pt x="373056" y="4478714"/>
                  <a:pt x="373056" y="4478714"/>
                </a:cubicBezTo>
                <a:cubicBezTo>
                  <a:pt x="737436" y="4196409"/>
                  <a:pt x="737436" y="4196409"/>
                  <a:pt x="737436" y="4196409"/>
                </a:cubicBezTo>
                <a:close/>
                <a:moveTo>
                  <a:pt x="1115224" y="3544268"/>
                </a:moveTo>
                <a:cubicBezTo>
                  <a:pt x="1125477" y="3552154"/>
                  <a:pt x="1125477" y="3552154"/>
                  <a:pt x="1125477" y="3552154"/>
                </a:cubicBezTo>
                <a:cubicBezTo>
                  <a:pt x="1480393" y="3821842"/>
                  <a:pt x="1480393" y="3821842"/>
                  <a:pt x="1480393" y="3821842"/>
                </a:cubicBezTo>
                <a:cubicBezTo>
                  <a:pt x="1116013" y="4104935"/>
                  <a:pt x="1116013" y="4104935"/>
                  <a:pt x="1116013" y="4104935"/>
                </a:cubicBezTo>
                <a:cubicBezTo>
                  <a:pt x="750844" y="3826573"/>
                  <a:pt x="750844" y="3826573"/>
                  <a:pt x="750844" y="3826573"/>
                </a:cubicBezTo>
                <a:cubicBezTo>
                  <a:pt x="1115224" y="3544268"/>
                  <a:pt x="1115224" y="3544268"/>
                  <a:pt x="1115224" y="3544268"/>
                </a:cubicBezTo>
                <a:close/>
                <a:moveTo>
                  <a:pt x="1480393" y="2538851"/>
                </a:moveTo>
                <a:cubicBezTo>
                  <a:pt x="1480393" y="2885030"/>
                  <a:pt x="1480393" y="2885030"/>
                  <a:pt x="1480393" y="2885030"/>
                </a:cubicBezTo>
                <a:cubicBezTo>
                  <a:pt x="1386537" y="2957578"/>
                  <a:pt x="1386537" y="2957578"/>
                  <a:pt x="1386537" y="2957578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385748" y="2958366"/>
                  <a:pt x="1385748" y="2958366"/>
                  <a:pt x="1385748" y="2958366"/>
                </a:cubicBezTo>
                <a:cubicBezTo>
                  <a:pt x="1118379" y="3165758"/>
                  <a:pt x="1118379" y="3165758"/>
                  <a:pt x="1118379" y="3165758"/>
                </a:cubicBezTo>
                <a:cubicBezTo>
                  <a:pt x="1118379" y="2819579"/>
                  <a:pt x="1118379" y="2819579"/>
                  <a:pt x="1118379" y="2819579"/>
                </a:cubicBezTo>
                <a:cubicBezTo>
                  <a:pt x="1246148" y="2720221"/>
                  <a:pt x="1246148" y="2720221"/>
                  <a:pt x="1246148" y="2720221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246937" y="2719432"/>
                  <a:pt x="1246937" y="2719432"/>
                  <a:pt x="1246937" y="2719432"/>
                </a:cubicBezTo>
                <a:cubicBezTo>
                  <a:pt x="1480393" y="2538851"/>
                  <a:pt x="1480393" y="2538851"/>
                  <a:pt x="1480393" y="2538851"/>
                </a:cubicBezTo>
                <a:close/>
                <a:moveTo>
                  <a:pt x="732704" y="1598885"/>
                </a:moveTo>
                <a:cubicBezTo>
                  <a:pt x="1097873" y="1876459"/>
                  <a:pt x="1097873" y="1876459"/>
                  <a:pt x="1097873" y="1876459"/>
                </a:cubicBezTo>
                <a:cubicBezTo>
                  <a:pt x="860473" y="2060194"/>
                  <a:pt x="860473" y="2060194"/>
                  <a:pt x="860473" y="2060194"/>
                </a:cubicBezTo>
                <a:cubicBezTo>
                  <a:pt x="867572" y="2072022"/>
                  <a:pt x="867572" y="2072022"/>
                  <a:pt x="867572" y="2072022"/>
                </a:cubicBezTo>
                <a:cubicBezTo>
                  <a:pt x="1106548" y="1885922"/>
                  <a:pt x="1106548" y="1885922"/>
                  <a:pt x="1106548" y="1885922"/>
                </a:cubicBezTo>
                <a:cubicBezTo>
                  <a:pt x="1106548" y="2232889"/>
                  <a:pt x="1106548" y="2232889"/>
                  <a:pt x="1106548" y="2232889"/>
                </a:cubicBezTo>
                <a:cubicBezTo>
                  <a:pt x="1007172" y="2310168"/>
                  <a:pt x="1007172" y="2310168"/>
                  <a:pt x="1007172" y="2310168"/>
                </a:cubicBezTo>
                <a:cubicBezTo>
                  <a:pt x="1014270" y="2322785"/>
                  <a:pt x="1014270" y="2322785"/>
                  <a:pt x="1014270" y="2322785"/>
                </a:cubicBezTo>
                <a:cubicBezTo>
                  <a:pt x="1110492" y="2247872"/>
                  <a:pt x="1110492" y="2247872"/>
                  <a:pt x="1110492" y="2247872"/>
                </a:cubicBezTo>
                <a:cubicBezTo>
                  <a:pt x="1475660" y="2525446"/>
                  <a:pt x="1475660" y="2525446"/>
                  <a:pt x="1475660" y="2525446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112069" y="2807751"/>
                  <a:pt x="1112069" y="2807751"/>
                  <a:pt x="1112069" y="2807751"/>
                </a:cubicBezTo>
                <a:cubicBezTo>
                  <a:pt x="746900" y="2530177"/>
                  <a:pt x="746900" y="2530177"/>
                  <a:pt x="746900" y="2530177"/>
                </a:cubicBezTo>
                <a:cubicBezTo>
                  <a:pt x="1013481" y="2322785"/>
                  <a:pt x="1013481" y="2322785"/>
                  <a:pt x="1013481" y="2322785"/>
                </a:cubicBezTo>
                <a:cubicBezTo>
                  <a:pt x="1006383" y="2310168"/>
                  <a:pt x="1006383" y="2310168"/>
                  <a:pt x="1006383" y="2310168"/>
                </a:cubicBezTo>
                <a:cubicBezTo>
                  <a:pt x="744534" y="2513617"/>
                  <a:pt x="744534" y="2513617"/>
                  <a:pt x="744534" y="2513617"/>
                </a:cubicBezTo>
                <a:cubicBezTo>
                  <a:pt x="744534" y="2166650"/>
                  <a:pt x="744534" y="2166650"/>
                  <a:pt x="744534" y="2166650"/>
                </a:cubicBezTo>
                <a:cubicBezTo>
                  <a:pt x="866783" y="2072022"/>
                  <a:pt x="866783" y="2072022"/>
                  <a:pt x="866783" y="2072022"/>
                </a:cubicBezTo>
                <a:cubicBezTo>
                  <a:pt x="860473" y="2060983"/>
                  <a:pt x="860473" y="2060983"/>
                  <a:pt x="860473" y="2060983"/>
                </a:cubicBezTo>
                <a:cubicBezTo>
                  <a:pt x="738225" y="2155610"/>
                  <a:pt x="738225" y="2155610"/>
                  <a:pt x="738225" y="2155610"/>
                </a:cubicBezTo>
                <a:cubicBezTo>
                  <a:pt x="373056" y="1878036"/>
                  <a:pt x="373056" y="1878036"/>
                  <a:pt x="373056" y="1878036"/>
                </a:cubicBezTo>
                <a:cubicBezTo>
                  <a:pt x="732704" y="1598885"/>
                  <a:pt x="732704" y="1598885"/>
                  <a:pt x="732704" y="1598885"/>
                </a:cubicBezTo>
                <a:close/>
                <a:moveTo>
                  <a:pt x="1480393" y="1238512"/>
                </a:moveTo>
                <a:cubicBezTo>
                  <a:pt x="1480393" y="1585480"/>
                  <a:pt x="1480393" y="1585480"/>
                  <a:pt x="1480393" y="1585480"/>
                </a:cubicBezTo>
                <a:cubicBezTo>
                  <a:pt x="1391269" y="1654085"/>
                  <a:pt x="1391269" y="1654085"/>
                  <a:pt x="1391269" y="1654085"/>
                </a:cubicBezTo>
                <a:cubicBezTo>
                  <a:pt x="1399156" y="1664336"/>
                  <a:pt x="1399156" y="1664336"/>
                  <a:pt x="1399156" y="1664336"/>
                </a:cubicBezTo>
                <a:cubicBezTo>
                  <a:pt x="1483547" y="1598885"/>
                  <a:pt x="1483547" y="1598885"/>
                  <a:pt x="1483547" y="1598885"/>
                </a:cubicBezTo>
                <a:cubicBezTo>
                  <a:pt x="1848716" y="1876459"/>
                  <a:pt x="1848716" y="1876459"/>
                  <a:pt x="1848716" y="1876459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489068" y="2155610"/>
                  <a:pt x="1489068" y="2155610"/>
                  <a:pt x="1489068" y="2155610"/>
                </a:cubicBezTo>
                <a:cubicBezTo>
                  <a:pt x="1123900" y="1878036"/>
                  <a:pt x="1123900" y="1878036"/>
                  <a:pt x="1123900" y="1878036"/>
                </a:cubicBezTo>
                <a:cubicBezTo>
                  <a:pt x="1398368" y="1665124"/>
                  <a:pt x="1398368" y="1665124"/>
                  <a:pt x="1398368" y="1665124"/>
                </a:cubicBezTo>
                <a:cubicBezTo>
                  <a:pt x="1390481" y="1654085"/>
                  <a:pt x="1390481" y="1654085"/>
                  <a:pt x="1390481" y="1654085"/>
                </a:cubicBezTo>
                <a:cubicBezTo>
                  <a:pt x="1118379" y="1865419"/>
                  <a:pt x="1118379" y="1865419"/>
                  <a:pt x="1118379" y="1865419"/>
                </a:cubicBezTo>
                <a:cubicBezTo>
                  <a:pt x="1118379" y="1519240"/>
                  <a:pt x="1118379" y="1519240"/>
                  <a:pt x="1118379" y="1519240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480393" y="1238512"/>
                  <a:pt x="1480393" y="1238512"/>
                  <a:pt x="1480393" y="1238512"/>
                </a:cubicBezTo>
                <a:close/>
                <a:moveTo>
                  <a:pt x="1110492" y="947533"/>
                </a:moveTo>
                <a:cubicBezTo>
                  <a:pt x="1475660" y="1225107"/>
                  <a:pt x="1475660" y="1225107"/>
                  <a:pt x="1475660" y="1225107"/>
                </a:cubicBezTo>
                <a:cubicBezTo>
                  <a:pt x="1223276" y="1421459"/>
                  <a:pt x="1223276" y="1421459"/>
                  <a:pt x="1223276" y="1421459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222487" y="1422247"/>
                  <a:pt x="1222487" y="1422247"/>
                  <a:pt x="1222487" y="1422247"/>
                </a:cubicBezTo>
                <a:cubicBezTo>
                  <a:pt x="1112069" y="1508201"/>
                  <a:pt x="1112069" y="1508201"/>
                  <a:pt x="1112069" y="1508201"/>
                </a:cubicBezTo>
                <a:cubicBezTo>
                  <a:pt x="746900" y="1230627"/>
                  <a:pt x="746900" y="1230627"/>
                  <a:pt x="746900" y="1230627"/>
                </a:cubicBezTo>
                <a:cubicBezTo>
                  <a:pt x="1110492" y="947533"/>
                  <a:pt x="1110492" y="947533"/>
                  <a:pt x="1110492" y="947533"/>
                </a:cubicBezTo>
                <a:close/>
                <a:moveTo>
                  <a:pt x="1488280" y="296181"/>
                </a:moveTo>
                <a:cubicBezTo>
                  <a:pt x="1498533" y="304066"/>
                  <a:pt x="1498533" y="304066"/>
                  <a:pt x="1498533" y="304066"/>
                </a:cubicBezTo>
                <a:cubicBezTo>
                  <a:pt x="1853448" y="573754"/>
                  <a:pt x="1853448" y="573754"/>
                  <a:pt x="1853448" y="573754"/>
                </a:cubicBezTo>
                <a:cubicBezTo>
                  <a:pt x="1489068" y="856060"/>
                  <a:pt x="1489068" y="856060"/>
                  <a:pt x="1489068" y="856060"/>
                </a:cubicBezTo>
                <a:cubicBezTo>
                  <a:pt x="1123900" y="578486"/>
                  <a:pt x="1123900" y="578486"/>
                  <a:pt x="1123900" y="578486"/>
                </a:cubicBezTo>
                <a:cubicBezTo>
                  <a:pt x="1488280" y="296181"/>
                  <a:pt x="1488280" y="296181"/>
                  <a:pt x="1488280" y="296181"/>
                </a:cubicBezTo>
                <a:close/>
                <a:moveTo>
                  <a:pt x="1493012" y="0"/>
                </a:moveTo>
                <a:lnTo>
                  <a:pt x="5957423" y="0"/>
                </a:lnTo>
                <a:lnTo>
                  <a:pt x="5957423" y="6858000"/>
                </a:lnTo>
                <a:lnTo>
                  <a:pt x="843615" y="6858000"/>
                </a:lnTo>
                <a:lnTo>
                  <a:pt x="810785" y="6833040"/>
                </a:lnTo>
                <a:cubicBezTo>
                  <a:pt x="746900" y="6784470"/>
                  <a:pt x="746900" y="6784470"/>
                  <a:pt x="746900" y="6784470"/>
                </a:cubicBezTo>
                <a:cubicBezTo>
                  <a:pt x="746900" y="6429617"/>
                  <a:pt x="746900" y="6429617"/>
                  <a:pt x="746900" y="6429617"/>
                </a:cubicBezTo>
                <a:cubicBezTo>
                  <a:pt x="1019002" y="6218282"/>
                  <a:pt x="1019002" y="6218282"/>
                  <a:pt x="1019002" y="6218282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1019791" y="6217493"/>
                  <a:pt x="1019791" y="6217493"/>
                  <a:pt x="1019791" y="6217493"/>
                </a:cubicBezTo>
                <a:cubicBezTo>
                  <a:pt x="1110492" y="6147311"/>
                  <a:pt x="1110492" y="6147311"/>
                  <a:pt x="1110492" y="6147311"/>
                </a:cubicBezTo>
                <a:cubicBezTo>
                  <a:pt x="1489068" y="6435925"/>
                  <a:pt x="1489068" y="6435925"/>
                  <a:pt x="1489068" y="6435925"/>
                </a:cubicBezTo>
                <a:cubicBezTo>
                  <a:pt x="1870800" y="6140214"/>
                  <a:pt x="1870800" y="6140214"/>
                  <a:pt x="1870800" y="6140214"/>
                </a:cubicBezTo>
                <a:cubicBezTo>
                  <a:pt x="1870800" y="6021930"/>
                  <a:pt x="1870800" y="6021930"/>
                  <a:pt x="1870800" y="6021930"/>
                </a:cubicBezTo>
                <a:cubicBezTo>
                  <a:pt x="1857392" y="6027450"/>
                  <a:pt x="1857392" y="6027450"/>
                  <a:pt x="1857392" y="6027450"/>
                </a:cubicBezTo>
                <a:cubicBezTo>
                  <a:pt x="1857392" y="6133906"/>
                  <a:pt x="1857392" y="6133906"/>
                  <a:pt x="1857392" y="6133906"/>
                </a:cubicBezTo>
                <a:cubicBezTo>
                  <a:pt x="1495378" y="6413845"/>
                  <a:pt x="1495378" y="6413845"/>
                  <a:pt x="1495378" y="6413845"/>
                </a:cubicBezTo>
                <a:cubicBezTo>
                  <a:pt x="1495378" y="6067667"/>
                  <a:pt x="1495378" y="6067667"/>
                  <a:pt x="1495378" y="6067667"/>
                </a:cubicBezTo>
                <a:cubicBezTo>
                  <a:pt x="1857392" y="5786939"/>
                  <a:pt x="1857392" y="5786939"/>
                  <a:pt x="1857392" y="5786939"/>
                </a:cubicBezTo>
                <a:cubicBezTo>
                  <a:pt x="1857392" y="6026661"/>
                  <a:pt x="1857392" y="6026661"/>
                  <a:pt x="1857392" y="6026661"/>
                </a:cubicBezTo>
                <a:cubicBezTo>
                  <a:pt x="1870800" y="6021141"/>
                  <a:pt x="1870800" y="6021141"/>
                  <a:pt x="1870800" y="6021141"/>
                </a:cubicBezTo>
                <a:cubicBezTo>
                  <a:pt x="1870800" y="5770379"/>
                  <a:pt x="1870800" y="5770379"/>
                  <a:pt x="1870800" y="5770379"/>
                </a:cubicBezTo>
                <a:cubicBezTo>
                  <a:pt x="1739875" y="5671020"/>
                  <a:pt x="1739875" y="5671020"/>
                  <a:pt x="1739875" y="5671020"/>
                </a:cubicBezTo>
                <a:cubicBezTo>
                  <a:pt x="1497744" y="5487285"/>
                  <a:pt x="1497744" y="5487285"/>
                  <a:pt x="1497744" y="5487285"/>
                </a:cubicBezTo>
                <a:cubicBezTo>
                  <a:pt x="1497744" y="5307493"/>
                  <a:pt x="1497744" y="5307493"/>
                  <a:pt x="1497744" y="5307493"/>
                </a:cubicBezTo>
                <a:cubicBezTo>
                  <a:pt x="1484336" y="5309858"/>
                  <a:pt x="1484336" y="5309858"/>
                  <a:pt x="1484336" y="5309858"/>
                </a:cubicBezTo>
                <a:cubicBezTo>
                  <a:pt x="1484336" y="5480976"/>
                  <a:pt x="1484336" y="5480976"/>
                  <a:pt x="1484336" y="5480976"/>
                </a:cubicBezTo>
                <a:cubicBezTo>
                  <a:pt x="1122322" y="5761705"/>
                  <a:pt x="1122322" y="5761705"/>
                  <a:pt x="1122322" y="5761705"/>
                </a:cubicBezTo>
                <a:cubicBezTo>
                  <a:pt x="1122322" y="5415526"/>
                  <a:pt x="1122322" y="5415526"/>
                  <a:pt x="1122322" y="5415526"/>
                </a:cubicBezTo>
                <a:cubicBezTo>
                  <a:pt x="1292682" y="5283047"/>
                  <a:pt x="1292682" y="5283047"/>
                  <a:pt x="1292682" y="5283047"/>
                </a:cubicBezTo>
                <a:cubicBezTo>
                  <a:pt x="1285583" y="5272796"/>
                  <a:pt x="1285583" y="5272796"/>
                  <a:pt x="1285583" y="5272796"/>
                </a:cubicBezTo>
                <a:cubicBezTo>
                  <a:pt x="1116013" y="5403697"/>
                  <a:pt x="1116013" y="5403697"/>
                  <a:pt x="1116013" y="5403697"/>
                </a:cubicBezTo>
                <a:cubicBezTo>
                  <a:pt x="750844" y="5126124"/>
                  <a:pt x="750844" y="5126124"/>
                  <a:pt x="750844" y="5126124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110492" y="4847761"/>
                  <a:pt x="1110492" y="4847761"/>
                  <a:pt x="1110492" y="4847761"/>
                </a:cubicBezTo>
                <a:cubicBezTo>
                  <a:pt x="1475660" y="5125335"/>
                  <a:pt x="1475660" y="5125335"/>
                  <a:pt x="1475660" y="5125335"/>
                </a:cubicBezTo>
                <a:cubicBezTo>
                  <a:pt x="1285583" y="5272008"/>
                  <a:pt x="1285583" y="5272008"/>
                  <a:pt x="1285583" y="5272008"/>
                </a:cubicBezTo>
                <a:cubicBezTo>
                  <a:pt x="1293470" y="5283047"/>
                  <a:pt x="1293470" y="5283047"/>
                  <a:pt x="1293470" y="5283047"/>
                </a:cubicBezTo>
                <a:cubicBezTo>
                  <a:pt x="1484336" y="5134798"/>
                  <a:pt x="1484336" y="5134798"/>
                  <a:pt x="1484336" y="5134798"/>
                </a:cubicBezTo>
                <a:cubicBezTo>
                  <a:pt x="1484336" y="5309070"/>
                  <a:pt x="1484336" y="5309070"/>
                  <a:pt x="1484336" y="5309070"/>
                </a:cubicBezTo>
                <a:cubicBezTo>
                  <a:pt x="1497744" y="5306704"/>
                  <a:pt x="1497744" y="5306704"/>
                  <a:pt x="1497744" y="5306704"/>
                </a:cubicBezTo>
                <a:cubicBezTo>
                  <a:pt x="1497744" y="5129278"/>
                  <a:pt x="1497744" y="5129278"/>
                  <a:pt x="1497744" y="5129278"/>
                </a:cubicBezTo>
                <a:cubicBezTo>
                  <a:pt x="1513518" y="5116661"/>
                  <a:pt x="1513518" y="5116661"/>
                  <a:pt x="1513518" y="5116661"/>
                </a:cubicBezTo>
                <a:cubicBezTo>
                  <a:pt x="1513518" y="5100101"/>
                  <a:pt x="1513518" y="5100101"/>
                  <a:pt x="1513518" y="5100101"/>
                </a:cubicBezTo>
                <a:cubicBezTo>
                  <a:pt x="1495378" y="5114295"/>
                  <a:pt x="1495378" y="5114295"/>
                  <a:pt x="1495378" y="5114295"/>
                </a:cubicBezTo>
                <a:cubicBezTo>
                  <a:pt x="1495378" y="4768116"/>
                  <a:pt x="1495378" y="4768116"/>
                  <a:pt x="1495378" y="4768116"/>
                </a:cubicBezTo>
                <a:cubicBezTo>
                  <a:pt x="1513518" y="4753922"/>
                  <a:pt x="1513518" y="4753922"/>
                  <a:pt x="1513518" y="4753922"/>
                </a:cubicBezTo>
                <a:cubicBezTo>
                  <a:pt x="1513518" y="4737362"/>
                  <a:pt x="1513518" y="4737362"/>
                  <a:pt x="1513518" y="4737362"/>
                </a:cubicBezTo>
                <a:cubicBezTo>
                  <a:pt x="1489068" y="4756288"/>
                  <a:pt x="1489068" y="4756288"/>
                  <a:pt x="1489068" y="4756288"/>
                </a:cubicBezTo>
                <a:cubicBezTo>
                  <a:pt x="1123900" y="4478714"/>
                  <a:pt x="1123900" y="4478714"/>
                  <a:pt x="1123900" y="4478714"/>
                </a:cubicBezTo>
                <a:cubicBezTo>
                  <a:pt x="1488280" y="4196409"/>
                  <a:pt x="1488280" y="4196409"/>
                  <a:pt x="1488280" y="4196409"/>
                </a:cubicBezTo>
                <a:cubicBezTo>
                  <a:pt x="1853448" y="4473983"/>
                  <a:pt x="1853448" y="4473983"/>
                  <a:pt x="1853448" y="4473983"/>
                </a:cubicBezTo>
                <a:cubicBezTo>
                  <a:pt x="1514307" y="4737362"/>
                  <a:pt x="1514307" y="4737362"/>
                  <a:pt x="1514307" y="4737362"/>
                </a:cubicBezTo>
                <a:cubicBezTo>
                  <a:pt x="1514307" y="4753134"/>
                  <a:pt x="1514307" y="4753134"/>
                  <a:pt x="1514307" y="4753134"/>
                </a:cubicBezTo>
                <a:cubicBezTo>
                  <a:pt x="1857392" y="4487388"/>
                  <a:pt x="1857392" y="4487388"/>
                  <a:pt x="1857392" y="4487388"/>
                </a:cubicBezTo>
                <a:cubicBezTo>
                  <a:pt x="1857392" y="4833567"/>
                  <a:pt x="1857392" y="4833567"/>
                  <a:pt x="1857392" y="4833567"/>
                </a:cubicBezTo>
                <a:cubicBezTo>
                  <a:pt x="1514307" y="5100101"/>
                  <a:pt x="1514307" y="5100101"/>
                  <a:pt x="1514307" y="5100101"/>
                </a:cubicBezTo>
                <a:cubicBezTo>
                  <a:pt x="1514307" y="5116661"/>
                  <a:pt x="1514307" y="5116661"/>
                  <a:pt x="1514307" y="5116661"/>
                </a:cubicBezTo>
                <a:cubicBezTo>
                  <a:pt x="1870800" y="4839875"/>
                  <a:pt x="1870800" y="4839875"/>
                  <a:pt x="1870800" y="4839875"/>
                </a:cubicBezTo>
                <a:cubicBezTo>
                  <a:pt x="1870800" y="4470828"/>
                  <a:pt x="1870800" y="4470828"/>
                  <a:pt x="1870800" y="4470828"/>
                </a:cubicBezTo>
                <a:cubicBezTo>
                  <a:pt x="1497744" y="4186946"/>
                  <a:pt x="1497744" y="4186946"/>
                  <a:pt x="1497744" y="4186946"/>
                </a:cubicBezTo>
                <a:cubicBezTo>
                  <a:pt x="1497744" y="3839190"/>
                  <a:pt x="1497744" y="3839190"/>
                  <a:pt x="1497744" y="3839190"/>
                </a:cubicBezTo>
                <a:cubicBezTo>
                  <a:pt x="1484336" y="3849441"/>
                  <a:pt x="1484336" y="3849441"/>
                  <a:pt x="1484336" y="3849441"/>
                </a:cubicBezTo>
                <a:cubicBezTo>
                  <a:pt x="1484336" y="4182215"/>
                  <a:pt x="1484336" y="4182215"/>
                  <a:pt x="1484336" y="4182215"/>
                </a:cubicBezTo>
                <a:cubicBezTo>
                  <a:pt x="1122322" y="4462154"/>
                  <a:pt x="1122322" y="4462154"/>
                  <a:pt x="1122322" y="4462154"/>
                </a:cubicBezTo>
                <a:cubicBezTo>
                  <a:pt x="1122322" y="4115975"/>
                  <a:pt x="1122322" y="4115975"/>
                  <a:pt x="1122322" y="4115975"/>
                </a:cubicBezTo>
                <a:cubicBezTo>
                  <a:pt x="1484336" y="3835248"/>
                  <a:pt x="1484336" y="3835248"/>
                  <a:pt x="1484336" y="3835248"/>
                </a:cubicBezTo>
                <a:cubicBezTo>
                  <a:pt x="1484336" y="3848653"/>
                  <a:pt x="1484336" y="3848653"/>
                  <a:pt x="1484336" y="3848653"/>
                </a:cubicBezTo>
                <a:cubicBezTo>
                  <a:pt x="1497744" y="3838402"/>
                  <a:pt x="1497744" y="3838402"/>
                  <a:pt x="1497744" y="3838402"/>
                </a:cubicBezTo>
                <a:cubicBezTo>
                  <a:pt x="1497744" y="3818688"/>
                  <a:pt x="1497744" y="3818688"/>
                  <a:pt x="1497744" y="3818688"/>
                </a:cubicBezTo>
                <a:cubicBezTo>
                  <a:pt x="1136519" y="3544268"/>
                  <a:pt x="1136519" y="3544268"/>
                  <a:pt x="1136519" y="3544268"/>
                </a:cubicBezTo>
                <a:cubicBezTo>
                  <a:pt x="1125477" y="3552154"/>
                  <a:pt x="1125477" y="3552154"/>
                  <a:pt x="1125477" y="3552154"/>
                </a:cubicBezTo>
                <a:cubicBezTo>
                  <a:pt x="1135730" y="3543479"/>
                  <a:pt x="1135730" y="3543479"/>
                  <a:pt x="1135730" y="3543479"/>
                </a:cubicBezTo>
                <a:cubicBezTo>
                  <a:pt x="1119956" y="3531651"/>
                  <a:pt x="1119956" y="3531651"/>
                  <a:pt x="1119956" y="3531651"/>
                </a:cubicBezTo>
                <a:cubicBezTo>
                  <a:pt x="1119956" y="3519822"/>
                  <a:pt x="1119956" y="3519822"/>
                  <a:pt x="1119956" y="3519822"/>
                </a:cubicBezTo>
                <a:cubicBezTo>
                  <a:pt x="1106548" y="3519822"/>
                  <a:pt x="1106548" y="3519822"/>
                  <a:pt x="1106548" y="3519822"/>
                </a:cubicBezTo>
                <a:cubicBezTo>
                  <a:pt x="1106548" y="3532439"/>
                  <a:pt x="1106548" y="3532439"/>
                  <a:pt x="1106548" y="3532439"/>
                </a:cubicBezTo>
                <a:cubicBezTo>
                  <a:pt x="744534" y="3812379"/>
                  <a:pt x="744534" y="3812379"/>
                  <a:pt x="744534" y="3812379"/>
                </a:cubicBezTo>
                <a:cubicBezTo>
                  <a:pt x="744534" y="3495377"/>
                  <a:pt x="744534" y="3495377"/>
                  <a:pt x="744534" y="3495377"/>
                </a:cubicBezTo>
                <a:cubicBezTo>
                  <a:pt x="744534" y="3466989"/>
                  <a:pt x="744534" y="3466989"/>
                  <a:pt x="744534" y="3466989"/>
                </a:cubicBezTo>
                <a:cubicBezTo>
                  <a:pt x="1106548" y="3186261"/>
                  <a:pt x="1106548" y="3186261"/>
                  <a:pt x="1106548" y="3186261"/>
                </a:cubicBezTo>
                <a:cubicBezTo>
                  <a:pt x="1106548" y="3500109"/>
                  <a:pt x="1106548" y="3500109"/>
                  <a:pt x="1106548" y="3500109"/>
                </a:cubicBezTo>
                <a:cubicBezTo>
                  <a:pt x="1106548" y="3519034"/>
                  <a:pt x="1106548" y="3519034"/>
                  <a:pt x="1106548" y="3519034"/>
                </a:cubicBezTo>
                <a:cubicBezTo>
                  <a:pt x="1119956" y="3519034"/>
                  <a:pt x="1119956" y="3519034"/>
                  <a:pt x="1119956" y="3519034"/>
                </a:cubicBezTo>
                <a:cubicBezTo>
                  <a:pt x="1119956" y="3180741"/>
                  <a:pt x="1119956" y="3180741"/>
                  <a:pt x="1119956" y="3180741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483547" y="2899224"/>
                  <a:pt x="1483547" y="2899224"/>
                  <a:pt x="1483547" y="2899224"/>
                </a:cubicBezTo>
                <a:cubicBezTo>
                  <a:pt x="1862913" y="3187049"/>
                  <a:pt x="1862913" y="3187049"/>
                  <a:pt x="1862913" y="3187049"/>
                </a:cubicBezTo>
                <a:cubicBezTo>
                  <a:pt x="2243855" y="2891339"/>
                  <a:pt x="2243855" y="2891339"/>
                  <a:pt x="2243855" y="2891339"/>
                </a:cubicBezTo>
                <a:cubicBezTo>
                  <a:pt x="2243855" y="2773843"/>
                  <a:pt x="2243855" y="2773843"/>
                  <a:pt x="2243855" y="2773843"/>
                </a:cubicBezTo>
                <a:cubicBezTo>
                  <a:pt x="2231236" y="2779363"/>
                  <a:pt x="2231236" y="2779363"/>
                  <a:pt x="2231236" y="2779363"/>
                </a:cubicBezTo>
                <a:cubicBezTo>
                  <a:pt x="2231236" y="2885030"/>
                  <a:pt x="2231236" y="2885030"/>
                  <a:pt x="2231236" y="2885030"/>
                </a:cubicBezTo>
                <a:cubicBezTo>
                  <a:pt x="1869222" y="3165758"/>
                  <a:pt x="1869222" y="3165758"/>
                  <a:pt x="1869222" y="3165758"/>
                </a:cubicBezTo>
                <a:cubicBezTo>
                  <a:pt x="1869222" y="2819579"/>
                  <a:pt x="1869222" y="2819579"/>
                  <a:pt x="1869222" y="2819579"/>
                </a:cubicBezTo>
                <a:cubicBezTo>
                  <a:pt x="2231236" y="2538851"/>
                  <a:pt x="2231236" y="2538851"/>
                  <a:pt x="2231236" y="2538851"/>
                </a:cubicBezTo>
                <a:cubicBezTo>
                  <a:pt x="2231236" y="2778574"/>
                  <a:pt x="2231236" y="2778574"/>
                  <a:pt x="2231236" y="2778574"/>
                </a:cubicBezTo>
                <a:cubicBezTo>
                  <a:pt x="2243855" y="2773054"/>
                  <a:pt x="2243855" y="2773054"/>
                  <a:pt x="2243855" y="2773054"/>
                </a:cubicBezTo>
                <a:cubicBezTo>
                  <a:pt x="2243855" y="2522291"/>
                  <a:pt x="2243855" y="2522291"/>
                  <a:pt x="2243855" y="2522291"/>
                </a:cubicBezTo>
                <a:cubicBezTo>
                  <a:pt x="2113720" y="2422933"/>
                  <a:pt x="2113720" y="2422933"/>
                  <a:pt x="2113720" y="2422933"/>
                </a:cubicBezTo>
                <a:cubicBezTo>
                  <a:pt x="2100312" y="2429241"/>
                  <a:pt x="2100312" y="2429241"/>
                  <a:pt x="2100312" y="2429241"/>
                </a:cubicBezTo>
                <a:cubicBezTo>
                  <a:pt x="2226503" y="2525446"/>
                  <a:pt x="2226503" y="2525446"/>
                  <a:pt x="2226503" y="2525446"/>
                </a:cubicBezTo>
                <a:cubicBezTo>
                  <a:pt x="1862124" y="2807751"/>
                  <a:pt x="1862124" y="2807751"/>
                  <a:pt x="1862124" y="2807751"/>
                </a:cubicBezTo>
                <a:cubicBezTo>
                  <a:pt x="1496955" y="2530177"/>
                  <a:pt x="1496955" y="2530177"/>
                  <a:pt x="1496955" y="2530177"/>
                </a:cubicBezTo>
                <a:cubicBezTo>
                  <a:pt x="1861335" y="2247872"/>
                  <a:pt x="1861335" y="2247872"/>
                  <a:pt x="1861335" y="2247872"/>
                </a:cubicBezTo>
                <a:cubicBezTo>
                  <a:pt x="2099523" y="2428452"/>
                  <a:pt x="2099523" y="2428452"/>
                  <a:pt x="2099523" y="2428452"/>
                </a:cubicBezTo>
                <a:cubicBezTo>
                  <a:pt x="2112931" y="2422144"/>
                  <a:pt x="2112931" y="2422144"/>
                  <a:pt x="2112931" y="2422144"/>
                </a:cubicBezTo>
                <a:cubicBezTo>
                  <a:pt x="1870800" y="2238409"/>
                  <a:pt x="1870800" y="2238409"/>
                  <a:pt x="1870800" y="2238409"/>
                </a:cubicBezTo>
                <a:cubicBezTo>
                  <a:pt x="1870800" y="2059405"/>
                  <a:pt x="1870800" y="2059405"/>
                  <a:pt x="1870800" y="2059405"/>
                </a:cubicBezTo>
                <a:cubicBezTo>
                  <a:pt x="1857392" y="2060983"/>
                  <a:pt x="1857392" y="2060983"/>
                  <a:pt x="1857392" y="2060983"/>
                </a:cubicBezTo>
                <a:cubicBezTo>
                  <a:pt x="1857392" y="2232889"/>
                  <a:pt x="1857392" y="2232889"/>
                  <a:pt x="1857392" y="2232889"/>
                </a:cubicBezTo>
                <a:cubicBezTo>
                  <a:pt x="1496167" y="2513617"/>
                  <a:pt x="1496167" y="2513617"/>
                  <a:pt x="1496167" y="2513617"/>
                </a:cubicBezTo>
                <a:cubicBezTo>
                  <a:pt x="1496167" y="2166650"/>
                  <a:pt x="1496167" y="2166650"/>
                  <a:pt x="1496167" y="2166650"/>
                </a:cubicBezTo>
                <a:cubicBezTo>
                  <a:pt x="1666526" y="2034960"/>
                  <a:pt x="1666526" y="2034960"/>
                  <a:pt x="1666526" y="2034960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666526" y="2034172"/>
                  <a:pt x="1666526" y="2034172"/>
                  <a:pt x="1666526" y="2034172"/>
                </a:cubicBezTo>
                <a:cubicBezTo>
                  <a:pt x="1857392" y="1885922"/>
                  <a:pt x="1857392" y="1885922"/>
                  <a:pt x="1857392" y="1885922"/>
                </a:cubicBezTo>
                <a:cubicBezTo>
                  <a:pt x="1857392" y="2060194"/>
                  <a:pt x="1857392" y="2060194"/>
                  <a:pt x="1857392" y="2060194"/>
                </a:cubicBezTo>
                <a:cubicBezTo>
                  <a:pt x="1870800" y="2058617"/>
                  <a:pt x="1870800" y="2058617"/>
                  <a:pt x="1870800" y="2058617"/>
                </a:cubicBezTo>
                <a:cubicBezTo>
                  <a:pt x="1870800" y="1881190"/>
                  <a:pt x="1870800" y="1881190"/>
                  <a:pt x="1870800" y="1881190"/>
                </a:cubicBezTo>
                <a:cubicBezTo>
                  <a:pt x="1886574" y="1868573"/>
                  <a:pt x="1886574" y="1868573"/>
                  <a:pt x="1886574" y="1868573"/>
                </a:cubicBezTo>
                <a:cubicBezTo>
                  <a:pt x="1886574" y="1852014"/>
                  <a:pt x="1886574" y="1852014"/>
                  <a:pt x="1886574" y="1852014"/>
                </a:cubicBezTo>
                <a:cubicBezTo>
                  <a:pt x="1869222" y="1865419"/>
                  <a:pt x="1869222" y="1865419"/>
                  <a:pt x="1869222" y="1865419"/>
                </a:cubicBezTo>
                <a:cubicBezTo>
                  <a:pt x="1869222" y="1519240"/>
                  <a:pt x="1869222" y="1519240"/>
                  <a:pt x="1869222" y="1519240"/>
                </a:cubicBezTo>
                <a:cubicBezTo>
                  <a:pt x="1886574" y="1505835"/>
                  <a:pt x="1886574" y="1505835"/>
                  <a:pt x="1886574" y="1505835"/>
                </a:cubicBezTo>
                <a:cubicBezTo>
                  <a:pt x="1886574" y="1489275"/>
                  <a:pt x="1886574" y="1489275"/>
                  <a:pt x="1886574" y="1489275"/>
                </a:cubicBezTo>
                <a:cubicBezTo>
                  <a:pt x="1862124" y="1508201"/>
                  <a:pt x="1862124" y="1508201"/>
                  <a:pt x="1862124" y="1508201"/>
                </a:cubicBezTo>
                <a:cubicBezTo>
                  <a:pt x="1496955" y="1230627"/>
                  <a:pt x="1496955" y="1230627"/>
                  <a:pt x="1496955" y="1230627"/>
                </a:cubicBezTo>
                <a:cubicBezTo>
                  <a:pt x="1861335" y="947533"/>
                  <a:pt x="1861335" y="947533"/>
                  <a:pt x="1861335" y="947533"/>
                </a:cubicBezTo>
                <a:cubicBezTo>
                  <a:pt x="2226503" y="1225107"/>
                  <a:pt x="2226503" y="1225107"/>
                  <a:pt x="2226503" y="1225107"/>
                </a:cubicBezTo>
                <a:cubicBezTo>
                  <a:pt x="1887362" y="1488487"/>
                  <a:pt x="1887362" y="1488487"/>
                  <a:pt x="1887362" y="1488487"/>
                </a:cubicBezTo>
                <a:cubicBezTo>
                  <a:pt x="1887362" y="1505046"/>
                  <a:pt x="1887362" y="1505046"/>
                  <a:pt x="1887362" y="1505046"/>
                </a:cubicBezTo>
                <a:cubicBezTo>
                  <a:pt x="2231236" y="1238512"/>
                  <a:pt x="2231236" y="1238512"/>
                  <a:pt x="2231236" y="1238512"/>
                </a:cubicBezTo>
                <a:cubicBezTo>
                  <a:pt x="2231236" y="1585480"/>
                  <a:pt x="2231236" y="1585480"/>
                  <a:pt x="2231236" y="1585480"/>
                </a:cubicBezTo>
                <a:lnTo>
                  <a:pt x="1887362" y="1851225"/>
                </a:lnTo>
                <a:cubicBezTo>
                  <a:pt x="1887362" y="1867785"/>
                  <a:pt x="1887362" y="1867785"/>
                  <a:pt x="1887362" y="1867785"/>
                </a:cubicBezTo>
                <a:cubicBezTo>
                  <a:pt x="2243855" y="1591788"/>
                  <a:pt x="2243855" y="1591788"/>
                  <a:pt x="2243855" y="1591788"/>
                </a:cubicBezTo>
                <a:cubicBezTo>
                  <a:pt x="2243855" y="1221952"/>
                  <a:pt x="2243855" y="1221952"/>
                  <a:pt x="2243855" y="1221952"/>
                </a:cubicBezTo>
                <a:cubicBezTo>
                  <a:pt x="1870800" y="938859"/>
                  <a:pt x="1870800" y="938859"/>
                  <a:pt x="1870800" y="938859"/>
                </a:cubicBezTo>
                <a:cubicBezTo>
                  <a:pt x="1870800" y="590314"/>
                  <a:pt x="1870800" y="590314"/>
                  <a:pt x="1870800" y="590314"/>
                </a:cubicBezTo>
                <a:cubicBezTo>
                  <a:pt x="1857392" y="600566"/>
                  <a:pt x="1857392" y="600566"/>
                  <a:pt x="1857392" y="600566"/>
                </a:cubicBezTo>
                <a:cubicBezTo>
                  <a:pt x="1857392" y="933339"/>
                  <a:pt x="1857392" y="933339"/>
                  <a:pt x="1857392" y="933339"/>
                </a:cubicBezTo>
                <a:cubicBezTo>
                  <a:pt x="1496167" y="1214067"/>
                  <a:pt x="1496167" y="1214067"/>
                  <a:pt x="1496167" y="1214067"/>
                </a:cubicBezTo>
                <a:cubicBezTo>
                  <a:pt x="1496167" y="867888"/>
                  <a:pt x="1496167" y="867888"/>
                  <a:pt x="1496167" y="867888"/>
                </a:cubicBezTo>
                <a:cubicBezTo>
                  <a:pt x="1857392" y="587160"/>
                  <a:pt x="1857392" y="587160"/>
                  <a:pt x="1857392" y="587160"/>
                </a:cubicBezTo>
                <a:cubicBezTo>
                  <a:pt x="1857392" y="599777"/>
                  <a:pt x="1857392" y="599777"/>
                  <a:pt x="1857392" y="599777"/>
                </a:cubicBezTo>
                <a:cubicBezTo>
                  <a:pt x="1870800" y="589526"/>
                  <a:pt x="1870800" y="589526"/>
                  <a:pt x="1870800" y="589526"/>
                </a:cubicBezTo>
                <a:cubicBezTo>
                  <a:pt x="1870800" y="570600"/>
                  <a:pt x="1870800" y="570600"/>
                  <a:pt x="1870800" y="570600"/>
                </a:cubicBezTo>
                <a:cubicBezTo>
                  <a:pt x="1509574" y="295392"/>
                  <a:pt x="1509574" y="295392"/>
                  <a:pt x="1509574" y="295392"/>
                </a:cubicBezTo>
                <a:cubicBezTo>
                  <a:pt x="1498533" y="304066"/>
                  <a:pt x="1498533" y="304066"/>
                  <a:pt x="1498533" y="304066"/>
                </a:cubicBezTo>
                <a:cubicBezTo>
                  <a:pt x="1508786" y="295392"/>
                  <a:pt x="1508786" y="295392"/>
                  <a:pt x="1508786" y="295392"/>
                </a:cubicBezTo>
                <a:cubicBezTo>
                  <a:pt x="1493012" y="283564"/>
                  <a:pt x="1493012" y="283564"/>
                  <a:pt x="1493012" y="283564"/>
                </a:cubicBezTo>
                <a:cubicBezTo>
                  <a:pt x="1493012" y="97759"/>
                  <a:pt x="1493012" y="28082"/>
                  <a:pt x="1493012" y="1953"/>
                </a:cubicBezTo>
                <a:close/>
                <a:moveTo>
                  <a:pt x="1398859" y="0"/>
                </a:moveTo>
                <a:lnTo>
                  <a:pt x="1480393" y="0"/>
                </a:lnTo>
                <a:lnTo>
                  <a:pt x="1480393" y="84404"/>
                </a:lnTo>
                <a:cubicBezTo>
                  <a:pt x="1480393" y="283564"/>
                  <a:pt x="1480393" y="283564"/>
                  <a:pt x="1480393" y="283564"/>
                </a:cubicBezTo>
                <a:cubicBezTo>
                  <a:pt x="1118379" y="564292"/>
                  <a:pt x="1118379" y="564292"/>
                  <a:pt x="1118379" y="564292"/>
                </a:cubicBezTo>
                <a:cubicBezTo>
                  <a:pt x="1118379" y="218113"/>
                  <a:pt x="1118379" y="218113"/>
                  <a:pt x="1118379" y="218113"/>
                </a:cubicBezTo>
                <a:cubicBezTo>
                  <a:pt x="1267443" y="102194"/>
                  <a:pt x="1341976" y="44235"/>
                  <a:pt x="1379242" y="15255"/>
                </a:cubicBezTo>
                <a:close/>
                <a:moveTo>
                  <a:pt x="840168" y="0"/>
                </a:moveTo>
                <a:lnTo>
                  <a:pt x="1377550" y="0"/>
                </a:lnTo>
                <a:lnTo>
                  <a:pt x="1301753" y="58896"/>
                </a:lnTo>
                <a:cubicBezTo>
                  <a:pt x="1112069" y="206284"/>
                  <a:pt x="1112069" y="206284"/>
                  <a:pt x="1112069" y="206284"/>
                </a:cubicBezTo>
                <a:cubicBezTo>
                  <a:pt x="966554" y="95886"/>
                  <a:pt x="893796" y="40686"/>
                  <a:pt x="857417" y="1308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6118657" cy="453231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40" y="314036"/>
            <a:ext cx="6118656" cy="8718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5994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8ADFDDB7-8C7E-D45A-96B3-1A9EBD1B6760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BA0BEC-B644-623E-6D5F-4028774EC28B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/>
            </a:p>
          </p:txBody>
        </p:sp>
        <p:pic>
          <p:nvPicPr>
            <p:cNvPr id="22" name="Logo CEA">
              <a:extLst>
                <a:ext uri="{FF2B5EF4-FFF2-40B4-BE49-F238E27FC236}">
                  <a16:creationId xmlns:a16="http://schemas.microsoft.com/office/drawing/2014/main" id="{41781B71-FA7E-3A77-138A-F8EC208614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BE852666-874F-A297-BDD1-598A6DD9D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5305156" cy="6858000"/>
          </a:xfrm>
          <a:custGeom>
            <a:avLst/>
            <a:gdLst>
              <a:gd name="connsiteX0" fmla="*/ 657398 w 5305156"/>
              <a:gd name="connsiteY0" fmla="*/ 6793932 h 6858000"/>
              <a:gd name="connsiteX1" fmla="*/ 585057 w 5305156"/>
              <a:gd name="connsiteY1" fmla="*/ 6857017 h 6858000"/>
              <a:gd name="connsiteX2" fmla="*/ 583930 w 5305156"/>
              <a:gd name="connsiteY2" fmla="*/ 6858000 h 6858000"/>
              <a:gd name="connsiteX3" fmla="*/ 732294 w 5305156"/>
              <a:gd name="connsiteY3" fmla="*/ 6858000 h 6858000"/>
              <a:gd name="connsiteX4" fmla="*/ 725614 w 5305156"/>
              <a:gd name="connsiteY4" fmla="*/ 6852286 h 6858000"/>
              <a:gd name="connsiteX5" fmla="*/ 657398 w 5305156"/>
              <a:gd name="connsiteY5" fmla="*/ 6793932 h 6858000"/>
              <a:gd name="connsiteX6" fmla="*/ 653184 w 5305156"/>
              <a:gd name="connsiteY6" fmla="*/ 6434348 h 6858000"/>
              <a:gd name="connsiteX7" fmla="*/ 330807 w 5305156"/>
              <a:gd name="connsiteY7" fmla="*/ 6715076 h 6858000"/>
              <a:gd name="connsiteX8" fmla="*/ 330807 w 5305156"/>
              <a:gd name="connsiteY8" fmla="*/ 6799592 h 6858000"/>
              <a:gd name="connsiteX9" fmla="*/ 330807 w 5305156"/>
              <a:gd name="connsiteY9" fmla="*/ 6858000 h 6858000"/>
              <a:gd name="connsiteX10" fmla="*/ 564153 w 5305156"/>
              <a:gd name="connsiteY10" fmla="*/ 6858000 h 6858000"/>
              <a:gd name="connsiteX11" fmla="*/ 568902 w 5305156"/>
              <a:gd name="connsiteY11" fmla="*/ 6853863 h 6858000"/>
              <a:gd name="connsiteX12" fmla="*/ 585057 w 5305156"/>
              <a:gd name="connsiteY12" fmla="*/ 6857017 h 6858000"/>
              <a:gd name="connsiteX13" fmla="*/ 569605 w 5305156"/>
              <a:gd name="connsiteY13" fmla="*/ 6853075 h 6858000"/>
              <a:gd name="connsiteX14" fmla="*/ 653184 w 5305156"/>
              <a:gd name="connsiteY14" fmla="*/ 6780527 h 6858000"/>
              <a:gd name="connsiteX15" fmla="*/ 653184 w 5305156"/>
              <a:gd name="connsiteY15" fmla="*/ 6434348 h 6858000"/>
              <a:gd name="connsiteX16" fmla="*/ 5047259 w 5305156"/>
              <a:gd name="connsiteY16" fmla="*/ 6343650 h 6858000"/>
              <a:gd name="connsiteX17" fmla="*/ 5047259 w 5305156"/>
              <a:gd name="connsiteY17" fmla="*/ 6707250 h 6858000"/>
              <a:gd name="connsiteX18" fmla="*/ 4683659 w 5305156"/>
              <a:gd name="connsiteY18" fmla="*/ 6707250 h 6858000"/>
              <a:gd name="connsiteX19" fmla="*/ 4683659 w 5305156"/>
              <a:gd name="connsiteY19" fmla="*/ 6343650 h 6858000"/>
              <a:gd name="connsiteX20" fmla="*/ 985394 w 5305156"/>
              <a:gd name="connsiteY20" fmla="*/ 5786939 h 6858000"/>
              <a:gd name="connsiteX21" fmla="*/ 777500 w 5305156"/>
              <a:gd name="connsiteY21" fmla="*/ 5968308 h 6858000"/>
              <a:gd name="connsiteX22" fmla="*/ 663017 w 5305156"/>
              <a:gd name="connsiteY22" fmla="*/ 6067667 h 6858000"/>
              <a:gd name="connsiteX23" fmla="*/ 663017 w 5305156"/>
              <a:gd name="connsiteY23" fmla="*/ 6413845 h 6858000"/>
              <a:gd name="connsiteX24" fmla="*/ 901815 w 5305156"/>
              <a:gd name="connsiteY24" fmla="*/ 6206454 h 6858000"/>
              <a:gd name="connsiteX25" fmla="*/ 985394 w 5305156"/>
              <a:gd name="connsiteY25" fmla="*/ 6133906 h 6858000"/>
              <a:gd name="connsiteX26" fmla="*/ 985394 w 5305156"/>
              <a:gd name="connsiteY26" fmla="*/ 5786939 h 6858000"/>
              <a:gd name="connsiteX27" fmla="*/ 1549380 w 5305156"/>
              <a:gd name="connsiteY27" fmla="*/ 5671020 h 6858000"/>
              <a:gd name="connsiteX28" fmla="*/ 1537440 w 5305156"/>
              <a:gd name="connsiteY28" fmla="*/ 5677328 h 6858000"/>
              <a:gd name="connsiteX29" fmla="*/ 1549380 w 5305156"/>
              <a:gd name="connsiteY29" fmla="*/ 5671020 h 6858000"/>
              <a:gd name="connsiteX30" fmla="*/ 1325331 w 5305156"/>
              <a:gd name="connsiteY30" fmla="*/ 5495959 h 6858000"/>
              <a:gd name="connsiteX31" fmla="*/ 1000847 w 5305156"/>
              <a:gd name="connsiteY31" fmla="*/ 5779053 h 6858000"/>
              <a:gd name="connsiteX32" fmla="*/ 1326033 w 5305156"/>
              <a:gd name="connsiteY32" fmla="*/ 6056627 h 6858000"/>
              <a:gd name="connsiteX33" fmla="*/ 1650518 w 5305156"/>
              <a:gd name="connsiteY33" fmla="*/ 5773533 h 6858000"/>
              <a:gd name="connsiteX34" fmla="*/ 1537440 w 5305156"/>
              <a:gd name="connsiteY34" fmla="*/ 5677328 h 6858000"/>
              <a:gd name="connsiteX35" fmla="*/ 1325331 w 5305156"/>
              <a:gd name="connsiteY35" fmla="*/ 5495959 h 6858000"/>
              <a:gd name="connsiteX36" fmla="*/ 320271 w 5305156"/>
              <a:gd name="connsiteY36" fmla="*/ 4847761 h 6858000"/>
              <a:gd name="connsiteX37" fmla="*/ 0 w 5305156"/>
              <a:gd name="connsiteY37" fmla="*/ 5126124 h 6858000"/>
              <a:gd name="connsiteX38" fmla="*/ 325188 w 5305156"/>
              <a:gd name="connsiteY38" fmla="*/ 5403697 h 6858000"/>
              <a:gd name="connsiteX39" fmla="*/ 433349 w 5305156"/>
              <a:gd name="connsiteY39" fmla="*/ 5309070 h 6858000"/>
              <a:gd name="connsiteX40" fmla="*/ 439670 w 5305156"/>
              <a:gd name="connsiteY40" fmla="*/ 5320898 h 6858000"/>
              <a:gd name="connsiteX41" fmla="*/ 330807 w 5305156"/>
              <a:gd name="connsiteY41" fmla="*/ 5415526 h 6858000"/>
              <a:gd name="connsiteX42" fmla="*/ 330807 w 5305156"/>
              <a:gd name="connsiteY42" fmla="*/ 5761705 h 6858000"/>
              <a:gd name="connsiteX43" fmla="*/ 563986 w 5305156"/>
              <a:gd name="connsiteY43" fmla="*/ 5559044 h 6858000"/>
              <a:gd name="connsiteX44" fmla="*/ 570307 w 5305156"/>
              <a:gd name="connsiteY44" fmla="*/ 5571661 h 6858000"/>
              <a:gd name="connsiteX45" fmla="*/ 332211 w 5305156"/>
              <a:gd name="connsiteY45" fmla="*/ 5779053 h 6858000"/>
              <a:gd name="connsiteX46" fmla="*/ 657398 w 5305156"/>
              <a:gd name="connsiteY46" fmla="*/ 6056627 h 6858000"/>
              <a:gd name="connsiteX47" fmla="*/ 771178 w 5305156"/>
              <a:gd name="connsiteY47" fmla="*/ 5957268 h 6858000"/>
              <a:gd name="connsiteX48" fmla="*/ 777500 w 5305156"/>
              <a:gd name="connsiteY48" fmla="*/ 5968308 h 6858000"/>
              <a:gd name="connsiteX49" fmla="*/ 771881 w 5305156"/>
              <a:gd name="connsiteY49" fmla="*/ 5956479 h 6858000"/>
              <a:gd name="connsiteX50" fmla="*/ 981883 w 5305156"/>
              <a:gd name="connsiteY50" fmla="*/ 5773533 h 6858000"/>
              <a:gd name="connsiteX51" fmla="*/ 656696 w 5305156"/>
              <a:gd name="connsiteY51" fmla="*/ 5495959 h 6858000"/>
              <a:gd name="connsiteX52" fmla="*/ 571010 w 5305156"/>
              <a:gd name="connsiteY52" fmla="*/ 5570873 h 6858000"/>
              <a:gd name="connsiteX53" fmla="*/ 563986 w 5305156"/>
              <a:gd name="connsiteY53" fmla="*/ 5558256 h 6858000"/>
              <a:gd name="connsiteX54" fmla="*/ 653184 w 5305156"/>
              <a:gd name="connsiteY54" fmla="*/ 5480976 h 6858000"/>
              <a:gd name="connsiteX55" fmla="*/ 653184 w 5305156"/>
              <a:gd name="connsiteY55" fmla="*/ 5134798 h 6858000"/>
              <a:gd name="connsiteX56" fmla="*/ 439670 w 5305156"/>
              <a:gd name="connsiteY56" fmla="*/ 5320110 h 6858000"/>
              <a:gd name="connsiteX57" fmla="*/ 434052 w 5305156"/>
              <a:gd name="connsiteY57" fmla="*/ 5309070 h 6858000"/>
              <a:gd name="connsiteX58" fmla="*/ 645458 w 5305156"/>
              <a:gd name="connsiteY58" fmla="*/ 5125335 h 6858000"/>
              <a:gd name="connsiteX59" fmla="*/ 320271 w 5305156"/>
              <a:gd name="connsiteY59" fmla="*/ 4847761 h 6858000"/>
              <a:gd name="connsiteX60" fmla="*/ 985394 w 5305156"/>
              <a:gd name="connsiteY60" fmla="*/ 4487388 h 6858000"/>
              <a:gd name="connsiteX61" fmla="*/ 763453 w 5305156"/>
              <a:gd name="connsiteY61" fmla="*/ 4680586 h 6858000"/>
              <a:gd name="connsiteX62" fmla="*/ 756430 w 5305156"/>
              <a:gd name="connsiteY62" fmla="*/ 4670335 h 6858000"/>
              <a:gd name="connsiteX63" fmla="*/ 762750 w 5305156"/>
              <a:gd name="connsiteY63" fmla="*/ 4680586 h 6858000"/>
              <a:gd name="connsiteX64" fmla="*/ 663017 w 5305156"/>
              <a:gd name="connsiteY64" fmla="*/ 4768116 h 6858000"/>
              <a:gd name="connsiteX65" fmla="*/ 663017 w 5305156"/>
              <a:gd name="connsiteY65" fmla="*/ 5114295 h 6858000"/>
              <a:gd name="connsiteX66" fmla="*/ 906029 w 5305156"/>
              <a:gd name="connsiteY66" fmla="*/ 4902960 h 6858000"/>
              <a:gd name="connsiteX67" fmla="*/ 913053 w 5305156"/>
              <a:gd name="connsiteY67" fmla="*/ 4913212 h 6858000"/>
              <a:gd name="connsiteX68" fmla="*/ 906732 w 5305156"/>
              <a:gd name="connsiteY68" fmla="*/ 4902172 h 6858000"/>
              <a:gd name="connsiteX69" fmla="*/ 985394 w 5305156"/>
              <a:gd name="connsiteY69" fmla="*/ 4833567 h 6858000"/>
              <a:gd name="connsiteX70" fmla="*/ 985394 w 5305156"/>
              <a:gd name="connsiteY70" fmla="*/ 4487388 h 6858000"/>
              <a:gd name="connsiteX71" fmla="*/ 656696 w 5305156"/>
              <a:gd name="connsiteY71" fmla="*/ 4196409 h 6858000"/>
              <a:gd name="connsiteX72" fmla="*/ 332211 w 5305156"/>
              <a:gd name="connsiteY72" fmla="*/ 4478714 h 6858000"/>
              <a:gd name="connsiteX73" fmla="*/ 657398 w 5305156"/>
              <a:gd name="connsiteY73" fmla="*/ 4756288 h 6858000"/>
              <a:gd name="connsiteX74" fmla="*/ 756430 w 5305156"/>
              <a:gd name="connsiteY74" fmla="*/ 4670335 h 6858000"/>
              <a:gd name="connsiteX75" fmla="*/ 981883 w 5305156"/>
              <a:gd name="connsiteY75" fmla="*/ 4473983 h 6858000"/>
              <a:gd name="connsiteX76" fmla="*/ 656696 w 5305156"/>
              <a:gd name="connsiteY76" fmla="*/ 4196409 h 6858000"/>
              <a:gd name="connsiteX77" fmla="*/ 993120 w 5305156"/>
              <a:gd name="connsiteY77" fmla="*/ 3544268 h 6858000"/>
              <a:gd name="connsiteX78" fmla="*/ 668636 w 5305156"/>
              <a:gd name="connsiteY78" fmla="*/ 3826573 h 6858000"/>
              <a:gd name="connsiteX79" fmla="*/ 993823 w 5305156"/>
              <a:gd name="connsiteY79" fmla="*/ 4104935 h 6858000"/>
              <a:gd name="connsiteX80" fmla="*/ 1318308 w 5305156"/>
              <a:gd name="connsiteY80" fmla="*/ 3821842 h 6858000"/>
              <a:gd name="connsiteX81" fmla="*/ 1002251 w 5305156"/>
              <a:gd name="connsiteY81" fmla="*/ 3552154 h 6858000"/>
              <a:gd name="connsiteX82" fmla="*/ 993120 w 5305156"/>
              <a:gd name="connsiteY82" fmla="*/ 3544268 h 6858000"/>
              <a:gd name="connsiteX83" fmla="*/ 1318308 w 5305156"/>
              <a:gd name="connsiteY83" fmla="*/ 2538851 h 6858000"/>
              <a:gd name="connsiteX84" fmla="*/ 1110412 w 5305156"/>
              <a:gd name="connsiteY84" fmla="*/ 2719432 h 6858000"/>
              <a:gd name="connsiteX85" fmla="*/ 1104092 w 5305156"/>
              <a:gd name="connsiteY85" fmla="*/ 2708392 h 6858000"/>
              <a:gd name="connsiteX86" fmla="*/ 1109710 w 5305156"/>
              <a:gd name="connsiteY86" fmla="*/ 2720221 h 6858000"/>
              <a:gd name="connsiteX87" fmla="*/ 995930 w 5305156"/>
              <a:gd name="connsiteY87" fmla="*/ 2819579 h 6858000"/>
              <a:gd name="connsiteX88" fmla="*/ 995930 w 5305156"/>
              <a:gd name="connsiteY88" fmla="*/ 3165758 h 6858000"/>
              <a:gd name="connsiteX89" fmla="*/ 1234025 w 5305156"/>
              <a:gd name="connsiteY89" fmla="*/ 2958366 h 6858000"/>
              <a:gd name="connsiteX90" fmla="*/ 1240347 w 5305156"/>
              <a:gd name="connsiteY90" fmla="*/ 2969406 h 6858000"/>
              <a:gd name="connsiteX91" fmla="*/ 1234728 w 5305156"/>
              <a:gd name="connsiteY91" fmla="*/ 2957578 h 6858000"/>
              <a:gd name="connsiteX92" fmla="*/ 1318308 w 5305156"/>
              <a:gd name="connsiteY92" fmla="*/ 2885030 h 6858000"/>
              <a:gd name="connsiteX93" fmla="*/ 1318308 w 5305156"/>
              <a:gd name="connsiteY93" fmla="*/ 2538851 h 6858000"/>
              <a:gd name="connsiteX94" fmla="*/ 652482 w 5305156"/>
              <a:gd name="connsiteY94" fmla="*/ 1598885 h 6858000"/>
              <a:gd name="connsiteX95" fmla="*/ 332211 w 5305156"/>
              <a:gd name="connsiteY95" fmla="*/ 1878036 h 6858000"/>
              <a:gd name="connsiteX96" fmla="*/ 657398 w 5305156"/>
              <a:gd name="connsiteY96" fmla="*/ 2155610 h 6858000"/>
              <a:gd name="connsiteX97" fmla="*/ 766262 w 5305156"/>
              <a:gd name="connsiteY97" fmla="*/ 2060983 h 6858000"/>
              <a:gd name="connsiteX98" fmla="*/ 771881 w 5305156"/>
              <a:gd name="connsiteY98" fmla="*/ 2072022 h 6858000"/>
              <a:gd name="connsiteX99" fmla="*/ 663017 w 5305156"/>
              <a:gd name="connsiteY99" fmla="*/ 2166650 h 6858000"/>
              <a:gd name="connsiteX100" fmla="*/ 663017 w 5305156"/>
              <a:gd name="connsiteY100" fmla="*/ 2513617 h 6858000"/>
              <a:gd name="connsiteX101" fmla="*/ 896196 w 5305156"/>
              <a:gd name="connsiteY101" fmla="*/ 2310168 h 6858000"/>
              <a:gd name="connsiteX102" fmla="*/ 902517 w 5305156"/>
              <a:gd name="connsiteY102" fmla="*/ 2322785 h 6858000"/>
              <a:gd name="connsiteX103" fmla="*/ 665124 w 5305156"/>
              <a:gd name="connsiteY103" fmla="*/ 2530177 h 6858000"/>
              <a:gd name="connsiteX104" fmla="*/ 990311 w 5305156"/>
              <a:gd name="connsiteY104" fmla="*/ 2807751 h 6858000"/>
              <a:gd name="connsiteX105" fmla="*/ 1104092 w 5305156"/>
              <a:gd name="connsiteY105" fmla="*/ 2708392 h 6858000"/>
              <a:gd name="connsiteX106" fmla="*/ 1314093 w 5305156"/>
              <a:gd name="connsiteY106" fmla="*/ 2525446 h 6858000"/>
              <a:gd name="connsiteX107" fmla="*/ 988907 w 5305156"/>
              <a:gd name="connsiteY107" fmla="*/ 2247872 h 6858000"/>
              <a:gd name="connsiteX108" fmla="*/ 903220 w 5305156"/>
              <a:gd name="connsiteY108" fmla="*/ 2322785 h 6858000"/>
              <a:gd name="connsiteX109" fmla="*/ 896899 w 5305156"/>
              <a:gd name="connsiteY109" fmla="*/ 2310168 h 6858000"/>
              <a:gd name="connsiteX110" fmla="*/ 985394 w 5305156"/>
              <a:gd name="connsiteY110" fmla="*/ 2232889 h 6858000"/>
              <a:gd name="connsiteX111" fmla="*/ 985394 w 5305156"/>
              <a:gd name="connsiteY111" fmla="*/ 1885922 h 6858000"/>
              <a:gd name="connsiteX112" fmla="*/ 772583 w 5305156"/>
              <a:gd name="connsiteY112" fmla="*/ 2072022 h 6858000"/>
              <a:gd name="connsiteX113" fmla="*/ 766262 w 5305156"/>
              <a:gd name="connsiteY113" fmla="*/ 2060194 h 6858000"/>
              <a:gd name="connsiteX114" fmla="*/ 977669 w 5305156"/>
              <a:gd name="connsiteY114" fmla="*/ 1876459 h 6858000"/>
              <a:gd name="connsiteX115" fmla="*/ 652482 w 5305156"/>
              <a:gd name="connsiteY115" fmla="*/ 1598885 h 6858000"/>
              <a:gd name="connsiteX116" fmla="*/ 1318308 w 5305156"/>
              <a:gd name="connsiteY116" fmla="*/ 1238512 h 6858000"/>
              <a:gd name="connsiteX117" fmla="*/ 1095663 w 5305156"/>
              <a:gd name="connsiteY117" fmla="*/ 1432499 h 6858000"/>
              <a:gd name="connsiteX118" fmla="*/ 995930 w 5305156"/>
              <a:gd name="connsiteY118" fmla="*/ 1519240 h 6858000"/>
              <a:gd name="connsiteX119" fmla="*/ 995930 w 5305156"/>
              <a:gd name="connsiteY119" fmla="*/ 1865419 h 6858000"/>
              <a:gd name="connsiteX120" fmla="*/ 1238240 w 5305156"/>
              <a:gd name="connsiteY120" fmla="*/ 1654085 h 6858000"/>
              <a:gd name="connsiteX121" fmla="*/ 1245264 w 5305156"/>
              <a:gd name="connsiteY121" fmla="*/ 1665124 h 6858000"/>
              <a:gd name="connsiteX122" fmla="*/ 1000847 w 5305156"/>
              <a:gd name="connsiteY122" fmla="*/ 1878036 h 6858000"/>
              <a:gd name="connsiteX123" fmla="*/ 1326033 w 5305156"/>
              <a:gd name="connsiteY123" fmla="*/ 2155610 h 6858000"/>
              <a:gd name="connsiteX124" fmla="*/ 1477038 w 5305156"/>
              <a:gd name="connsiteY124" fmla="*/ 2023920 h 6858000"/>
              <a:gd name="connsiteX125" fmla="*/ 1646304 w 5305156"/>
              <a:gd name="connsiteY125" fmla="*/ 1876459 h 6858000"/>
              <a:gd name="connsiteX126" fmla="*/ 1321116 w 5305156"/>
              <a:gd name="connsiteY126" fmla="*/ 1598885 h 6858000"/>
              <a:gd name="connsiteX127" fmla="*/ 1245965 w 5305156"/>
              <a:gd name="connsiteY127" fmla="*/ 1664336 h 6858000"/>
              <a:gd name="connsiteX128" fmla="*/ 1238942 w 5305156"/>
              <a:gd name="connsiteY128" fmla="*/ 1654085 h 6858000"/>
              <a:gd name="connsiteX129" fmla="*/ 1318308 w 5305156"/>
              <a:gd name="connsiteY129" fmla="*/ 1585480 h 6858000"/>
              <a:gd name="connsiteX130" fmla="*/ 1318308 w 5305156"/>
              <a:gd name="connsiteY130" fmla="*/ 1238512 h 6858000"/>
              <a:gd name="connsiteX131" fmla="*/ 988907 w 5305156"/>
              <a:gd name="connsiteY131" fmla="*/ 947533 h 6858000"/>
              <a:gd name="connsiteX132" fmla="*/ 665124 w 5305156"/>
              <a:gd name="connsiteY132" fmla="*/ 1230627 h 6858000"/>
              <a:gd name="connsiteX133" fmla="*/ 990311 w 5305156"/>
              <a:gd name="connsiteY133" fmla="*/ 1508201 h 6858000"/>
              <a:gd name="connsiteX134" fmla="*/ 1088639 w 5305156"/>
              <a:gd name="connsiteY134" fmla="*/ 1422247 h 6858000"/>
              <a:gd name="connsiteX135" fmla="*/ 1095663 w 5305156"/>
              <a:gd name="connsiteY135" fmla="*/ 1432499 h 6858000"/>
              <a:gd name="connsiteX136" fmla="*/ 1089342 w 5305156"/>
              <a:gd name="connsiteY136" fmla="*/ 1421459 h 6858000"/>
              <a:gd name="connsiteX137" fmla="*/ 1314093 w 5305156"/>
              <a:gd name="connsiteY137" fmla="*/ 1225107 h 6858000"/>
              <a:gd name="connsiteX138" fmla="*/ 988907 w 5305156"/>
              <a:gd name="connsiteY138" fmla="*/ 947533 h 6858000"/>
              <a:gd name="connsiteX139" fmla="*/ 1325331 w 5305156"/>
              <a:gd name="connsiteY139" fmla="*/ 296181 h 6858000"/>
              <a:gd name="connsiteX140" fmla="*/ 1000847 w 5305156"/>
              <a:gd name="connsiteY140" fmla="*/ 578486 h 6858000"/>
              <a:gd name="connsiteX141" fmla="*/ 1326033 w 5305156"/>
              <a:gd name="connsiteY141" fmla="*/ 856060 h 6858000"/>
              <a:gd name="connsiteX142" fmla="*/ 1650518 w 5305156"/>
              <a:gd name="connsiteY142" fmla="*/ 573754 h 6858000"/>
              <a:gd name="connsiteX143" fmla="*/ 1334462 w 5305156"/>
              <a:gd name="connsiteY143" fmla="*/ 304066 h 6858000"/>
              <a:gd name="connsiteX144" fmla="*/ 1325331 w 5305156"/>
              <a:gd name="connsiteY144" fmla="*/ 296181 h 6858000"/>
              <a:gd name="connsiteX145" fmla="*/ 1226725 w 5305156"/>
              <a:gd name="connsiteY145" fmla="*/ 0 h 6858000"/>
              <a:gd name="connsiteX146" fmla="*/ 748180 w 5305156"/>
              <a:gd name="connsiteY146" fmla="*/ 0 h 6858000"/>
              <a:gd name="connsiteX147" fmla="*/ 763540 w 5305156"/>
              <a:gd name="connsiteY147" fmla="*/ 13087 h 6858000"/>
              <a:gd name="connsiteX148" fmla="*/ 990311 w 5305156"/>
              <a:gd name="connsiteY148" fmla="*/ 206284 h 6858000"/>
              <a:gd name="connsiteX149" fmla="*/ 1159227 w 5305156"/>
              <a:gd name="connsiteY149" fmla="*/ 58896 h 6858000"/>
              <a:gd name="connsiteX150" fmla="*/ 1318308 w 5305156"/>
              <a:gd name="connsiteY150" fmla="*/ 0 h 6858000"/>
              <a:gd name="connsiteX151" fmla="*/ 1245701 w 5305156"/>
              <a:gd name="connsiteY151" fmla="*/ 0 h 6858000"/>
              <a:gd name="connsiteX152" fmla="*/ 1228232 w 5305156"/>
              <a:gd name="connsiteY152" fmla="*/ 15255 h 6858000"/>
              <a:gd name="connsiteX153" fmla="*/ 995930 w 5305156"/>
              <a:gd name="connsiteY153" fmla="*/ 218113 h 6858000"/>
              <a:gd name="connsiteX154" fmla="*/ 995930 w 5305156"/>
              <a:gd name="connsiteY154" fmla="*/ 564292 h 6858000"/>
              <a:gd name="connsiteX155" fmla="*/ 1318308 w 5305156"/>
              <a:gd name="connsiteY155" fmla="*/ 283564 h 6858000"/>
              <a:gd name="connsiteX156" fmla="*/ 1318308 w 5305156"/>
              <a:gd name="connsiteY156" fmla="*/ 84404 h 6858000"/>
              <a:gd name="connsiteX157" fmla="*/ 5305156 w 5305156"/>
              <a:gd name="connsiteY157" fmla="*/ 0 h 6858000"/>
              <a:gd name="connsiteX158" fmla="*/ 1329545 w 5305156"/>
              <a:gd name="connsiteY158" fmla="*/ 0 h 6858000"/>
              <a:gd name="connsiteX159" fmla="*/ 1329545 w 5305156"/>
              <a:gd name="connsiteY159" fmla="*/ 1953 h 6858000"/>
              <a:gd name="connsiteX160" fmla="*/ 1329545 w 5305156"/>
              <a:gd name="connsiteY160" fmla="*/ 283564 h 6858000"/>
              <a:gd name="connsiteX161" fmla="*/ 1343592 w 5305156"/>
              <a:gd name="connsiteY161" fmla="*/ 295392 h 6858000"/>
              <a:gd name="connsiteX162" fmla="*/ 1334462 w 5305156"/>
              <a:gd name="connsiteY162" fmla="*/ 304066 h 6858000"/>
              <a:gd name="connsiteX163" fmla="*/ 1344294 w 5305156"/>
              <a:gd name="connsiteY163" fmla="*/ 295392 h 6858000"/>
              <a:gd name="connsiteX164" fmla="*/ 1665970 w 5305156"/>
              <a:gd name="connsiteY164" fmla="*/ 570600 h 6858000"/>
              <a:gd name="connsiteX165" fmla="*/ 1665970 w 5305156"/>
              <a:gd name="connsiteY165" fmla="*/ 589526 h 6858000"/>
              <a:gd name="connsiteX166" fmla="*/ 1654030 w 5305156"/>
              <a:gd name="connsiteY166" fmla="*/ 599777 h 6858000"/>
              <a:gd name="connsiteX167" fmla="*/ 1654030 w 5305156"/>
              <a:gd name="connsiteY167" fmla="*/ 587160 h 6858000"/>
              <a:gd name="connsiteX168" fmla="*/ 1332355 w 5305156"/>
              <a:gd name="connsiteY168" fmla="*/ 867888 h 6858000"/>
              <a:gd name="connsiteX169" fmla="*/ 1332355 w 5305156"/>
              <a:gd name="connsiteY169" fmla="*/ 1214067 h 6858000"/>
              <a:gd name="connsiteX170" fmla="*/ 1654030 w 5305156"/>
              <a:gd name="connsiteY170" fmla="*/ 933339 h 6858000"/>
              <a:gd name="connsiteX171" fmla="*/ 1654030 w 5305156"/>
              <a:gd name="connsiteY171" fmla="*/ 600566 h 6858000"/>
              <a:gd name="connsiteX172" fmla="*/ 1665970 w 5305156"/>
              <a:gd name="connsiteY172" fmla="*/ 590314 h 6858000"/>
              <a:gd name="connsiteX173" fmla="*/ 1665970 w 5305156"/>
              <a:gd name="connsiteY173" fmla="*/ 938859 h 6858000"/>
              <a:gd name="connsiteX174" fmla="*/ 1998180 w 5305156"/>
              <a:gd name="connsiteY174" fmla="*/ 1221952 h 6858000"/>
              <a:gd name="connsiteX175" fmla="*/ 1998180 w 5305156"/>
              <a:gd name="connsiteY175" fmla="*/ 1591788 h 6858000"/>
              <a:gd name="connsiteX176" fmla="*/ 1680718 w 5305156"/>
              <a:gd name="connsiteY176" fmla="*/ 1867785 h 6858000"/>
              <a:gd name="connsiteX177" fmla="*/ 1680718 w 5305156"/>
              <a:gd name="connsiteY177" fmla="*/ 1851225 h 6858000"/>
              <a:gd name="connsiteX178" fmla="*/ 1986942 w 5305156"/>
              <a:gd name="connsiteY178" fmla="*/ 1585480 h 6858000"/>
              <a:gd name="connsiteX179" fmla="*/ 1986942 w 5305156"/>
              <a:gd name="connsiteY179" fmla="*/ 1238512 h 6858000"/>
              <a:gd name="connsiteX180" fmla="*/ 1680718 w 5305156"/>
              <a:gd name="connsiteY180" fmla="*/ 1505046 h 6858000"/>
              <a:gd name="connsiteX181" fmla="*/ 1680718 w 5305156"/>
              <a:gd name="connsiteY181" fmla="*/ 1488487 h 6858000"/>
              <a:gd name="connsiteX182" fmla="*/ 1982728 w 5305156"/>
              <a:gd name="connsiteY182" fmla="*/ 1225107 h 6858000"/>
              <a:gd name="connsiteX183" fmla="*/ 1657541 w 5305156"/>
              <a:gd name="connsiteY183" fmla="*/ 947533 h 6858000"/>
              <a:gd name="connsiteX184" fmla="*/ 1333056 w 5305156"/>
              <a:gd name="connsiteY184" fmla="*/ 1230627 h 6858000"/>
              <a:gd name="connsiteX185" fmla="*/ 1658244 w 5305156"/>
              <a:gd name="connsiteY185" fmla="*/ 1508201 h 6858000"/>
              <a:gd name="connsiteX186" fmla="*/ 1680017 w 5305156"/>
              <a:gd name="connsiteY186" fmla="*/ 1489275 h 6858000"/>
              <a:gd name="connsiteX187" fmla="*/ 1680017 w 5305156"/>
              <a:gd name="connsiteY187" fmla="*/ 1505835 h 6858000"/>
              <a:gd name="connsiteX188" fmla="*/ 1664565 w 5305156"/>
              <a:gd name="connsiteY188" fmla="*/ 1519240 h 6858000"/>
              <a:gd name="connsiteX189" fmla="*/ 1664565 w 5305156"/>
              <a:gd name="connsiteY189" fmla="*/ 1865419 h 6858000"/>
              <a:gd name="connsiteX190" fmla="*/ 1680017 w 5305156"/>
              <a:gd name="connsiteY190" fmla="*/ 1852014 h 6858000"/>
              <a:gd name="connsiteX191" fmla="*/ 1680017 w 5305156"/>
              <a:gd name="connsiteY191" fmla="*/ 1868573 h 6858000"/>
              <a:gd name="connsiteX192" fmla="*/ 1665970 w 5305156"/>
              <a:gd name="connsiteY192" fmla="*/ 1881190 h 6858000"/>
              <a:gd name="connsiteX193" fmla="*/ 1665970 w 5305156"/>
              <a:gd name="connsiteY193" fmla="*/ 2058617 h 6858000"/>
              <a:gd name="connsiteX194" fmla="*/ 1654030 w 5305156"/>
              <a:gd name="connsiteY194" fmla="*/ 2060194 h 6858000"/>
              <a:gd name="connsiteX195" fmla="*/ 1654030 w 5305156"/>
              <a:gd name="connsiteY195" fmla="*/ 1885922 h 6858000"/>
              <a:gd name="connsiteX196" fmla="*/ 1484061 w 5305156"/>
              <a:gd name="connsiteY196" fmla="*/ 2034172 h 6858000"/>
              <a:gd name="connsiteX197" fmla="*/ 1477038 w 5305156"/>
              <a:gd name="connsiteY197" fmla="*/ 2023920 h 6858000"/>
              <a:gd name="connsiteX198" fmla="*/ 1484061 w 5305156"/>
              <a:gd name="connsiteY198" fmla="*/ 2034960 h 6858000"/>
              <a:gd name="connsiteX199" fmla="*/ 1332355 w 5305156"/>
              <a:gd name="connsiteY199" fmla="*/ 2166650 h 6858000"/>
              <a:gd name="connsiteX200" fmla="*/ 1332355 w 5305156"/>
              <a:gd name="connsiteY200" fmla="*/ 2513617 h 6858000"/>
              <a:gd name="connsiteX201" fmla="*/ 1654030 w 5305156"/>
              <a:gd name="connsiteY201" fmla="*/ 2232889 h 6858000"/>
              <a:gd name="connsiteX202" fmla="*/ 1654030 w 5305156"/>
              <a:gd name="connsiteY202" fmla="*/ 2060983 h 6858000"/>
              <a:gd name="connsiteX203" fmla="*/ 1665970 w 5305156"/>
              <a:gd name="connsiteY203" fmla="*/ 2059405 h 6858000"/>
              <a:gd name="connsiteX204" fmla="*/ 1665970 w 5305156"/>
              <a:gd name="connsiteY204" fmla="*/ 2238409 h 6858000"/>
              <a:gd name="connsiteX205" fmla="*/ 1881590 w 5305156"/>
              <a:gd name="connsiteY205" fmla="*/ 2422144 h 6858000"/>
              <a:gd name="connsiteX206" fmla="*/ 1869650 w 5305156"/>
              <a:gd name="connsiteY206" fmla="*/ 2428452 h 6858000"/>
              <a:gd name="connsiteX207" fmla="*/ 1657541 w 5305156"/>
              <a:gd name="connsiteY207" fmla="*/ 2247872 h 6858000"/>
              <a:gd name="connsiteX208" fmla="*/ 1333056 w 5305156"/>
              <a:gd name="connsiteY208" fmla="*/ 2530177 h 6858000"/>
              <a:gd name="connsiteX209" fmla="*/ 1658244 w 5305156"/>
              <a:gd name="connsiteY209" fmla="*/ 2807751 h 6858000"/>
              <a:gd name="connsiteX210" fmla="*/ 1982728 w 5305156"/>
              <a:gd name="connsiteY210" fmla="*/ 2525446 h 6858000"/>
              <a:gd name="connsiteX211" fmla="*/ 1870353 w 5305156"/>
              <a:gd name="connsiteY211" fmla="*/ 2429241 h 6858000"/>
              <a:gd name="connsiteX212" fmla="*/ 1882293 w 5305156"/>
              <a:gd name="connsiteY212" fmla="*/ 2422933 h 6858000"/>
              <a:gd name="connsiteX213" fmla="*/ 1998180 w 5305156"/>
              <a:gd name="connsiteY213" fmla="*/ 2522291 h 6858000"/>
              <a:gd name="connsiteX214" fmla="*/ 1998180 w 5305156"/>
              <a:gd name="connsiteY214" fmla="*/ 2773054 h 6858000"/>
              <a:gd name="connsiteX215" fmla="*/ 1986942 w 5305156"/>
              <a:gd name="connsiteY215" fmla="*/ 2778574 h 6858000"/>
              <a:gd name="connsiteX216" fmla="*/ 1986942 w 5305156"/>
              <a:gd name="connsiteY216" fmla="*/ 2538851 h 6858000"/>
              <a:gd name="connsiteX217" fmla="*/ 1664565 w 5305156"/>
              <a:gd name="connsiteY217" fmla="*/ 2819579 h 6858000"/>
              <a:gd name="connsiteX218" fmla="*/ 1664565 w 5305156"/>
              <a:gd name="connsiteY218" fmla="*/ 3165758 h 6858000"/>
              <a:gd name="connsiteX219" fmla="*/ 1986942 w 5305156"/>
              <a:gd name="connsiteY219" fmla="*/ 2885030 h 6858000"/>
              <a:gd name="connsiteX220" fmla="*/ 1986942 w 5305156"/>
              <a:gd name="connsiteY220" fmla="*/ 2779363 h 6858000"/>
              <a:gd name="connsiteX221" fmla="*/ 1998180 w 5305156"/>
              <a:gd name="connsiteY221" fmla="*/ 2773843 h 6858000"/>
              <a:gd name="connsiteX222" fmla="*/ 1998180 w 5305156"/>
              <a:gd name="connsiteY222" fmla="*/ 2891339 h 6858000"/>
              <a:gd name="connsiteX223" fmla="*/ 1658946 w 5305156"/>
              <a:gd name="connsiteY223" fmla="*/ 3187049 h 6858000"/>
              <a:gd name="connsiteX224" fmla="*/ 1321116 w 5305156"/>
              <a:gd name="connsiteY224" fmla="*/ 2899224 h 6858000"/>
              <a:gd name="connsiteX225" fmla="*/ 1240347 w 5305156"/>
              <a:gd name="connsiteY225" fmla="*/ 2969406 h 6858000"/>
              <a:gd name="connsiteX226" fmla="*/ 997334 w 5305156"/>
              <a:gd name="connsiteY226" fmla="*/ 3180741 h 6858000"/>
              <a:gd name="connsiteX227" fmla="*/ 997334 w 5305156"/>
              <a:gd name="connsiteY227" fmla="*/ 3519034 h 6858000"/>
              <a:gd name="connsiteX228" fmla="*/ 985394 w 5305156"/>
              <a:gd name="connsiteY228" fmla="*/ 3519034 h 6858000"/>
              <a:gd name="connsiteX229" fmla="*/ 985394 w 5305156"/>
              <a:gd name="connsiteY229" fmla="*/ 3500109 h 6858000"/>
              <a:gd name="connsiteX230" fmla="*/ 985394 w 5305156"/>
              <a:gd name="connsiteY230" fmla="*/ 3186261 h 6858000"/>
              <a:gd name="connsiteX231" fmla="*/ 663017 w 5305156"/>
              <a:gd name="connsiteY231" fmla="*/ 3466989 h 6858000"/>
              <a:gd name="connsiteX232" fmla="*/ 663017 w 5305156"/>
              <a:gd name="connsiteY232" fmla="*/ 3495377 h 6858000"/>
              <a:gd name="connsiteX233" fmla="*/ 663017 w 5305156"/>
              <a:gd name="connsiteY233" fmla="*/ 3812379 h 6858000"/>
              <a:gd name="connsiteX234" fmla="*/ 985394 w 5305156"/>
              <a:gd name="connsiteY234" fmla="*/ 3532439 h 6858000"/>
              <a:gd name="connsiteX235" fmla="*/ 985394 w 5305156"/>
              <a:gd name="connsiteY235" fmla="*/ 3519822 h 6858000"/>
              <a:gd name="connsiteX236" fmla="*/ 997334 w 5305156"/>
              <a:gd name="connsiteY236" fmla="*/ 3519822 h 6858000"/>
              <a:gd name="connsiteX237" fmla="*/ 997334 w 5305156"/>
              <a:gd name="connsiteY237" fmla="*/ 3531651 h 6858000"/>
              <a:gd name="connsiteX238" fmla="*/ 1011381 w 5305156"/>
              <a:gd name="connsiteY238" fmla="*/ 3543479 h 6858000"/>
              <a:gd name="connsiteX239" fmla="*/ 1002251 w 5305156"/>
              <a:gd name="connsiteY239" fmla="*/ 3552154 h 6858000"/>
              <a:gd name="connsiteX240" fmla="*/ 1012084 w 5305156"/>
              <a:gd name="connsiteY240" fmla="*/ 3544268 h 6858000"/>
              <a:gd name="connsiteX241" fmla="*/ 1333759 w 5305156"/>
              <a:gd name="connsiteY241" fmla="*/ 3818688 h 6858000"/>
              <a:gd name="connsiteX242" fmla="*/ 1333759 w 5305156"/>
              <a:gd name="connsiteY242" fmla="*/ 3838402 h 6858000"/>
              <a:gd name="connsiteX243" fmla="*/ 1321819 w 5305156"/>
              <a:gd name="connsiteY243" fmla="*/ 3848653 h 6858000"/>
              <a:gd name="connsiteX244" fmla="*/ 1321819 w 5305156"/>
              <a:gd name="connsiteY244" fmla="*/ 3835248 h 6858000"/>
              <a:gd name="connsiteX245" fmla="*/ 999441 w 5305156"/>
              <a:gd name="connsiteY245" fmla="*/ 4115975 h 6858000"/>
              <a:gd name="connsiteX246" fmla="*/ 999441 w 5305156"/>
              <a:gd name="connsiteY246" fmla="*/ 4462154 h 6858000"/>
              <a:gd name="connsiteX247" fmla="*/ 1321819 w 5305156"/>
              <a:gd name="connsiteY247" fmla="*/ 4182215 h 6858000"/>
              <a:gd name="connsiteX248" fmla="*/ 1321819 w 5305156"/>
              <a:gd name="connsiteY248" fmla="*/ 3849441 h 6858000"/>
              <a:gd name="connsiteX249" fmla="*/ 1333759 w 5305156"/>
              <a:gd name="connsiteY249" fmla="*/ 3839190 h 6858000"/>
              <a:gd name="connsiteX250" fmla="*/ 1333759 w 5305156"/>
              <a:gd name="connsiteY250" fmla="*/ 4186946 h 6858000"/>
              <a:gd name="connsiteX251" fmla="*/ 1665970 w 5305156"/>
              <a:gd name="connsiteY251" fmla="*/ 4470828 h 6858000"/>
              <a:gd name="connsiteX252" fmla="*/ 1665970 w 5305156"/>
              <a:gd name="connsiteY252" fmla="*/ 4839875 h 6858000"/>
              <a:gd name="connsiteX253" fmla="*/ 1348509 w 5305156"/>
              <a:gd name="connsiteY253" fmla="*/ 5116661 h 6858000"/>
              <a:gd name="connsiteX254" fmla="*/ 1348509 w 5305156"/>
              <a:gd name="connsiteY254" fmla="*/ 5100101 h 6858000"/>
              <a:gd name="connsiteX255" fmla="*/ 1654030 w 5305156"/>
              <a:gd name="connsiteY255" fmla="*/ 4833567 h 6858000"/>
              <a:gd name="connsiteX256" fmla="*/ 1654030 w 5305156"/>
              <a:gd name="connsiteY256" fmla="*/ 4487388 h 6858000"/>
              <a:gd name="connsiteX257" fmla="*/ 1348509 w 5305156"/>
              <a:gd name="connsiteY257" fmla="*/ 4753134 h 6858000"/>
              <a:gd name="connsiteX258" fmla="*/ 1348509 w 5305156"/>
              <a:gd name="connsiteY258" fmla="*/ 4737362 h 6858000"/>
              <a:gd name="connsiteX259" fmla="*/ 1650518 w 5305156"/>
              <a:gd name="connsiteY259" fmla="*/ 4473983 h 6858000"/>
              <a:gd name="connsiteX260" fmla="*/ 1325331 w 5305156"/>
              <a:gd name="connsiteY260" fmla="*/ 4196409 h 6858000"/>
              <a:gd name="connsiteX261" fmla="*/ 1000847 w 5305156"/>
              <a:gd name="connsiteY261" fmla="*/ 4478714 h 6858000"/>
              <a:gd name="connsiteX262" fmla="*/ 1326033 w 5305156"/>
              <a:gd name="connsiteY262" fmla="*/ 4756288 h 6858000"/>
              <a:gd name="connsiteX263" fmla="*/ 1347806 w 5305156"/>
              <a:gd name="connsiteY263" fmla="*/ 4737362 h 6858000"/>
              <a:gd name="connsiteX264" fmla="*/ 1347806 w 5305156"/>
              <a:gd name="connsiteY264" fmla="*/ 4753922 h 6858000"/>
              <a:gd name="connsiteX265" fmla="*/ 1331652 w 5305156"/>
              <a:gd name="connsiteY265" fmla="*/ 4768116 h 6858000"/>
              <a:gd name="connsiteX266" fmla="*/ 1331652 w 5305156"/>
              <a:gd name="connsiteY266" fmla="*/ 5114295 h 6858000"/>
              <a:gd name="connsiteX267" fmla="*/ 1347806 w 5305156"/>
              <a:gd name="connsiteY267" fmla="*/ 5100101 h 6858000"/>
              <a:gd name="connsiteX268" fmla="*/ 1347806 w 5305156"/>
              <a:gd name="connsiteY268" fmla="*/ 5116661 h 6858000"/>
              <a:gd name="connsiteX269" fmla="*/ 1333759 w 5305156"/>
              <a:gd name="connsiteY269" fmla="*/ 5129278 h 6858000"/>
              <a:gd name="connsiteX270" fmla="*/ 1333759 w 5305156"/>
              <a:gd name="connsiteY270" fmla="*/ 5306704 h 6858000"/>
              <a:gd name="connsiteX271" fmla="*/ 1321819 w 5305156"/>
              <a:gd name="connsiteY271" fmla="*/ 5309070 h 6858000"/>
              <a:gd name="connsiteX272" fmla="*/ 1321819 w 5305156"/>
              <a:gd name="connsiteY272" fmla="*/ 5134798 h 6858000"/>
              <a:gd name="connsiteX273" fmla="*/ 1151851 w 5305156"/>
              <a:gd name="connsiteY273" fmla="*/ 5283047 h 6858000"/>
              <a:gd name="connsiteX274" fmla="*/ 1144827 w 5305156"/>
              <a:gd name="connsiteY274" fmla="*/ 5272008 h 6858000"/>
              <a:gd name="connsiteX275" fmla="*/ 1314093 w 5305156"/>
              <a:gd name="connsiteY275" fmla="*/ 5125335 h 6858000"/>
              <a:gd name="connsiteX276" fmla="*/ 988907 w 5305156"/>
              <a:gd name="connsiteY276" fmla="*/ 4847761 h 6858000"/>
              <a:gd name="connsiteX277" fmla="*/ 913053 w 5305156"/>
              <a:gd name="connsiteY277" fmla="*/ 4913212 h 6858000"/>
              <a:gd name="connsiteX278" fmla="*/ 668636 w 5305156"/>
              <a:gd name="connsiteY278" fmla="*/ 5126124 h 6858000"/>
              <a:gd name="connsiteX279" fmla="*/ 993823 w 5305156"/>
              <a:gd name="connsiteY279" fmla="*/ 5403697 h 6858000"/>
              <a:gd name="connsiteX280" fmla="*/ 1144827 w 5305156"/>
              <a:gd name="connsiteY280" fmla="*/ 5272796 h 6858000"/>
              <a:gd name="connsiteX281" fmla="*/ 1151149 w 5305156"/>
              <a:gd name="connsiteY281" fmla="*/ 5283047 h 6858000"/>
              <a:gd name="connsiteX282" fmla="*/ 999441 w 5305156"/>
              <a:gd name="connsiteY282" fmla="*/ 5415526 h 6858000"/>
              <a:gd name="connsiteX283" fmla="*/ 999441 w 5305156"/>
              <a:gd name="connsiteY283" fmla="*/ 5761705 h 6858000"/>
              <a:gd name="connsiteX284" fmla="*/ 1321819 w 5305156"/>
              <a:gd name="connsiteY284" fmla="*/ 5480976 h 6858000"/>
              <a:gd name="connsiteX285" fmla="*/ 1321819 w 5305156"/>
              <a:gd name="connsiteY285" fmla="*/ 5309858 h 6858000"/>
              <a:gd name="connsiteX286" fmla="*/ 1333759 w 5305156"/>
              <a:gd name="connsiteY286" fmla="*/ 5307493 h 6858000"/>
              <a:gd name="connsiteX287" fmla="*/ 1333759 w 5305156"/>
              <a:gd name="connsiteY287" fmla="*/ 5487285 h 6858000"/>
              <a:gd name="connsiteX288" fmla="*/ 1549380 w 5305156"/>
              <a:gd name="connsiteY288" fmla="*/ 5671020 h 6858000"/>
              <a:gd name="connsiteX289" fmla="*/ 1665970 w 5305156"/>
              <a:gd name="connsiteY289" fmla="*/ 5770379 h 6858000"/>
              <a:gd name="connsiteX290" fmla="*/ 1665970 w 5305156"/>
              <a:gd name="connsiteY290" fmla="*/ 6021141 h 6858000"/>
              <a:gd name="connsiteX291" fmla="*/ 1654030 w 5305156"/>
              <a:gd name="connsiteY291" fmla="*/ 6026661 h 6858000"/>
              <a:gd name="connsiteX292" fmla="*/ 1654030 w 5305156"/>
              <a:gd name="connsiteY292" fmla="*/ 5786939 h 6858000"/>
              <a:gd name="connsiteX293" fmla="*/ 1331652 w 5305156"/>
              <a:gd name="connsiteY293" fmla="*/ 6067667 h 6858000"/>
              <a:gd name="connsiteX294" fmla="*/ 1331652 w 5305156"/>
              <a:gd name="connsiteY294" fmla="*/ 6413845 h 6858000"/>
              <a:gd name="connsiteX295" fmla="*/ 1654030 w 5305156"/>
              <a:gd name="connsiteY295" fmla="*/ 6133906 h 6858000"/>
              <a:gd name="connsiteX296" fmla="*/ 1654030 w 5305156"/>
              <a:gd name="connsiteY296" fmla="*/ 6027450 h 6858000"/>
              <a:gd name="connsiteX297" fmla="*/ 1665970 w 5305156"/>
              <a:gd name="connsiteY297" fmla="*/ 6021930 h 6858000"/>
              <a:gd name="connsiteX298" fmla="*/ 1665970 w 5305156"/>
              <a:gd name="connsiteY298" fmla="*/ 6140214 h 6858000"/>
              <a:gd name="connsiteX299" fmla="*/ 1326033 w 5305156"/>
              <a:gd name="connsiteY299" fmla="*/ 6435925 h 6858000"/>
              <a:gd name="connsiteX300" fmla="*/ 988907 w 5305156"/>
              <a:gd name="connsiteY300" fmla="*/ 6147311 h 6858000"/>
              <a:gd name="connsiteX301" fmla="*/ 908136 w 5305156"/>
              <a:gd name="connsiteY301" fmla="*/ 6217493 h 6858000"/>
              <a:gd name="connsiteX302" fmla="*/ 901815 w 5305156"/>
              <a:gd name="connsiteY302" fmla="*/ 6206454 h 6858000"/>
              <a:gd name="connsiteX303" fmla="*/ 907434 w 5305156"/>
              <a:gd name="connsiteY303" fmla="*/ 6218282 h 6858000"/>
              <a:gd name="connsiteX304" fmla="*/ 665124 w 5305156"/>
              <a:gd name="connsiteY304" fmla="*/ 6429617 h 6858000"/>
              <a:gd name="connsiteX305" fmla="*/ 665124 w 5305156"/>
              <a:gd name="connsiteY305" fmla="*/ 6784470 h 6858000"/>
              <a:gd name="connsiteX306" fmla="*/ 722014 w 5305156"/>
              <a:gd name="connsiteY306" fmla="*/ 6833040 h 6858000"/>
              <a:gd name="connsiteX307" fmla="*/ 751249 w 5305156"/>
              <a:gd name="connsiteY307" fmla="*/ 6858000 h 6858000"/>
              <a:gd name="connsiteX308" fmla="*/ 5305156 w 5305156"/>
              <a:gd name="connsiteY30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</a:cxnLst>
            <a:rect l="l" t="t" r="r" b="b"/>
            <a:pathLst>
              <a:path w="5305156" h="6858000">
                <a:moveTo>
                  <a:pt x="657398" y="6793932"/>
                </a:moveTo>
                <a:cubicBezTo>
                  <a:pt x="657398" y="6793932"/>
                  <a:pt x="657398" y="6793932"/>
                  <a:pt x="585057" y="6857017"/>
                </a:cubicBezTo>
                <a:lnTo>
                  <a:pt x="583930" y="6858000"/>
                </a:lnTo>
                <a:lnTo>
                  <a:pt x="732294" y="6858000"/>
                </a:lnTo>
                <a:lnTo>
                  <a:pt x="725614" y="6852286"/>
                </a:lnTo>
                <a:cubicBezTo>
                  <a:pt x="709021" y="6838092"/>
                  <a:pt x="686897" y="6819166"/>
                  <a:pt x="657398" y="6793932"/>
                </a:cubicBezTo>
                <a:close/>
                <a:moveTo>
                  <a:pt x="653184" y="6434348"/>
                </a:moveTo>
                <a:cubicBezTo>
                  <a:pt x="653184" y="6434348"/>
                  <a:pt x="653184" y="6434348"/>
                  <a:pt x="330807" y="6715076"/>
                </a:cubicBezTo>
                <a:cubicBezTo>
                  <a:pt x="330807" y="6715076"/>
                  <a:pt x="330807" y="6715076"/>
                  <a:pt x="330807" y="6799592"/>
                </a:cubicBezTo>
                <a:lnTo>
                  <a:pt x="330807" y="6858000"/>
                </a:lnTo>
                <a:lnTo>
                  <a:pt x="564153" y="6858000"/>
                </a:lnTo>
                <a:lnTo>
                  <a:pt x="568902" y="6853863"/>
                </a:lnTo>
                <a:cubicBezTo>
                  <a:pt x="573818" y="6854652"/>
                  <a:pt x="579438" y="6856229"/>
                  <a:pt x="585057" y="6857017"/>
                </a:cubicBezTo>
                <a:cubicBezTo>
                  <a:pt x="579438" y="6855440"/>
                  <a:pt x="574521" y="6854652"/>
                  <a:pt x="569605" y="6853075"/>
                </a:cubicBezTo>
                <a:cubicBezTo>
                  <a:pt x="569605" y="6853075"/>
                  <a:pt x="569605" y="6853075"/>
                  <a:pt x="653184" y="6780527"/>
                </a:cubicBezTo>
                <a:cubicBezTo>
                  <a:pt x="653184" y="6780527"/>
                  <a:pt x="653184" y="6780527"/>
                  <a:pt x="653184" y="6434348"/>
                </a:cubicBezTo>
                <a:close/>
                <a:moveTo>
                  <a:pt x="5047259" y="6343650"/>
                </a:moveTo>
                <a:lnTo>
                  <a:pt x="5047259" y="6707250"/>
                </a:lnTo>
                <a:lnTo>
                  <a:pt x="4683659" y="6707250"/>
                </a:lnTo>
                <a:lnTo>
                  <a:pt x="4683659" y="6343650"/>
                </a:lnTo>
                <a:close/>
                <a:moveTo>
                  <a:pt x="985394" y="5786939"/>
                </a:moveTo>
                <a:cubicBezTo>
                  <a:pt x="985394" y="5786939"/>
                  <a:pt x="985394" y="5786939"/>
                  <a:pt x="777500" y="5968308"/>
                </a:cubicBezTo>
                <a:cubicBezTo>
                  <a:pt x="777500" y="5968308"/>
                  <a:pt x="777500" y="5968308"/>
                  <a:pt x="663017" y="6067667"/>
                </a:cubicBezTo>
                <a:cubicBezTo>
                  <a:pt x="663017" y="6067667"/>
                  <a:pt x="663017" y="6067667"/>
                  <a:pt x="663017" y="6413845"/>
                </a:cubicBezTo>
                <a:cubicBezTo>
                  <a:pt x="663017" y="6413845"/>
                  <a:pt x="663017" y="6413845"/>
                  <a:pt x="901815" y="6206454"/>
                </a:cubicBezTo>
                <a:cubicBezTo>
                  <a:pt x="901815" y="6206454"/>
                  <a:pt x="901815" y="6206454"/>
                  <a:pt x="985394" y="6133906"/>
                </a:cubicBezTo>
                <a:cubicBezTo>
                  <a:pt x="985394" y="6133906"/>
                  <a:pt x="985394" y="6133906"/>
                  <a:pt x="985394" y="5786939"/>
                </a:cubicBezTo>
                <a:close/>
                <a:moveTo>
                  <a:pt x="1549380" y="5671020"/>
                </a:moveTo>
                <a:cubicBezTo>
                  <a:pt x="1537440" y="5677328"/>
                  <a:pt x="1537440" y="5677328"/>
                  <a:pt x="1537440" y="5677328"/>
                </a:cubicBezTo>
                <a:cubicBezTo>
                  <a:pt x="1549380" y="5671020"/>
                  <a:pt x="1549380" y="5671020"/>
                  <a:pt x="1549380" y="5671020"/>
                </a:cubicBezTo>
                <a:close/>
                <a:moveTo>
                  <a:pt x="1325331" y="5495959"/>
                </a:moveTo>
                <a:cubicBezTo>
                  <a:pt x="1325331" y="5495959"/>
                  <a:pt x="1325331" y="5495959"/>
                  <a:pt x="1000847" y="5779053"/>
                </a:cubicBezTo>
                <a:cubicBezTo>
                  <a:pt x="1000847" y="5779053"/>
                  <a:pt x="1000847" y="5779053"/>
                  <a:pt x="1326033" y="6056627"/>
                </a:cubicBezTo>
                <a:cubicBezTo>
                  <a:pt x="1326033" y="6056627"/>
                  <a:pt x="1326033" y="6056627"/>
                  <a:pt x="1650518" y="5773533"/>
                </a:cubicBezTo>
                <a:cubicBezTo>
                  <a:pt x="1650518" y="5773533"/>
                  <a:pt x="1650518" y="5773533"/>
                  <a:pt x="1537440" y="5677328"/>
                </a:cubicBezTo>
                <a:cubicBezTo>
                  <a:pt x="1537440" y="5677328"/>
                  <a:pt x="1537440" y="5677328"/>
                  <a:pt x="1325331" y="5495959"/>
                </a:cubicBezTo>
                <a:close/>
                <a:moveTo>
                  <a:pt x="320271" y="4847761"/>
                </a:moveTo>
                <a:cubicBezTo>
                  <a:pt x="320271" y="4847761"/>
                  <a:pt x="320271" y="4847761"/>
                  <a:pt x="0" y="5126124"/>
                </a:cubicBezTo>
                <a:cubicBezTo>
                  <a:pt x="0" y="5126124"/>
                  <a:pt x="0" y="5126124"/>
                  <a:pt x="325188" y="5403697"/>
                </a:cubicBezTo>
                <a:cubicBezTo>
                  <a:pt x="325188" y="5403697"/>
                  <a:pt x="325188" y="5403697"/>
                  <a:pt x="433349" y="5309070"/>
                </a:cubicBezTo>
                <a:cubicBezTo>
                  <a:pt x="433349" y="5309070"/>
                  <a:pt x="433349" y="5309070"/>
                  <a:pt x="439670" y="5320898"/>
                </a:cubicBezTo>
                <a:cubicBezTo>
                  <a:pt x="439670" y="5320898"/>
                  <a:pt x="439670" y="5320898"/>
                  <a:pt x="330807" y="5415526"/>
                </a:cubicBezTo>
                <a:cubicBezTo>
                  <a:pt x="330807" y="5415526"/>
                  <a:pt x="330807" y="5415526"/>
                  <a:pt x="330807" y="5761705"/>
                </a:cubicBezTo>
                <a:cubicBezTo>
                  <a:pt x="330807" y="5761705"/>
                  <a:pt x="330807" y="5761705"/>
                  <a:pt x="563986" y="5559044"/>
                </a:cubicBezTo>
                <a:cubicBezTo>
                  <a:pt x="563986" y="5559044"/>
                  <a:pt x="563986" y="5559044"/>
                  <a:pt x="570307" y="5571661"/>
                </a:cubicBezTo>
                <a:cubicBezTo>
                  <a:pt x="570307" y="5571661"/>
                  <a:pt x="570307" y="5571661"/>
                  <a:pt x="332211" y="5779053"/>
                </a:cubicBezTo>
                <a:cubicBezTo>
                  <a:pt x="332211" y="5779053"/>
                  <a:pt x="332211" y="5779053"/>
                  <a:pt x="657398" y="6056627"/>
                </a:cubicBezTo>
                <a:cubicBezTo>
                  <a:pt x="657398" y="6056627"/>
                  <a:pt x="657398" y="6056627"/>
                  <a:pt x="771178" y="5957268"/>
                </a:cubicBezTo>
                <a:cubicBezTo>
                  <a:pt x="771178" y="5957268"/>
                  <a:pt x="771178" y="5957268"/>
                  <a:pt x="777500" y="5968308"/>
                </a:cubicBezTo>
                <a:cubicBezTo>
                  <a:pt x="777500" y="5968308"/>
                  <a:pt x="777500" y="5968308"/>
                  <a:pt x="771881" y="5956479"/>
                </a:cubicBezTo>
                <a:cubicBezTo>
                  <a:pt x="771881" y="5956479"/>
                  <a:pt x="771881" y="5956479"/>
                  <a:pt x="981883" y="5773533"/>
                </a:cubicBezTo>
                <a:cubicBezTo>
                  <a:pt x="981883" y="5773533"/>
                  <a:pt x="981883" y="5773533"/>
                  <a:pt x="656696" y="5495959"/>
                </a:cubicBezTo>
                <a:cubicBezTo>
                  <a:pt x="656696" y="5495959"/>
                  <a:pt x="656696" y="5495959"/>
                  <a:pt x="571010" y="5570873"/>
                </a:cubicBezTo>
                <a:cubicBezTo>
                  <a:pt x="571010" y="5570873"/>
                  <a:pt x="571010" y="5570873"/>
                  <a:pt x="563986" y="5558256"/>
                </a:cubicBezTo>
                <a:cubicBezTo>
                  <a:pt x="563986" y="5558256"/>
                  <a:pt x="563986" y="5558256"/>
                  <a:pt x="653184" y="5480976"/>
                </a:cubicBezTo>
                <a:cubicBezTo>
                  <a:pt x="653184" y="5480976"/>
                  <a:pt x="653184" y="5480976"/>
                  <a:pt x="653184" y="5134798"/>
                </a:cubicBezTo>
                <a:cubicBezTo>
                  <a:pt x="653184" y="5134798"/>
                  <a:pt x="653184" y="5134798"/>
                  <a:pt x="439670" y="5320110"/>
                </a:cubicBezTo>
                <a:cubicBezTo>
                  <a:pt x="439670" y="5320110"/>
                  <a:pt x="439670" y="5320110"/>
                  <a:pt x="434052" y="5309070"/>
                </a:cubicBezTo>
                <a:cubicBezTo>
                  <a:pt x="434052" y="5309070"/>
                  <a:pt x="434052" y="5309070"/>
                  <a:pt x="645458" y="5125335"/>
                </a:cubicBezTo>
                <a:cubicBezTo>
                  <a:pt x="645458" y="5125335"/>
                  <a:pt x="645458" y="5125335"/>
                  <a:pt x="320271" y="4847761"/>
                </a:cubicBezTo>
                <a:close/>
                <a:moveTo>
                  <a:pt x="985394" y="4487388"/>
                </a:moveTo>
                <a:cubicBezTo>
                  <a:pt x="985394" y="4487388"/>
                  <a:pt x="985394" y="4487388"/>
                  <a:pt x="763453" y="4680586"/>
                </a:cubicBezTo>
                <a:cubicBezTo>
                  <a:pt x="763453" y="4680586"/>
                  <a:pt x="763453" y="4680586"/>
                  <a:pt x="756430" y="4670335"/>
                </a:cubicBezTo>
                <a:cubicBezTo>
                  <a:pt x="756430" y="4670335"/>
                  <a:pt x="756430" y="4670335"/>
                  <a:pt x="762750" y="4680586"/>
                </a:cubicBezTo>
                <a:cubicBezTo>
                  <a:pt x="762750" y="4680586"/>
                  <a:pt x="762750" y="4680586"/>
                  <a:pt x="663017" y="4768116"/>
                </a:cubicBezTo>
                <a:cubicBezTo>
                  <a:pt x="663017" y="4768116"/>
                  <a:pt x="663017" y="4768116"/>
                  <a:pt x="663017" y="5114295"/>
                </a:cubicBezTo>
                <a:cubicBezTo>
                  <a:pt x="663017" y="5114295"/>
                  <a:pt x="663017" y="5114295"/>
                  <a:pt x="906029" y="4902960"/>
                </a:cubicBezTo>
                <a:cubicBezTo>
                  <a:pt x="906029" y="4902960"/>
                  <a:pt x="906029" y="4902960"/>
                  <a:pt x="913053" y="4913212"/>
                </a:cubicBezTo>
                <a:cubicBezTo>
                  <a:pt x="913053" y="4913212"/>
                  <a:pt x="913053" y="4913212"/>
                  <a:pt x="906732" y="4902172"/>
                </a:cubicBezTo>
                <a:cubicBezTo>
                  <a:pt x="906732" y="4902172"/>
                  <a:pt x="906732" y="4902172"/>
                  <a:pt x="985394" y="4833567"/>
                </a:cubicBezTo>
                <a:cubicBezTo>
                  <a:pt x="985394" y="4833567"/>
                  <a:pt x="985394" y="4833567"/>
                  <a:pt x="985394" y="4487388"/>
                </a:cubicBezTo>
                <a:close/>
                <a:moveTo>
                  <a:pt x="656696" y="4196409"/>
                </a:moveTo>
                <a:cubicBezTo>
                  <a:pt x="656696" y="4196409"/>
                  <a:pt x="656696" y="4196409"/>
                  <a:pt x="332211" y="4478714"/>
                </a:cubicBezTo>
                <a:cubicBezTo>
                  <a:pt x="332211" y="4478714"/>
                  <a:pt x="332211" y="4478714"/>
                  <a:pt x="657398" y="4756288"/>
                </a:cubicBezTo>
                <a:cubicBezTo>
                  <a:pt x="657398" y="4756288"/>
                  <a:pt x="657398" y="4756288"/>
                  <a:pt x="756430" y="4670335"/>
                </a:cubicBezTo>
                <a:cubicBezTo>
                  <a:pt x="756430" y="4670335"/>
                  <a:pt x="756430" y="4670335"/>
                  <a:pt x="981883" y="4473983"/>
                </a:cubicBezTo>
                <a:cubicBezTo>
                  <a:pt x="981883" y="4473983"/>
                  <a:pt x="981883" y="4473983"/>
                  <a:pt x="656696" y="4196409"/>
                </a:cubicBezTo>
                <a:close/>
                <a:moveTo>
                  <a:pt x="993120" y="3544268"/>
                </a:moveTo>
                <a:cubicBezTo>
                  <a:pt x="993120" y="3544268"/>
                  <a:pt x="993120" y="3544268"/>
                  <a:pt x="668636" y="3826573"/>
                </a:cubicBezTo>
                <a:cubicBezTo>
                  <a:pt x="668636" y="3826573"/>
                  <a:pt x="668636" y="3826573"/>
                  <a:pt x="993823" y="4104935"/>
                </a:cubicBezTo>
                <a:cubicBezTo>
                  <a:pt x="993823" y="4104935"/>
                  <a:pt x="993823" y="4104935"/>
                  <a:pt x="1318308" y="3821842"/>
                </a:cubicBezTo>
                <a:cubicBezTo>
                  <a:pt x="1318308" y="3821842"/>
                  <a:pt x="1318308" y="3821842"/>
                  <a:pt x="1002251" y="3552154"/>
                </a:cubicBezTo>
                <a:cubicBezTo>
                  <a:pt x="1002251" y="3552154"/>
                  <a:pt x="1002251" y="3552154"/>
                  <a:pt x="993120" y="3544268"/>
                </a:cubicBezTo>
                <a:close/>
                <a:moveTo>
                  <a:pt x="1318308" y="2538851"/>
                </a:moveTo>
                <a:cubicBezTo>
                  <a:pt x="1318308" y="2538851"/>
                  <a:pt x="1318308" y="2538851"/>
                  <a:pt x="1110412" y="2719432"/>
                </a:cubicBezTo>
                <a:cubicBezTo>
                  <a:pt x="1110412" y="2719432"/>
                  <a:pt x="1110412" y="2719432"/>
                  <a:pt x="1104092" y="2708392"/>
                </a:cubicBezTo>
                <a:cubicBezTo>
                  <a:pt x="1104092" y="2708392"/>
                  <a:pt x="1104092" y="2708392"/>
                  <a:pt x="1109710" y="2720221"/>
                </a:cubicBezTo>
                <a:cubicBezTo>
                  <a:pt x="1109710" y="2720221"/>
                  <a:pt x="1109710" y="2720221"/>
                  <a:pt x="995930" y="2819579"/>
                </a:cubicBezTo>
                <a:cubicBezTo>
                  <a:pt x="995930" y="2819579"/>
                  <a:pt x="995930" y="2819579"/>
                  <a:pt x="995930" y="3165758"/>
                </a:cubicBezTo>
                <a:cubicBezTo>
                  <a:pt x="995930" y="3165758"/>
                  <a:pt x="995930" y="3165758"/>
                  <a:pt x="1234025" y="2958366"/>
                </a:cubicBezTo>
                <a:cubicBezTo>
                  <a:pt x="1234025" y="2958366"/>
                  <a:pt x="1234025" y="2958366"/>
                  <a:pt x="1240347" y="2969406"/>
                </a:cubicBezTo>
                <a:cubicBezTo>
                  <a:pt x="1240347" y="2969406"/>
                  <a:pt x="1240347" y="2969406"/>
                  <a:pt x="1234728" y="2957578"/>
                </a:cubicBezTo>
                <a:cubicBezTo>
                  <a:pt x="1234728" y="2957578"/>
                  <a:pt x="1234728" y="2957578"/>
                  <a:pt x="1318308" y="2885030"/>
                </a:cubicBezTo>
                <a:cubicBezTo>
                  <a:pt x="1318308" y="2885030"/>
                  <a:pt x="1318308" y="2885030"/>
                  <a:pt x="1318308" y="2538851"/>
                </a:cubicBezTo>
                <a:close/>
                <a:moveTo>
                  <a:pt x="652482" y="1598885"/>
                </a:moveTo>
                <a:cubicBezTo>
                  <a:pt x="652482" y="1598885"/>
                  <a:pt x="652482" y="1598885"/>
                  <a:pt x="332211" y="1878036"/>
                </a:cubicBezTo>
                <a:cubicBezTo>
                  <a:pt x="332211" y="1878036"/>
                  <a:pt x="332211" y="1878036"/>
                  <a:pt x="657398" y="2155610"/>
                </a:cubicBezTo>
                <a:cubicBezTo>
                  <a:pt x="657398" y="2155610"/>
                  <a:pt x="657398" y="2155610"/>
                  <a:pt x="766262" y="2060983"/>
                </a:cubicBezTo>
                <a:cubicBezTo>
                  <a:pt x="766262" y="2060983"/>
                  <a:pt x="766262" y="2060983"/>
                  <a:pt x="771881" y="2072022"/>
                </a:cubicBezTo>
                <a:cubicBezTo>
                  <a:pt x="771881" y="2072022"/>
                  <a:pt x="771881" y="2072022"/>
                  <a:pt x="663017" y="2166650"/>
                </a:cubicBezTo>
                <a:cubicBezTo>
                  <a:pt x="663017" y="2166650"/>
                  <a:pt x="663017" y="2166650"/>
                  <a:pt x="663017" y="2513617"/>
                </a:cubicBezTo>
                <a:cubicBezTo>
                  <a:pt x="663017" y="2513617"/>
                  <a:pt x="663017" y="2513617"/>
                  <a:pt x="896196" y="2310168"/>
                </a:cubicBezTo>
                <a:cubicBezTo>
                  <a:pt x="896196" y="2310168"/>
                  <a:pt x="896196" y="2310168"/>
                  <a:pt x="902517" y="2322785"/>
                </a:cubicBezTo>
                <a:cubicBezTo>
                  <a:pt x="902517" y="2322785"/>
                  <a:pt x="902517" y="2322785"/>
                  <a:pt x="665124" y="2530177"/>
                </a:cubicBezTo>
                <a:cubicBezTo>
                  <a:pt x="665124" y="2530177"/>
                  <a:pt x="665124" y="2530177"/>
                  <a:pt x="990311" y="2807751"/>
                </a:cubicBezTo>
                <a:cubicBezTo>
                  <a:pt x="990311" y="2807751"/>
                  <a:pt x="990311" y="2807751"/>
                  <a:pt x="1104092" y="2708392"/>
                </a:cubicBezTo>
                <a:cubicBezTo>
                  <a:pt x="1104092" y="2708392"/>
                  <a:pt x="1104092" y="2708392"/>
                  <a:pt x="1314093" y="2525446"/>
                </a:cubicBezTo>
                <a:cubicBezTo>
                  <a:pt x="1314093" y="2525446"/>
                  <a:pt x="1314093" y="2525446"/>
                  <a:pt x="988907" y="2247872"/>
                </a:cubicBezTo>
                <a:cubicBezTo>
                  <a:pt x="988907" y="2247872"/>
                  <a:pt x="988907" y="2247872"/>
                  <a:pt x="903220" y="2322785"/>
                </a:cubicBezTo>
                <a:cubicBezTo>
                  <a:pt x="903220" y="2322785"/>
                  <a:pt x="903220" y="2322785"/>
                  <a:pt x="896899" y="2310168"/>
                </a:cubicBezTo>
                <a:cubicBezTo>
                  <a:pt x="896899" y="2310168"/>
                  <a:pt x="896899" y="2310168"/>
                  <a:pt x="985394" y="2232889"/>
                </a:cubicBezTo>
                <a:cubicBezTo>
                  <a:pt x="985394" y="2232889"/>
                  <a:pt x="985394" y="2232889"/>
                  <a:pt x="985394" y="1885922"/>
                </a:cubicBezTo>
                <a:cubicBezTo>
                  <a:pt x="985394" y="1885922"/>
                  <a:pt x="985394" y="1885922"/>
                  <a:pt x="772583" y="2072022"/>
                </a:cubicBezTo>
                <a:cubicBezTo>
                  <a:pt x="772583" y="2072022"/>
                  <a:pt x="772583" y="2072022"/>
                  <a:pt x="766262" y="2060194"/>
                </a:cubicBezTo>
                <a:cubicBezTo>
                  <a:pt x="766262" y="2060194"/>
                  <a:pt x="766262" y="2060194"/>
                  <a:pt x="977669" y="1876459"/>
                </a:cubicBezTo>
                <a:cubicBezTo>
                  <a:pt x="977669" y="1876459"/>
                  <a:pt x="977669" y="1876459"/>
                  <a:pt x="652482" y="1598885"/>
                </a:cubicBezTo>
                <a:close/>
                <a:moveTo>
                  <a:pt x="1318308" y="1238512"/>
                </a:moveTo>
                <a:cubicBezTo>
                  <a:pt x="1318308" y="1238512"/>
                  <a:pt x="1318308" y="1238512"/>
                  <a:pt x="1095663" y="1432499"/>
                </a:cubicBezTo>
                <a:cubicBezTo>
                  <a:pt x="1095663" y="1432499"/>
                  <a:pt x="1095663" y="1432499"/>
                  <a:pt x="995930" y="1519240"/>
                </a:cubicBezTo>
                <a:cubicBezTo>
                  <a:pt x="995930" y="1519240"/>
                  <a:pt x="995930" y="1519240"/>
                  <a:pt x="995930" y="1865419"/>
                </a:cubicBezTo>
                <a:cubicBezTo>
                  <a:pt x="995930" y="1865419"/>
                  <a:pt x="995930" y="1865419"/>
                  <a:pt x="1238240" y="1654085"/>
                </a:cubicBezTo>
                <a:cubicBezTo>
                  <a:pt x="1238240" y="1654085"/>
                  <a:pt x="1238240" y="1654085"/>
                  <a:pt x="1245264" y="1665124"/>
                </a:cubicBezTo>
                <a:cubicBezTo>
                  <a:pt x="1245264" y="1665124"/>
                  <a:pt x="1245264" y="1665124"/>
                  <a:pt x="1000847" y="1878036"/>
                </a:cubicBezTo>
                <a:cubicBezTo>
                  <a:pt x="1000847" y="1878036"/>
                  <a:pt x="1000847" y="1878036"/>
                  <a:pt x="1326033" y="2155610"/>
                </a:cubicBezTo>
                <a:cubicBezTo>
                  <a:pt x="1326033" y="2155610"/>
                  <a:pt x="1326033" y="2155610"/>
                  <a:pt x="1477038" y="2023920"/>
                </a:cubicBezTo>
                <a:cubicBezTo>
                  <a:pt x="1477038" y="2023920"/>
                  <a:pt x="1477038" y="2023920"/>
                  <a:pt x="1646304" y="1876459"/>
                </a:cubicBezTo>
                <a:cubicBezTo>
                  <a:pt x="1646304" y="1876459"/>
                  <a:pt x="1646304" y="1876459"/>
                  <a:pt x="1321116" y="1598885"/>
                </a:cubicBezTo>
                <a:cubicBezTo>
                  <a:pt x="1321116" y="1598885"/>
                  <a:pt x="1321116" y="1598885"/>
                  <a:pt x="1245965" y="1664336"/>
                </a:cubicBezTo>
                <a:cubicBezTo>
                  <a:pt x="1245965" y="1664336"/>
                  <a:pt x="1245965" y="1664336"/>
                  <a:pt x="1238942" y="1654085"/>
                </a:cubicBezTo>
                <a:cubicBezTo>
                  <a:pt x="1238942" y="1654085"/>
                  <a:pt x="1238942" y="1654085"/>
                  <a:pt x="1318308" y="1585480"/>
                </a:cubicBezTo>
                <a:cubicBezTo>
                  <a:pt x="1318308" y="1585480"/>
                  <a:pt x="1318308" y="1585480"/>
                  <a:pt x="1318308" y="1238512"/>
                </a:cubicBezTo>
                <a:close/>
                <a:moveTo>
                  <a:pt x="988907" y="947533"/>
                </a:moveTo>
                <a:cubicBezTo>
                  <a:pt x="988907" y="947533"/>
                  <a:pt x="988907" y="947533"/>
                  <a:pt x="665124" y="1230627"/>
                </a:cubicBezTo>
                <a:cubicBezTo>
                  <a:pt x="665124" y="1230627"/>
                  <a:pt x="665124" y="1230627"/>
                  <a:pt x="990311" y="1508201"/>
                </a:cubicBezTo>
                <a:cubicBezTo>
                  <a:pt x="990311" y="1508201"/>
                  <a:pt x="990311" y="1508201"/>
                  <a:pt x="1088639" y="1422247"/>
                </a:cubicBezTo>
                <a:cubicBezTo>
                  <a:pt x="1088639" y="1422247"/>
                  <a:pt x="1088639" y="1422247"/>
                  <a:pt x="1095663" y="1432499"/>
                </a:cubicBezTo>
                <a:cubicBezTo>
                  <a:pt x="1095663" y="1432499"/>
                  <a:pt x="1095663" y="1432499"/>
                  <a:pt x="1089342" y="1421459"/>
                </a:cubicBezTo>
                <a:cubicBezTo>
                  <a:pt x="1089342" y="1421459"/>
                  <a:pt x="1089342" y="1421459"/>
                  <a:pt x="1314093" y="1225107"/>
                </a:cubicBezTo>
                <a:cubicBezTo>
                  <a:pt x="1314093" y="1225107"/>
                  <a:pt x="1314093" y="1225107"/>
                  <a:pt x="988907" y="947533"/>
                </a:cubicBezTo>
                <a:close/>
                <a:moveTo>
                  <a:pt x="1325331" y="296181"/>
                </a:moveTo>
                <a:cubicBezTo>
                  <a:pt x="1325331" y="296181"/>
                  <a:pt x="1325331" y="296181"/>
                  <a:pt x="1000847" y="578486"/>
                </a:cubicBezTo>
                <a:cubicBezTo>
                  <a:pt x="1000847" y="578486"/>
                  <a:pt x="1000847" y="578486"/>
                  <a:pt x="1326033" y="856060"/>
                </a:cubicBezTo>
                <a:cubicBezTo>
                  <a:pt x="1326033" y="856060"/>
                  <a:pt x="1326033" y="856060"/>
                  <a:pt x="1650518" y="573754"/>
                </a:cubicBezTo>
                <a:cubicBezTo>
                  <a:pt x="1650518" y="573754"/>
                  <a:pt x="1650518" y="573754"/>
                  <a:pt x="1334462" y="304066"/>
                </a:cubicBezTo>
                <a:cubicBezTo>
                  <a:pt x="1334462" y="304066"/>
                  <a:pt x="1334462" y="304066"/>
                  <a:pt x="1325331" y="296181"/>
                </a:cubicBezTo>
                <a:close/>
                <a:moveTo>
                  <a:pt x="1226725" y="0"/>
                </a:moveTo>
                <a:lnTo>
                  <a:pt x="748180" y="0"/>
                </a:lnTo>
                <a:lnTo>
                  <a:pt x="763540" y="13087"/>
                </a:lnTo>
                <a:cubicBezTo>
                  <a:pt x="795936" y="40686"/>
                  <a:pt x="860728" y="95886"/>
                  <a:pt x="990311" y="206284"/>
                </a:cubicBezTo>
                <a:cubicBezTo>
                  <a:pt x="990311" y="206284"/>
                  <a:pt x="990311" y="206284"/>
                  <a:pt x="1159227" y="58896"/>
                </a:cubicBezTo>
                <a:close/>
                <a:moveTo>
                  <a:pt x="1318308" y="0"/>
                </a:moveTo>
                <a:lnTo>
                  <a:pt x="1245701" y="0"/>
                </a:lnTo>
                <a:lnTo>
                  <a:pt x="1228232" y="15255"/>
                </a:lnTo>
                <a:cubicBezTo>
                  <a:pt x="1195046" y="44235"/>
                  <a:pt x="1128673" y="102194"/>
                  <a:pt x="995930" y="218113"/>
                </a:cubicBezTo>
                <a:cubicBezTo>
                  <a:pt x="995930" y="218113"/>
                  <a:pt x="995930" y="218113"/>
                  <a:pt x="995930" y="564292"/>
                </a:cubicBezTo>
                <a:cubicBezTo>
                  <a:pt x="995930" y="564292"/>
                  <a:pt x="995930" y="564292"/>
                  <a:pt x="1318308" y="283564"/>
                </a:cubicBezTo>
                <a:cubicBezTo>
                  <a:pt x="1318308" y="283564"/>
                  <a:pt x="1318308" y="283564"/>
                  <a:pt x="1318308" y="84404"/>
                </a:cubicBezTo>
                <a:close/>
                <a:moveTo>
                  <a:pt x="5305156" y="0"/>
                </a:moveTo>
                <a:lnTo>
                  <a:pt x="1329545" y="0"/>
                </a:lnTo>
                <a:lnTo>
                  <a:pt x="1329545" y="1953"/>
                </a:lnTo>
                <a:cubicBezTo>
                  <a:pt x="1329545" y="28082"/>
                  <a:pt x="1329545" y="97759"/>
                  <a:pt x="1329545" y="283564"/>
                </a:cubicBezTo>
                <a:cubicBezTo>
                  <a:pt x="1329545" y="283564"/>
                  <a:pt x="1329545" y="283564"/>
                  <a:pt x="1343592" y="295392"/>
                </a:cubicBezTo>
                <a:cubicBezTo>
                  <a:pt x="1343592" y="295392"/>
                  <a:pt x="1343592" y="295392"/>
                  <a:pt x="1334462" y="304066"/>
                </a:cubicBezTo>
                <a:cubicBezTo>
                  <a:pt x="1334462" y="304066"/>
                  <a:pt x="1334462" y="304066"/>
                  <a:pt x="1344294" y="295392"/>
                </a:cubicBezTo>
                <a:cubicBezTo>
                  <a:pt x="1344294" y="295392"/>
                  <a:pt x="1344294" y="295392"/>
                  <a:pt x="1665970" y="570600"/>
                </a:cubicBezTo>
                <a:cubicBezTo>
                  <a:pt x="1665970" y="570600"/>
                  <a:pt x="1665970" y="570600"/>
                  <a:pt x="1665970" y="589526"/>
                </a:cubicBezTo>
                <a:cubicBezTo>
                  <a:pt x="1665970" y="589526"/>
                  <a:pt x="1665970" y="589526"/>
                  <a:pt x="1654030" y="599777"/>
                </a:cubicBezTo>
                <a:cubicBezTo>
                  <a:pt x="1654030" y="599777"/>
                  <a:pt x="1654030" y="599777"/>
                  <a:pt x="1654030" y="587160"/>
                </a:cubicBezTo>
                <a:cubicBezTo>
                  <a:pt x="1654030" y="587160"/>
                  <a:pt x="1654030" y="587160"/>
                  <a:pt x="1332355" y="867888"/>
                </a:cubicBezTo>
                <a:cubicBezTo>
                  <a:pt x="1332355" y="867888"/>
                  <a:pt x="1332355" y="867888"/>
                  <a:pt x="1332355" y="1214067"/>
                </a:cubicBezTo>
                <a:cubicBezTo>
                  <a:pt x="1332355" y="1214067"/>
                  <a:pt x="1332355" y="1214067"/>
                  <a:pt x="1654030" y="933339"/>
                </a:cubicBezTo>
                <a:cubicBezTo>
                  <a:pt x="1654030" y="933339"/>
                  <a:pt x="1654030" y="933339"/>
                  <a:pt x="1654030" y="600566"/>
                </a:cubicBezTo>
                <a:cubicBezTo>
                  <a:pt x="1654030" y="600566"/>
                  <a:pt x="1654030" y="600566"/>
                  <a:pt x="1665970" y="590314"/>
                </a:cubicBezTo>
                <a:cubicBezTo>
                  <a:pt x="1665970" y="590314"/>
                  <a:pt x="1665970" y="590314"/>
                  <a:pt x="1665970" y="938859"/>
                </a:cubicBezTo>
                <a:cubicBezTo>
                  <a:pt x="1665970" y="938859"/>
                  <a:pt x="1665970" y="938859"/>
                  <a:pt x="1998180" y="1221952"/>
                </a:cubicBezTo>
                <a:cubicBezTo>
                  <a:pt x="1998180" y="1221952"/>
                  <a:pt x="1998180" y="1221952"/>
                  <a:pt x="1998180" y="1591788"/>
                </a:cubicBezTo>
                <a:cubicBezTo>
                  <a:pt x="1998180" y="1591788"/>
                  <a:pt x="1998180" y="1591788"/>
                  <a:pt x="1680718" y="1867785"/>
                </a:cubicBezTo>
                <a:cubicBezTo>
                  <a:pt x="1680718" y="1867785"/>
                  <a:pt x="1680718" y="1867785"/>
                  <a:pt x="1680718" y="1851225"/>
                </a:cubicBezTo>
                <a:lnTo>
                  <a:pt x="1986942" y="1585480"/>
                </a:lnTo>
                <a:cubicBezTo>
                  <a:pt x="1986942" y="1585480"/>
                  <a:pt x="1986942" y="1585480"/>
                  <a:pt x="1986942" y="1238512"/>
                </a:cubicBezTo>
                <a:cubicBezTo>
                  <a:pt x="1986942" y="1238512"/>
                  <a:pt x="1986942" y="1238512"/>
                  <a:pt x="1680718" y="1505046"/>
                </a:cubicBezTo>
                <a:cubicBezTo>
                  <a:pt x="1680718" y="1505046"/>
                  <a:pt x="1680718" y="1505046"/>
                  <a:pt x="1680718" y="1488487"/>
                </a:cubicBezTo>
                <a:cubicBezTo>
                  <a:pt x="1680718" y="1488487"/>
                  <a:pt x="1680718" y="1488487"/>
                  <a:pt x="1982728" y="1225107"/>
                </a:cubicBezTo>
                <a:cubicBezTo>
                  <a:pt x="1982728" y="1225107"/>
                  <a:pt x="1982728" y="1225107"/>
                  <a:pt x="1657541" y="947533"/>
                </a:cubicBezTo>
                <a:cubicBezTo>
                  <a:pt x="1657541" y="947533"/>
                  <a:pt x="1657541" y="947533"/>
                  <a:pt x="1333056" y="1230627"/>
                </a:cubicBezTo>
                <a:cubicBezTo>
                  <a:pt x="1333056" y="1230627"/>
                  <a:pt x="1333056" y="1230627"/>
                  <a:pt x="1658244" y="1508201"/>
                </a:cubicBezTo>
                <a:cubicBezTo>
                  <a:pt x="1658244" y="1508201"/>
                  <a:pt x="1658244" y="1508201"/>
                  <a:pt x="1680017" y="1489275"/>
                </a:cubicBezTo>
                <a:cubicBezTo>
                  <a:pt x="1680017" y="1489275"/>
                  <a:pt x="1680017" y="1489275"/>
                  <a:pt x="1680017" y="1505835"/>
                </a:cubicBezTo>
                <a:cubicBezTo>
                  <a:pt x="1680017" y="1505835"/>
                  <a:pt x="1680017" y="1505835"/>
                  <a:pt x="1664565" y="1519240"/>
                </a:cubicBezTo>
                <a:cubicBezTo>
                  <a:pt x="1664565" y="1519240"/>
                  <a:pt x="1664565" y="1519240"/>
                  <a:pt x="1664565" y="1865419"/>
                </a:cubicBezTo>
                <a:cubicBezTo>
                  <a:pt x="1664565" y="1865419"/>
                  <a:pt x="1664565" y="1865419"/>
                  <a:pt x="1680017" y="1852014"/>
                </a:cubicBezTo>
                <a:cubicBezTo>
                  <a:pt x="1680017" y="1852014"/>
                  <a:pt x="1680017" y="1852014"/>
                  <a:pt x="1680017" y="1868573"/>
                </a:cubicBezTo>
                <a:cubicBezTo>
                  <a:pt x="1680017" y="1868573"/>
                  <a:pt x="1680017" y="1868573"/>
                  <a:pt x="1665970" y="1881190"/>
                </a:cubicBezTo>
                <a:cubicBezTo>
                  <a:pt x="1665970" y="1881190"/>
                  <a:pt x="1665970" y="1881190"/>
                  <a:pt x="1665970" y="2058617"/>
                </a:cubicBezTo>
                <a:cubicBezTo>
                  <a:pt x="1665970" y="2058617"/>
                  <a:pt x="1665970" y="2058617"/>
                  <a:pt x="1654030" y="2060194"/>
                </a:cubicBezTo>
                <a:cubicBezTo>
                  <a:pt x="1654030" y="2060194"/>
                  <a:pt x="1654030" y="2060194"/>
                  <a:pt x="1654030" y="1885922"/>
                </a:cubicBezTo>
                <a:cubicBezTo>
                  <a:pt x="1654030" y="1885922"/>
                  <a:pt x="1654030" y="1885922"/>
                  <a:pt x="1484061" y="2034172"/>
                </a:cubicBezTo>
                <a:cubicBezTo>
                  <a:pt x="1484061" y="2034172"/>
                  <a:pt x="1484061" y="2034172"/>
                  <a:pt x="1477038" y="2023920"/>
                </a:cubicBezTo>
                <a:cubicBezTo>
                  <a:pt x="1477038" y="2023920"/>
                  <a:pt x="1477038" y="2023920"/>
                  <a:pt x="1484061" y="2034960"/>
                </a:cubicBezTo>
                <a:cubicBezTo>
                  <a:pt x="1484061" y="2034960"/>
                  <a:pt x="1484061" y="2034960"/>
                  <a:pt x="1332355" y="2166650"/>
                </a:cubicBezTo>
                <a:cubicBezTo>
                  <a:pt x="1332355" y="2166650"/>
                  <a:pt x="1332355" y="2166650"/>
                  <a:pt x="1332355" y="2513617"/>
                </a:cubicBezTo>
                <a:cubicBezTo>
                  <a:pt x="1332355" y="2513617"/>
                  <a:pt x="1332355" y="2513617"/>
                  <a:pt x="1654030" y="2232889"/>
                </a:cubicBezTo>
                <a:cubicBezTo>
                  <a:pt x="1654030" y="2232889"/>
                  <a:pt x="1654030" y="2232889"/>
                  <a:pt x="1654030" y="2060983"/>
                </a:cubicBezTo>
                <a:cubicBezTo>
                  <a:pt x="1654030" y="2060983"/>
                  <a:pt x="1654030" y="2060983"/>
                  <a:pt x="1665970" y="2059405"/>
                </a:cubicBezTo>
                <a:cubicBezTo>
                  <a:pt x="1665970" y="2059405"/>
                  <a:pt x="1665970" y="2059405"/>
                  <a:pt x="1665970" y="2238409"/>
                </a:cubicBezTo>
                <a:cubicBezTo>
                  <a:pt x="1665970" y="2238409"/>
                  <a:pt x="1665970" y="2238409"/>
                  <a:pt x="1881590" y="2422144"/>
                </a:cubicBezTo>
                <a:cubicBezTo>
                  <a:pt x="1881590" y="2422144"/>
                  <a:pt x="1881590" y="2422144"/>
                  <a:pt x="1869650" y="2428452"/>
                </a:cubicBezTo>
                <a:cubicBezTo>
                  <a:pt x="1869650" y="2428452"/>
                  <a:pt x="1869650" y="2428452"/>
                  <a:pt x="1657541" y="2247872"/>
                </a:cubicBezTo>
                <a:cubicBezTo>
                  <a:pt x="1657541" y="2247872"/>
                  <a:pt x="1657541" y="2247872"/>
                  <a:pt x="1333056" y="2530177"/>
                </a:cubicBezTo>
                <a:cubicBezTo>
                  <a:pt x="1333056" y="2530177"/>
                  <a:pt x="1333056" y="2530177"/>
                  <a:pt x="1658244" y="2807751"/>
                </a:cubicBezTo>
                <a:cubicBezTo>
                  <a:pt x="1658244" y="2807751"/>
                  <a:pt x="1658244" y="2807751"/>
                  <a:pt x="1982728" y="2525446"/>
                </a:cubicBezTo>
                <a:cubicBezTo>
                  <a:pt x="1982728" y="2525446"/>
                  <a:pt x="1982728" y="2525446"/>
                  <a:pt x="1870353" y="2429241"/>
                </a:cubicBezTo>
                <a:cubicBezTo>
                  <a:pt x="1870353" y="2429241"/>
                  <a:pt x="1870353" y="2429241"/>
                  <a:pt x="1882293" y="2422933"/>
                </a:cubicBezTo>
                <a:cubicBezTo>
                  <a:pt x="1882293" y="2422933"/>
                  <a:pt x="1882293" y="2422933"/>
                  <a:pt x="1998180" y="2522291"/>
                </a:cubicBezTo>
                <a:cubicBezTo>
                  <a:pt x="1998180" y="2522291"/>
                  <a:pt x="1998180" y="2522291"/>
                  <a:pt x="1998180" y="2773054"/>
                </a:cubicBezTo>
                <a:cubicBezTo>
                  <a:pt x="1998180" y="2773054"/>
                  <a:pt x="1998180" y="2773054"/>
                  <a:pt x="1986942" y="2778574"/>
                </a:cubicBezTo>
                <a:cubicBezTo>
                  <a:pt x="1986942" y="2778574"/>
                  <a:pt x="1986942" y="2778574"/>
                  <a:pt x="1986942" y="2538851"/>
                </a:cubicBezTo>
                <a:cubicBezTo>
                  <a:pt x="1986942" y="2538851"/>
                  <a:pt x="1986942" y="2538851"/>
                  <a:pt x="1664565" y="2819579"/>
                </a:cubicBezTo>
                <a:cubicBezTo>
                  <a:pt x="1664565" y="2819579"/>
                  <a:pt x="1664565" y="2819579"/>
                  <a:pt x="1664565" y="3165758"/>
                </a:cubicBezTo>
                <a:cubicBezTo>
                  <a:pt x="1664565" y="3165758"/>
                  <a:pt x="1664565" y="3165758"/>
                  <a:pt x="1986942" y="2885030"/>
                </a:cubicBezTo>
                <a:cubicBezTo>
                  <a:pt x="1986942" y="2885030"/>
                  <a:pt x="1986942" y="2885030"/>
                  <a:pt x="1986942" y="2779363"/>
                </a:cubicBezTo>
                <a:cubicBezTo>
                  <a:pt x="1986942" y="2779363"/>
                  <a:pt x="1986942" y="2779363"/>
                  <a:pt x="1998180" y="2773843"/>
                </a:cubicBezTo>
                <a:cubicBezTo>
                  <a:pt x="1998180" y="2773843"/>
                  <a:pt x="1998180" y="2773843"/>
                  <a:pt x="1998180" y="2891339"/>
                </a:cubicBezTo>
                <a:cubicBezTo>
                  <a:pt x="1998180" y="2891339"/>
                  <a:pt x="1998180" y="2891339"/>
                  <a:pt x="1658946" y="3187049"/>
                </a:cubicBezTo>
                <a:cubicBezTo>
                  <a:pt x="1658946" y="3187049"/>
                  <a:pt x="1658946" y="3187049"/>
                  <a:pt x="1321116" y="2899224"/>
                </a:cubicBezTo>
                <a:cubicBezTo>
                  <a:pt x="1321116" y="2899224"/>
                  <a:pt x="1321116" y="2899224"/>
                  <a:pt x="1240347" y="2969406"/>
                </a:cubicBezTo>
                <a:cubicBezTo>
                  <a:pt x="1240347" y="2969406"/>
                  <a:pt x="1240347" y="2969406"/>
                  <a:pt x="997334" y="3180741"/>
                </a:cubicBezTo>
                <a:cubicBezTo>
                  <a:pt x="997334" y="3180741"/>
                  <a:pt x="997334" y="3180741"/>
                  <a:pt x="997334" y="3519034"/>
                </a:cubicBezTo>
                <a:cubicBezTo>
                  <a:pt x="997334" y="3519034"/>
                  <a:pt x="997334" y="3519034"/>
                  <a:pt x="985394" y="3519034"/>
                </a:cubicBezTo>
                <a:cubicBezTo>
                  <a:pt x="985394" y="3519034"/>
                  <a:pt x="985394" y="3519034"/>
                  <a:pt x="985394" y="3500109"/>
                </a:cubicBezTo>
                <a:cubicBezTo>
                  <a:pt x="985394" y="3500109"/>
                  <a:pt x="985394" y="3500109"/>
                  <a:pt x="985394" y="3186261"/>
                </a:cubicBezTo>
                <a:cubicBezTo>
                  <a:pt x="985394" y="3186261"/>
                  <a:pt x="985394" y="3186261"/>
                  <a:pt x="663017" y="3466989"/>
                </a:cubicBezTo>
                <a:cubicBezTo>
                  <a:pt x="663017" y="3466989"/>
                  <a:pt x="663017" y="3466989"/>
                  <a:pt x="663017" y="3495377"/>
                </a:cubicBezTo>
                <a:cubicBezTo>
                  <a:pt x="663017" y="3495377"/>
                  <a:pt x="663017" y="3495377"/>
                  <a:pt x="663017" y="3812379"/>
                </a:cubicBezTo>
                <a:cubicBezTo>
                  <a:pt x="663017" y="3812379"/>
                  <a:pt x="663017" y="3812379"/>
                  <a:pt x="985394" y="3532439"/>
                </a:cubicBezTo>
                <a:cubicBezTo>
                  <a:pt x="985394" y="3532439"/>
                  <a:pt x="985394" y="3532439"/>
                  <a:pt x="985394" y="3519822"/>
                </a:cubicBezTo>
                <a:cubicBezTo>
                  <a:pt x="985394" y="3519822"/>
                  <a:pt x="985394" y="3519822"/>
                  <a:pt x="997334" y="3519822"/>
                </a:cubicBezTo>
                <a:cubicBezTo>
                  <a:pt x="997334" y="3519822"/>
                  <a:pt x="997334" y="3519822"/>
                  <a:pt x="997334" y="3531651"/>
                </a:cubicBezTo>
                <a:cubicBezTo>
                  <a:pt x="997334" y="3531651"/>
                  <a:pt x="997334" y="3531651"/>
                  <a:pt x="1011381" y="3543479"/>
                </a:cubicBezTo>
                <a:cubicBezTo>
                  <a:pt x="1011381" y="3543479"/>
                  <a:pt x="1011381" y="3543479"/>
                  <a:pt x="1002251" y="3552154"/>
                </a:cubicBezTo>
                <a:cubicBezTo>
                  <a:pt x="1002251" y="3552154"/>
                  <a:pt x="1002251" y="3552154"/>
                  <a:pt x="1012084" y="3544268"/>
                </a:cubicBezTo>
                <a:cubicBezTo>
                  <a:pt x="1012084" y="3544268"/>
                  <a:pt x="1012084" y="3544268"/>
                  <a:pt x="1333759" y="3818688"/>
                </a:cubicBezTo>
                <a:cubicBezTo>
                  <a:pt x="1333759" y="3818688"/>
                  <a:pt x="1333759" y="3818688"/>
                  <a:pt x="1333759" y="3838402"/>
                </a:cubicBezTo>
                <a:cubicBezTo>
                  <a:pt x="1333759" y="3838402"/>
                  <a:pt x="1333759" y="3838402"/>
                  <a:pt x="1321819" y="3848653"/>
                </a:cubicBezTo>
                <a:cubicBezTo>
                  <a:pt x="1321819" y="3848653"/>
                  <a:pt x="1321819" y="3848653"/>
                  <a:pt x="1321819" y="3835248"/>
                </a:cubicBezTo>
                <a:cubicBezTo>
                  <a:pt x="1321819" y="3835248"/>
                  <a:pt x="1321819" y="3835248"/>
                  <a:pt x="999441" y="4115975"/>
                </a:cubicBezTo>
                <a:cubicBezTo>
                  <a:pt x="999441" y="4115975"/>
                  <a:pt x="999441" y="4115975"/>
                  <a:pt x="999441" y="4462154"/>
                </a:cubicBezTo>
                <a:cubicBezTo>
                  <a:pt x="999441" y="4462154"/>
                  <a:pt x="999441" y="4462154"/>
                  <a:pt x="1321819" y="4182215"/>
                </a:cubicBezTo>
                <a:cubicBezTo>
                  <a:pt x="1321819" y="4182215"/>
                  <a:pt x="1321819" y="4182215"/>
                  <a:pt x="1321819" y="3849441"/>
                </a:cubicBezTo>
                <a:cubicBezTo>
                  <a:pt x="1321819" y="3849441"/>
                  <a:pt x="1321819" y="3849441"/>
                  <a:pt x="1333759" y="3839190"/>
                </a:cubicBezTo>
                <a:cubicBezTo>
                  <a:pt x="1333759" y="3839190"/>
                  <a:pt x="1333759" y="3839190"/>
                  <a:pt x="1333759" y="4186946"/>
                </a:cubicBezTo>
                <a:cubicBezTo>
                  <a:pt x="1333759" y="4186946"/>
                  <a:pt x="1333759" y="4186946"/>
                  <a:pt x="1665970" y="4470828"/>
                </a:cubicBezTo>
                <a:cubicBezTo>
                  <a:pt x="1665970" y="4470828"/>
                  <a:pt x="1665970" y="4470828"/>
                  <a:pt x="1665970" y="4839875"/>
                </a:cubicBezTo>
                <a:cubicBezTo>
                  <a:pt x="1665970" y="4839875"/>
                  <a:pt x="1665970" y="4839875"/>
                  <a:pt x="1348509" y="5116661"/>
                </a:cubicBezTo>
                <a:cubicBezTo>
                  <a:pt x="1348509" y="5116661"/>
                  <a:pt x="1348509" y="5116661"/>
                  <a:pt x="1348509" y="5100101"/>
                </a:cubicBezTo>
                <a:cubicBezTo>
                  <a:pt x="1348509" y="5100101"/>
                  <a:pt x="1348509" y="5100101"/>
                  <a:pt x="1654030" y="4833567"/>
                </a:cubicBezTo>
                <a:cubicBezTo>
                  <a:pt x="1654030" y="4833567"/>
                  <a:pt x="1654030" y="4833567"/>
                  <a:pt x="1654030" y="4487388"/>
                </a:cubicBezTo>
                <a:cubicBezTo>
                  <a:pt x="1654030" y="4487388"/>
                  <a:pt x="1654030" y="4487388"/>
                  <a:pt x="1348509" y="4753134"/>
                </a:cubicBezTo>
                <a:cubicBezTo>
                  <a:pt x="1348509" y="4753134"/>
                  <a:pt x="1348509" y="4753134"/>
                  <a:pt x="1348509" y="4737362"/>
                </a:cubicBezTo>
                <a:cubicBezTo>
                  <a:pt x="1348509" y="4737362"/>
                  <a:pt x="1348509" y="4737362"/>
                  <a:pt x="1650518" y="4473983"/>
                </a:cubicBezTo>
                <a:cubicBezTo>
                  <a:pt x="1650518" y="4473983"/>
                  <a:pt x="1650518" y="4473983"/>
                  <a:pt x="1325331" y="4196409"/>
                </a:cubicBezTo>
                <a:cubicBezTo>
                  <a:pt x="1325331" y="4196409"/>
                  <a:pt x="1325331" y="4196409"/>
                  <a:pt x="1000847" y="4478714"/>
                </a:cubicBezTo>
                <a:cubicBezTo>
                  <a:pt x="1000847" y="4478714"/>
                  <a:pt x="1000847" y="4478714"/>
                  <a:pt x="1326033" y="4756288"/>
                </a:cubicBezTo>
                <a:cubicBezTo>
                  <a:pt x="1326033" y="4756288"/>
                  <a:pt x="1326033" y="4756288"/>
                  <a:pt x="1347806" y="4737362"/>
                </a:cubicBezTo>
                <a:cubicBezTo>
                  <a:pt x="1347806" y="4737362"/>
                  <a:pt x="1347806" y="4737362"/>
                  <a:pt x="1347806" y="4753922"/>
                </a:cubicBezTo>
                <a:cubicBezTo>
                  <a:pt x="1347806" y="4753922"/>
                  <a:pt x="1347806" y="4753922"/>
                  <a:pt x="1331652" y="4768116"/>
                </a:cubicBezTo>
                <a:cubicBezTo>
                  <a:pt x="1331652" y="4768116"/>
                  <a:pt x="1331652" y="4768116"/>
                  <a:pt x="1331652" y="5114295"/>
                </a:cubicBezTo>
                <a:cubicBezTo>
                  <a:pt x="1331652" y="5114295"/>
                  <a:pt x="1331652" y="5114295"/>
                  <a:pt x="1347806" y="5100101"/>
                </a:cubicBezTo>
                <a:cubicBezTo>
                  <a:pt x="1347806" y="5100101"/>
                  <a:pt x="1347806" y="5100101"/>
                  <a:pt x="1347806" y="5116661"/>
                </a:cubicBezTo>
                <a:cubicBezTo>
                  <a:pt x="1347806" y="5116661"/>
                  <a:pt x="1347806" y="5116661"/>
                  <a:pt x="1333759" y="5129278"/>
                </a:cubicBezTo>
                <a:cubicBezTo>
                  <a:pt x="1333759" y="5129278"/>
                  <a:pt x="1333759" y="5129278"/>
                  <a:pt x="1333759" y="5306704"/>
                </a:cubicBezTo>
                <a:cubicBezTo>
                  <a:pt x="1333759" y="5306704"/>
                  <a:pt x="1333759" y="5306704"/>
                  <a:pt x="1321819" y="5309070"/>
                </a:cubicBezTo>
                <a:cubicBezTo>
                  <a:pt x="1321819" y="5309070"/>
                  <a:pt x="1321819" y="5309070"/>
                  <a:pt x="1321819" y="5134798"/>
                </a:cubicBezTo>
                <a:cubicBezTo>
                  <a:pt x="1321819" y="5134798"/>
                  <a:pt x="1321819" y="5134798"/>
                  <a:pt x="1151851" y="5283047"/>
                </a:cubicBezTo>
                <a:cubicBezTo>
                  <a:pt x="1151851" y="5283047"/>
                  <a:pt x="1151851" y="5283047"/>
                  <a:pt x="1144827" y="5272008"/>
                </a:cubicBezTo>
                <a:cubicBezTo>
                  <a:pt x="1144827" y="5272008"/>
                  <a:pt x="1144827" y="5272008"/>
                  <a:pt x="1314093" y="5125335"/>
                </a:cubicBezTo>
                <a:cubicBezTo>
                  <a:pt x="1314093" y="5125335"/>
                  <a:pt x="1314093" y="5125335"/>
                  <a:pt x="988907" y="4847761"/>
                </a:cubicBezTo>
                <a:cubicBezTo>
                  <a:pt x="988907" y="4847761"/>
                  <a:pt x="988907" y="4847761"/>
                  <a:pt x="913053" y="4913212"/>
                </a:cubicBezTo>
                <a:cubicBezTo>
                  <a:pt x="913053" y="4913212"/>
                  <a:pt x="913053" y="4913212"/>
                  <a:pt x="668636" y="5126124"/>
                </a:cubicBezTo>
                <a:cubicBezTo>
                  <a:pt x="668636" y="5126124"/>
                  <a:pt x="668636" y="5126124"/>
                  <a:pt x="993823" y="5403697"/>
                </a:cubicBezTo>
                <a:cubicBezTo>
                  <a:pt x="993823" y="5403697"/>
                  <a:pt x="993823" y="5403697"/>
                  <a:pt x="1144827" y="5272796"/>
                </a:cubicBezTo>
                <a:cubicBezTo>
                  <a:pt x="1144827" y="5272796"/>
                  <a:pt x="1144827" y="5272796"/>
                  <a:pt x="1151149" y="5283047"/>
                </a:cubicBezTo>
                <a:cubicBezTo>
                  <a:pt x="1151149" y="5283047"/>
                  <a:pt x="1151149" y="5283047"/>
                  <a:pt x="999441" y="5415526"/>
                </a:cubicBezTo>
                <a:cubicBezTo>
                  <a:pt x="999441" y="5415526"/>
                  <a:pt x="999441" y="5415526"/>
                  <a:pt x="999441" y="5761705"/>
                </a:cubicBezTo>
                <a:cubicBezTo>
                  <a:pt x="999441" y="5761705"/>
                  <a:pt x="999441" y="5761705"/>
                  <a:pt x="1321819" y="5480976"/>
                </a:cubicBezTo>
                <a:cubicBezTo>
                  <a:pt x="1321819" y="5480976"/>
                  <a:pt x="1321819" y="5480976"/>
                  <a:pt x="1321819" y="5309858"/>
                </a:cubicBezTo>
                <a:cubicBezTo>
                  <a:pt x="1321819" y="5309858"/>
                  <a:pt x="1321819" y="5309858"/>
                  <a:pt x="1333759" y="5307493"/>
                </a:cubicBezTo>
                <a:cubicBezTo>
                  <a:pt x="1333759" y="5307493"/>
                  <a:pt x="1333759" y="5307493"/>
                  <a:pt x="1333759" y="5487285"/>
                </a:cubicBezTo>
                <a:cubicBezTo>
                  <a:pt x="1333759" y="5487285"/>
                  <a:pt x="1333759" y="5487285"/>
                  <a:pt x="1549380" y="5671020"/>
                </a:cubicBezTo>
                <a:cubicBezTo>
                  <a:pt x="1549380" y="5671020"/>
                  <a:pt x="1549380" y="5671020"/>
                  <a:pt x="1665970" y="5770379"/>
                </a:cubicBezTo>
                <a:cubicBezTo>
                  <a:pt x="1665970" y="5770379"/>
                  <a:pt x="1665970" y="5770379"/>
                  <a:pt x="1665970" y="6021141"/>
                </a:cubicBezTo>
                <a:cubicBezTo>
                  <a:pt x="1665970" y="6021141"/>
                  <a:pt x="1665970" y="6021141"/>
                  <a:pt x="1654030" y="6026661"/>
                </a:cubicBezTo>
                <a:cubicBezTo>
                  <a:pt x="1654030" y="6026661"/>
                  <a:pt x="1654030" y="6026661"/>
                  <a:pt x="1654030" y="5786939"/>
                </a:cubicBezTo>
                <a:cubicBezTo>
                  <a:pt x="1654030" y="5786939"/>
                  <a:pt x="1654030" y="5786939"/>
                  <a:pt x="1331652" y="6067667"/>
                </a:cubicBezTo>
                <a:cubicBezTo>
                  <a:pt x="1331652" y="6067667"/>
                  <a:pt x="1331652" y="6067667"/>
                  <a:pt x="1331652" y="6413845"/>
                </a:cubicBezTo>
                <a:cubicBezTo>
                  <a:pt x="1331652" y="6413845"/>
                  <a:pt x="1331652" y="6413845"/>
                  <a:pt x="1654030" y="6133906"/>
                </a:cubicBezTo>
                <a:cubicBezTo>
                  <a:pt x="1654030" y="6133906"/>
                  <a:pt x="1654030" y="6133906"/>
                  <a:pt x="1654030" y="6027450"/>
                </a:cubicBezTo>
                <a:cubicBezTo>
                  <a:pt x="1654030" y="6027450"/>
                  <a:pt x="1654030" y="6027450"/>
                  <a:pt x="1665970" y="6021930"/>
                </a:cubicBezTo>
                <a:cubicBezTo>
                  <a:pt x="1665970" y="6021930"/>
                  <a:pt x="1665970" y="6021930"/>
                  <a:pt x="1665970" y="6140214"/>
                </a:cubicBezTo>
                <a:cubicBezTo>
                  <a:pt x="1665970" y="6140214"/>
                  <a:pt x="1665970" y="6140214"/>
                  <a:pt x="1326033" y="6435925"/>
                </a:cubicBezTo>
                <a:cubicBezTo>
                  <a:pt x="1326033" y="6435925"/>
                  <a:pt x="1326033" y="6435925"/>
                  <a:pt x="988907" y="6147311"/>
                </a:cubicBezTo>
                <a:cubicBezTo>
                  <a:pt x="988907" y="6147311"/>
                  <a:pt x="988907" y="6147311"/>
                  <a:pt x="908136" y="6217493"/>
                </a:cubicBezTo>
                <a:cubicBezTo>
                  <a:pt x="908136" y="6217493"/>
                  <a:pt x="908136" y="6217493"/>
                  <a:pt x="901815" y="6206454"/>
                </a:cubicBezTo>
                <a:cubicBezTo>
                  <a:pt x="901815" y="6206454"/>
                  <a:pt x="901815" y="6206454"/>
                  <a:pt x="907434" y="6218282"/>
                </a:cubicBezTo>
                <a:cubicBezTo>
                  <a:pt x="907434" y="6218282"/>
                  <a:pt x="907434" y="6218282"/>
                  <a:pt x="665124" y="6429617"/>
                </a:cubicBezTo>
                <a:cubicBezTo>
                  <a:pt x="665124" y="6429617"/>
                  <a:pt x="665124" y="6429617"/>
                  <a:pt x="665124" y="6784470"/>
                </a:cubicBezTo>
                <a:cubicBezTo>
                  <a:pt x="665124" y="6784470"/>
                  <a:pt x="665124" y="6784470"/>
                  <a:pt x="722014" y="6833040"/>
                </a:cubicBezTo>
                <a:lnTo>
                  <a:pt x="751249" y="6858000"/>
                </a:lnTo>
                <a:lnTo>
                  <a:pt x="5305156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+ contenu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916" y="1381125"/>
            <a:ext cx="5979247" cy="453231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0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721" y="314036"/>
            <a:ext cx="5976441" cy="8718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</p:spTree>
    <p:extLst>
      <p:ext uri="{BB962C8B-B14F-4D97-AF65-F5344CB8AC3E}">
        <p14:creationId xmlns:p14="http://schemas.microsoft.com/office/powerpoint/2010/main" val="1329051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haut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-35541" y="-27742"/>
            <a:ext cx="12125939" cy="2408374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 haut + contenu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9BDF78EF-B925-4A77-F088-A8970BDC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381829"/>
            <a:ext cx="10836275" cy="253160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C622DF-824A-7030-FF06-98A537DB20A5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85252E3-9176-AD7B-44E7-02A49D47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9314"/>
            <a:ext cx="10728325" cy="10842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3575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 Bas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 Bas+ contenu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6CEC976-242A-291F-5C18-817BBE12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46" y="1381125"/>
            <a:ext cx="10744517" cy="207327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462F4B3-C673-4762-4C2C-2CE0330E60F9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</p:txBody>
      </p:sp>
      <p:sp>
        <p:nvSpPr>
          <p:cNvPr id="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197" y="3823855"/>
            <a:ext cx="11765693" cy="2356998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AF0AE2-7DAE-3EB0-5E60-D2EFCEC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237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2F98917-083E-F98C-816F-48F1437B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1843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seul</a:t>
            </a:r>
          </a:p>
        </p:txBody>
      </p:sp>
      <p:pic>
        <p:nvPicPr>
          <p:cNvPr id="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C593314-5853-721D-C381-C5C6DA55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172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C14385-C06C-03C8-FC0B-6EDE0E29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925030-DB19-61B7-32BA-FFFFAD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4369A-A294-0F2F-E84F-D0990A22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61E88D-94E7-20B9-0926-4E18EFBC1BA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Vide</a:t>
            </a:r>
          </a:p>
        </p:txBody>
      </p:sp>
      <p:pic>
        <p:nvPicPr>
          <p:cNvPr id="7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605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51A86F0-4870-165D-E01B-6415309E1300}"/>
              </a:ext>
            </a:extLst>
          </p:cNvPr>
          <p:cNvSpPr/>
          <p:nvPr userDrawn="1"/>
        </p:nvSpPr>
        <p:spPr>
          <a:xfrm>
            <a:off x="11460163" y="0"/>
            <a:ext cx="73183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Intervenants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EE9D7CE3-0338-EF86-9151-9AA39188D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7E242CEA-B629-6061-3336-B00B5B036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7251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13577D77-6A07-A133-9442-B0E04B740B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7017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7647BCFB-4928-920C-2E15-C8AE4C72EB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7134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7368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28" name="図プレースホルダー 9">
            <a:extLst>
              <a:ext uri="{FF2B5EF4-FFF2-40B4-BE49-F238E27FC236}">
                <a16:creationId xmlns:a16="http://schemas.microsoft.com/office/drawing/2014/main" id="{6BF72028-41E2-619A-D233-341EEFEC50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27251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30" name="図プレースホルダー 9">
            <a:extLst>
              <a:ext uri="{FF2B5EF4-FFF2-40B4-BE49-F238E27FC236}">
                <a16:creationId xmlns:a16="http://schemas.microsoft.com/office/drawing/2014/main" id="{74AA3498-C08C-43F4-B6BB-AE8E3CC9E9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67017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32" name="図プレースホルダー 9">
            <a:extLst>
              <a:ext uri="{FF2B5EF4-FFF2-40B4-BE49-F238E27FC236}">
                <a16:creationId xmlns:a16="http://schemas.microsoft.com/office/drawing/2014/main" id="{1DC76755-C8C6-A984-C78A-E29A74AAF2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47134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pic>
        <p:nvPicPr>
          <p:cNvPr id="1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16D91DA-45B8-FD04-3A3A-E545BB21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592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 /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Intervenant / CV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AE77C0A-ACF9-C7EB-2F0B-D711439266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67100" y="1541463"/>
            <a:ext cx="7993063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0" i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Fonction/titre</a:t>
            </a:r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BC7575DE-FB39-1529-3362-6DDB6F59C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7100" y="2413000"/>
            <a:ext cx="7993063" cy="35004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2468" y="1457845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9A53DC-AB4B-EC82-92B3-B8B715CD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802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t">
            <a:norm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1002934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Bleu foncé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 Bleu foncé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CD1C80FF-3EC2-C65E-39A3-3D5B556D3A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t">
            <a:norm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4239802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c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D8D8D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D8D8D"/>
                </a:solidFill>
              </a:defRPr>
            </a:lvl1pPr>
          </a:lstStyle>
          <a:p>
            <a:r>
              <a:rPr lang="fr-FR" smtClean="0"/>
              <a:t>Exemple de pied de page (A modifier dans l'onglet "Insertion"/"En-tête/Pied"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D8D8D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 claire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30F834B-23C4-8EC1-2C21-5E1E110A7B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86071" y="4702629"/>
            <a:ext cx="7328388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t">
            <a:norm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42113619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 Gris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5E9AB1AA-33F6-3FFD-8F1A-9BB4B728DF3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t">
            <a:norm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259269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4C4230D1-9E7A-4F15-722D-49C58B4ED7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257896 w 12192000"/>
              <a:gd name="connsiteY0" fmla="*/ 6343650 h 6858000"/>
              <a:gd name="connsiteX1" fmla="*/ 257896 w 12192000"/>
              <a:gd name="connsiteY1" fmla="*/ 6707250 h 6858000"/>
              <a:gd name="connsiteX2" fmla="*/ 621496 w 12192000"/>
              <a:gd name="connsiteY2" fmla="*/ 6707250 h 6858000"/>
              <a:gd name="connsiteX3" fmla="*/ 621496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6" y="6343650"/>
                </a:moveTo>
                <a:lnTo>
                  <a:pt x="257896" y="6707250"/>
                </a:lnTo>
                <a:lnTo>
                  <a:pt x="621496" y="6707250"/>
                </a:lnTo>
                <a:lnTo>
                  <a:pt x="621496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ici, puis placez votre image en arrière plan</a:t>
            </a:r>
          </a:p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8" y="4702629"/>
            <a:ext cx="8323941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citation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8" y="1714500"/>
            <a:ext cx="8323941" cy="2857500"/>
          </a:xfrm>
        </p:spPr>
        <p:txBody>
          <a:bodyPr tIns="468000" anchor="b">
            <a:normAutofit/>
          </a:bodyPr>
          <a:lstStyle>
            <a:lvl1pPr marL="571500" indent="-571500">
              <a:buSzPct val="200000"/>
              <a:buFont typeface="Arial Black" panose="020B0A04020102020204" pitchFamily="34" charset="0"/>
              <a:buChar char="“"/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</p:txBody>
      </p:sp>
    </p:spTree>
    <p:extLst>
      <p:ext uri="{BB962C8B-B14F-4D97-AF65-F5344CB8AC3E}">
        <p14:creationId xmlns:p14="http://schemas.microsoft.com/office/powerpoint/2010/main" val="2787590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C5DB15CE-1737-19C7-773E-184AB58648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ici, puis placez votre image en arrière plan</a:t>
            </a:r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pleine page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4277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2888C6-4081-3327-01C0-D9EA23523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260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ici, puis placez votre image en arrière plan</a:t>
            </a:r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pleine page + texte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DB704B1-C9AF-2DEE-2915-BA6F9894D5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77" y="1640114"/>
            <a:ext cx="11573522" cy="3439886"/>
          </a:xfrm>
          <a:custGeom>
            <a:avLst/>
            <a:gdLst>
              <a:gd name="connsiteX0" fmla="*/ 388580 w 11573522"/>
              <a:gd name="connsiteY0" fmla="*/ 2811978 h 3439886"/>
              <a:gd name="connsiteX1" fmla="*/ 266084 w 11573522"/>
              <a:gd name="connsiteY1" fmla="*/ 2905253 h 3439886"/>
              <a:gd name="connsiteX2" fmla="*/ 200780 w 11573522"/>
              <a:gd name="connsiteY2" fmla="*/ 2954731 h 3439886"/>
              <a:gd name="connsiteX3" fmla="*/ 388175 w 11573522"/>
              <a:gd name="connsiteY3" fmla="*/ 3100322 h 3439886"/>
              <a:gd name="connsiteX4" fmla="*/ 575977 w 11573522"/>
              <a:gd name="connsiteY4" fmla="*/ 2957569 h 3439886"/>
              <a:gd name="connsiteX5" fmla="*/ 388580 w 11573522"/>
              <a:gd name="connsiteY5" fmla="*/ 2811978 h 3439886"/>
              <a:gd name="connsiteX6" fmla="*/ 386147 w 11573522"/>
              <a:gd name="connsiteY6" fmla="*/ 0 h 3439886"/>
              <a:gd name="connsiteX7" fmla="*/ 392637 w 11573522"/>
              <a:gd name="connsiteY7" fmla="*/ 0 h 3439886"/>
              <a:gd name="connsiteX8" fmla="*/ 392637 w 11573522"/>
              <a:gd name="connsiteY8" fmla="*/ 28893 h 3439886"/>
              <a:gd name="connsiteX9" fmla="*/ 392637 w 11573522"/>
              <a:gd name="connsiteY9" fmla="*/ 131318 h 3439886"/>
              <a:gd name="connsiteX10" fmla="*/ 578816 w 11573522"/>
              <a:gd name="connsiteY10" fmla="*/ 275693 h 3439886"/>
              <a:gd name="connsiteX11" fmla="*/ 578816 w 11573522"/>
              <a:gd name="connsiteY11" fmla="*/ 97658 h 3439886"/>
              <a:gd name="connsiteX12" fmla="*/ 462924 w 11573522"/>
              <a:gd name="connsiteY12" fmla="*/ 7536 h 3439886"/>
              <a:gd name="connsiteX13" fmla="*/ 453234 w 11573522"/>
              <a:gd name="connsiteY13" fmla="*/ 0 h 3439886"/>
              <a:gd name="connsiteX14" fmla="*/ 464209 w 11573522"/>
              <a:gd name="connsiteY14" fmla="*/ 0 h 3439886"/>
              <a:gd name="connsiteX15" fmla="*/ 484510 w 11573522"/>
              <a:gd name="connsiteY15" fmla="*/ 15775 h 3439886"/>
              <a:gd name="connsiteX16" fmla="*/ 582061 w 11573522"/>
              <a:gd name="connsiteY16" fmla="*/ 91574 h 3439886"/>
              <a:gd name="connsiteX17" fmla="*/ 695192 w 11573522"/>
              <a:gd name="connsiteY17" fmla="*/ 5744 h 3439886"/>
              <a:gd name="connsiteX18" fmla="*/ 702764 w 11573522"/>
              <a:gd name="connsiteY18" fmla="*/ 0 h 3439886"/>
              <a:gd name="connsiteX19" fmla="*/ 2758098 w 11573522"/>
              <a:gd name="connsiteY19" fmla="*/ 0 h 3439886"/>
              <a:gd name="connsiteX20" fmla="*/ 2764588 w 11573522"/>
              <a:gd name="connsiteY20" fmla="*/ 0 h 3439886"/>
              <a:gd name="connsiteX21" fmla="*/ 2825185 w 11573522"/>
              <a:gd name="connsiteY21" fmla="*/ 0 h 3439886"/>
              <a:gd name="connsiteX22" fmla="*/ 2836160 w 11573522"/>
              <a:gd name="connsiteY22" fmla="*/ 0 h 3439886"/>
              <a:gd name="connsiteX23" fmla="*/ 3074715 w 11573522"/>
              <a:gd name="connsiteY23" fmla="*/ 0 h 3439886"/>
              <a:gd name="connsiteX24" fmla="*/ 9201571 w 11573522"/>
              <a:gd name="connsiteY24" fmla="*/ 0 h 3439886"/>
              <a:gd name="connsiteX25" fmla="*/ 11573522 w 11573522"/>
              <a:gd name="connsiteY25" fmla="*/ 0 h 3439886"/>
              <a:gd name="connsiteX26" fmla="*/ 11573522 w 11573522"/>
              <a:gd name="connsiteY26" fmla="*/ 3439886 h 3439886"/>
              <a:gd name="connsiteX27" fmla="*/ 962936 w 11573522"/>
              <a:gd name="connsiteY27" fmla="*/ 3439886 h 3439886"/>
              <a:gd name="connsiteX28" fmla="*/ 962936 w 11573522"/>
              <a:gd name="connsiteY28" fmla="*/ 3439632 h 3439886"/>
              <a:gd name="connsiteX29" fmla="*/ 962936 w 11573522"/>
              <a:gd name="connsiteY29" fmla="*/ 3438953 h 3439886"/>
              <a:gd name="connsiteX30" fmla="*/ 776757 w 11573522"/>
              <a:gd name="connsiteY30" fmla="*/ 3294579 h 3439886"/>
              <a:gd name="connsiteX31" fmla="*/ 776757 w 11573522"/>
              <a:gd name="connsiteY31" fmla="*/ 3429148 h 3439886"/>
              <a:gd name="connsiteX32" fmla="*/ 776757 w 11573522"/>
              <a:gd name="connsiteY32" fmla="*/ 3439886 h 3439886"/>
              <a:gd name="connsiteX33" fmla="*/ 769862 w 11573522"/>
              <a:gd name="connsiteY33" fmla="*/ 3439886 h 3439886"/>
              <a:gd name="connsiteX34" fmla="*/ 769862 w 11573522"/>
              <a:gd name="connsiteY34" fmla="*/ 3414403 h 3439886"/>
              <a:gd name="connsiteX35" fmla="*/ 769862 w 11573522"/>
              <a:gd name="connsiteY35" fmla="*/ 3292145 h 3439886"/>
              <a:gd name="connsiteX36" fmla="*/ 629924 w 11573522"/>
              <a:gd name="connsiteY36" fmla="*/ 3183458 h 3439886"/>
              <a:gd name="connsiteX37" fmla="*/ 633168 w 11573522"/>
              <a:gd name="connsiteY37" fmla="*/ 3177375 h 3439886"/>
              <a:gd name="connsiteX38" fmla="*/ 771079 w 11573522"/>
              <a:gd name="connsiteY38" fmla="*/ 3284034 h 3439886"/>
              <a:gd name="connsiteX39" fmla="*/ 771079 w 11573522"/>
              <a:gd name="connsiteY39" fmla="*/ 3105999 h 3439886"/>
              <a:gd name="connsiteX40" fmla="*/ 704963 w 11573522"/>
              <a:gd name="connsiteY40" fmla="*/ 3054900 h 3439886"/>
              <a:gd name="connsiteX41" fmla="*/ 708614 w 11573522"/>
              <a:gd name="connsiteY41" fmla="*/ 3049222 h 3439886"/>
              <a:gd name="connsiteX42" fmla="*/ 774323 w 11573522"/>
              <a:gd name="connsiteY42" fmla="*/ 3100322 h 3439886"/>
              <a:gd name="connsiteX43" fmla="*/ 962125 w 11573522"/>
              <a:gd name="connsiteY43" fmla="*/ 2957569 h 3439886"/>
              <a:gd name="connsiteX44" fmla="*/ 824621 w 11573522"/>
              <a:gd name="connsiteY44" fmla="*/ 2850911 h 3439886"/>
              <a:gd name="connsiteX45" fmla="*/ 828271 w 11573522"/>
              <a:gd name="connsiteY45" fmla="*/ 2844422 h 3439886"/>
              <a:gd name="connsiteX46" fmla="*/ 962936 w 11573522"/>
              <a:gd name="connsiteY46" fmla="*/ 2948647 h 3439886"/>
              <a:gd name="connsiteX47" fmla="*/ 962936 w 11573522"/>
              <a:gd name="connsiteY47" fmla="*/ 2770612 h 3439886"/>
              <a:gd name="connsiteX48" fmla="*/ 900065 w 11573522"/>
              <a:gd name="connsiteY48" fmla="*/ 2721947 h 3439886"/>
              <a:gd name="connsiteX49" fmla="*/ 903716 w 11573522"/>
              <a:gd name="connsiteY49" fmla="*/ 2715864 h 3439886"/>
              <a:gd name="connsiteX50" fmla="*/ 966181 w 11573522"/>
              <a:gd name="connsiteY50" fmla="*/ 2764529 h 3439886"/>
              <a:gd name="connsiteX51" fmla="*/ 1153982 w 11573522"/>
              <a:gd name="connsiteY51" fmla="*/ 2621777 h 3439886"/>
              <a:gd name="connsiteX52" fmla="*/ 969021 w 11573522"/>
              <a:gd name="connsiteY52" fmla="*/ 2478619 h 3439886"/>
              <a:gd name="connsiteX53" fmla="*/ 781219 w 11573522"/>
              <a:gd name="connsiteY53" fmla="*/ 2621371 h 3439886"/>
              <a:gd name="connsiteX54" fmla="*/ 903310 w 11573522"/>
              <a:gd name="connsiteY54" fmla="*/ 2715864 h 3439886"/>
              <a:gd name="connsiteX55" fmla="*/ 900065 w 11573522"/>
              <a:gd name="connsiteY55" fmla="*/ 2721542 h 3439886"/>
              <a:gd name="connsiteX56" fmla="*/ 776757 w 11573522"/>
              <a:gd name="connsiteY56" fmla="*/ 2626238 h 3439886"/>
              <a:gd name="connsiteX57" fmla="*/ 776757 w 11573522"/>
              <a:gd name="connsiteY57" fmla="*/ 2804273 h 3439886"/>
              <a:gd name="connsiteX58" fmla="*/ 828271 w 11573522"/>
              <a:gd name="connsiteY58" fmla="*/ 2844017 h 3439886"/>
              <a:gd name="connsiteX59" fmla="*/ 824215 w 11573522"/>
              <a:gd name="connsiteY59" fmla="*/ 2850506 h 3439886"/>
              <a:gd name="connsiteX60" fmla="*/ 774729 w 11573522"/>
              <a:gd name="connsiteY60" fmla="*/ 2811978 h 3439886"/>
              <a:gd name="connsiteX61" fmla="*/ 586928 w 11573522"/>
              <a:gd name="connsiteY61" fmla="*/ 2954731 h 3439886"/>
              <a:gd name="connsiteX62" fmla="*/ 708208 w 11573522"/>
              <a:gd name="connsiteY62" fmla="*/ 3048817 h 3439886"/>
              <a:gd name="connsiteX63" fmla="*/ 704963 w 11573522"/>
              <a:gd name="connsiteY63" fmla="*/ 3054900 h 3439886"/>
              <a:gd name="connsiteX64" fmla="*/ 584900 w 11573522"/>
              <a:gd name="connsiteY64" fmla="*/ 2961625 h 3439886"/>
              <a:gd name="connsiteX65" fmla="*/ 584900 w 11573522"/>
              <a:gd name="connsiteY65" fmla="*/ 3140065 h 3439886"/>
              <a:gd name="connsiteX66" fmla="*/ 633168 w 11573522"/>
              <a:gd name="connsiteY66" fmla="*/ 3177375 h 3439886"/>
              <a:gd name="connsiteX67" fmla="*/ 629518 w 11573522"/>
              <a:gd name="connsiteY67" fmla="*/ 3183052 h 3439886"/>
              <a:gd name="connsiteX68" fmla="*/ 582872 w 11573522"/>
              <a:gd name="connsiteY68" fmla="*/ 3146960 h 3439886"/>
              <a:gd name="connsiteX69" fmla="*/ 388175 w 11573522"/>
              <a:gd name="connsiteY69" fmla="*/ 3295390 h 3439886"/>
              <a:gd name="connsiteX70" fmla="*/ 191856 w 11573522"/>
              <a:gd name="connsiteY70" fmla="*/ 3143310 h 3439886"/>
              <a:gd name="connsiteX71" fmla="*/ 191856 w 11573522"/>
              <a:gd name="connsiteY71" fmla="*/ 3082477 h 3439886"/>
              <a:gd name="connsiteX72" fmla="*/ 198752 w 11573522"/>
              <a:gd name="connsiteY72" fmla="*/ 3085316 h 3439886"/>
              <a:gd name="connsiteX73" fmla="*/ 198752 w 11573522"/>
              <a:gd name="connsiteY73" fmla="*/ 3140065 h 3439886"/>
              <a:gd name="connsiteX74" fmla="*/ 384930 w 11573522"/>
              <a:gd name="connsiteY74" fmla="*/ 3284034 h 3439886"/>
              <a:gd name="connsiteX75" fmla="*/ 384930 w 11573522"/>
              <a:gd name="connsiteY75" fmla="*/ 3105999 h 3439886"/>
              <a:gd name="connsiteX76" fmla="*/ 198752 w 11573522"/>
              <a:gd name="connsiteY76" fmla="*/ 2961625 h 3439886"/>
              <a:gd name="connsiteX77" fmla="*/ 198752 w 11573522"/>
              <a:gd name="connsiteY77" fmla="*/ 3084911 h 3439886"/>
              <a:gd name="connsiteX78" fmla="*/ 191856 w 11573522"/>
              <a:gd name="connsiteY78" fmla="*/ 3082072 h 3439886"/>
              <a:gd name="connsiteX79" fmla="*/ 191856 w 11573522"/>
              <a:gd name="connsiteY79" fmla="*/ 2953108 h 3439886"/>
              <a:gd name="connsiteX80" fmla="*/ 259189 w 11573522"/>
              <a:gd name="connsiteY80" fmla="*/ 2902009 h 3439886"/>
              <a:gd name="connsiteX81" fmla="*/ 383713 w 11573522"/>
              <a:gd name="connsiteY81" fmla="*/ 2807517 h 3439886"/>
              <a:gd name="connsiteX82" fmla="*/ 383713 w 11573522"/>
              <a:gd name="connsiteY82" fmla="*/ 2715053 h 3439886"/>
              <a:gd name="connsiteX83" fmla="*/ 390609 w 11573522"/>
              <a:gd name="connsiteY83" fmla="*/ 2716269 h 3439886"/>
              <a:gd name="connsiteX84" fmla="*/ 390609 w 11573522"/>
              <a:gd name="connsiteY84" fmla="*/ 2804273 h 3439886"/>
              <a:gd name="connsiteX85" fmla="*/ 576788 w 11573522"/>
              <a:gd name="connsiteY85" fmla="*/ 2948647 h 3439886"/>
              <a:gd name="connsiteX86" fmla="*/ 576788 w 11573522"/>
              <a:gd name="connsiteY86" fmla="*/ 2770612 h 3439886"/>
              <a:gd name="connsiteX87" fmla="*/ 489174 w 11573522"/>
              <a:gd name="connsiteY87" fmla="*/ 2702481 h 3439886"/>
              <a:gd name="connsiteX88" fmla="*/ 492825 w 11573522"/>
              <a:gd name="connsiteY88" fmla="*/ 2697209 h 3439886"/>
              <a:gd name="connsiteX89" fmla="*/ 580033 w 11573522"/>
              <a:gd name="connsiteY89" fmla="*/ 2764529 h 3439886"/>
              <a:gd name="connsiteX90" fmla="*/ 767834 w 11573522"/>
              <a:gd name="connsiteY90" fmla="*/ 2621777 h 3439886"/>
              <a:gd name="connsiteX91" fmla="*/ 626679 w 11573522"/>
              <a:gd name="connsiteY91" fmla="*/ 2512280 h 3439886"/>
              <a:gd name="connsiteX92" fmla="*/ 630735 w 11573522"/>
              <a:gd name="connsiteY92" fmla="*/ 2507007 h 3439886"/>
              <a:gd name="connsiteX93" fmla="*/ 771079 w 11573522"/>
              <a:gd name="connsiteY93" fmla="*/ 2615693 h 3439886"/>
              <a:gd name="connsiteX94" fmla="*/ 771079 w 11573522"/>
              <a:gd name="connsiteY94" fmla="*/ 2437659 h 3439886"/>
              <a:gd name="connsiteX95" fmla="*/ 713481 w 11573522"/>
              <a:gd name="connsiteY95" fmla="*/ 2392644 h 3439886"/>
              <a:gd name="connsiteX96" fmla="*/ 717131 w 11573522"/>
              <a:gd name="connsiteY96" fmla="*/ 2387372 h 3439886"/>
              <a:gd name="connsiteX97" fmla="*/ 774323 w 11573522"/>
              <a:gd name="connsiteY97" fmla="*/ 2431576 h 3439886"/>
              <a:gd name="connsiteX98" fmla="*/ 962125 w 11573522"/>
              <a:gd name="connsiteY98" fmla="*/ 2288824 h 3439886"/>
              <a:gd name="connsiteX99" fmla="*/ 774729 w 11573522"/>
              <a:gd name="connsiteY99" fmla="*/ 2143638 h 3439886"/>
              <a:gd name="connsiteX100" fmla="*/ 586928 w 11573522"/>
              <a:gd name="connsiteY100" fmla="*/ 2286391 h 3439886"/>
              <a:gd name="connsiteX101" fmla="*/ 717131 w 11573522"/>
              <a:gd name="connsiteY101" fmla="*/ 2387372 h 3439886"/>
              <a:gd name="connsiteX102" fmla="*/ 713075 w 11573522"/>
              <a:gd name="connsiteY102" fmla="*/ 2392644 h 3439886"/>
              <a:gd name="connsiteX103" fmla="*/ 584900 w 11573522"/>
              <a:gd name="connsiteY103" fmla="*/ 2293285 h 3439886"/>
              <a:gd name="connsiteX104" fmla="*/ 584900 w 11573522"/>
              <a:gd name="connsiteY104" fmla="*/ 2471319 h 3439886"/>
              <a:gd name="connsiteX105" fmla="*/ 630329 w 11573522"/>
              <a:gd name="connsiteY105" fmla="*/ 2506602 h 3439886"/>
              <a:gd name="connsiteX106" fmla="*/ 626679 w 11573522"/>
              <a:gd name="connsiteY106" fmla="*/ 2512280 h 3439886"/>
              <a:gd name="connsiteX107" fmla="*/ 582872 w 11573522"/>
              <a:gd name="connsiteY107" fmla="*/ 2478619 h 3439886"/>
              <a:gd name="connsiteX108" fmla="*/ 395071 w 11573522"/>
              <a:gd name="connsiteY108" fmla="*/ 2621371 h 3439886"/>
              <a:gd name="connsiteX109" fmla="*/ 492825 w 11573522"/>
              <a:gd name="connsiteY109" fmla="*/ 2696804 h 3439886"/>
              <a:gd name="connsiteX110" fmla="*/ 488769 w 11573522"/>
              <a:gd name="connsiteY110" fmla="*/ 2702481 h 3439886"/>
              <a:gd name="connsiteX111" fmla="*/ 390609 w 11573522"/>
              <a:gd name="connsiteY111" fmla="*/ 2626238 h 3439886"/>
              <a:gd name="connsiteX112" fmla="*/ 390609 w 11573522"/>
              <a:gd name="connsiteY112" fmla="*/ 2715864 h 3439886"/>
              <a:gd name="connsiteX113" fmla="*/ 383713 w 11573522"/>
              <a:gd name="connsiteY113" fmla="*/ 2714647 h 3439886"/>
              <a:gd name="connsiteX114" fmla="*/ 383713 w 11573522"/>
              <a:gd name="connsiteY114" fmla="*/ 2623399 h 3439886"/>
              <a:gd name="connsiteX115" fmla="*/ 375601 w 11573522"/>
              <a:gd name="connsiteY115" fmla="*/ 2616910 h 3439886"/>
              <a:gd name="connsiteX116" fmla="*/ 375601 w 11573522"/>
              <a:gd name="connsiteY116" fmla="*/ 2608394 h 3439886"/>
              <a:gd name="connsiteX117" fmla="*/ 384930 w 11573522"/>
              <a:gd name="connsiteY117" fmla="*/ 2615693 h 3439886"/>
              <a:gd name="connsiteX118" fmla="*/ 384930 w 11573522"/>
              <a:gd name="connsiteY118" fmla="*/ 2437659 h 3439886"/>
              <a:gd name="connsiteX119" fmla="*/ 375601 w 11573522"/>
              <a:gd name="connsiteY119" fmla="*/ 2430360 h 3439886"/>
              <a:gd name="connsiteX120" fmla="*/ 375601 w 11573522"/>
              <a:gd name="connsiteY120" fmla="*/ 2421843 h 3439886"/>
              <a:gd name="connsiteX121" fmla="*/ 388175 w 11573522"/>
              <a:gd name="connsiteY121" fmla="*/ 2431576 h 3439886"/>
              <a:gd name="connsiteX122" fmla="*/ 575977 w 11573522"/>
              <a:gd name="connsiteY122" fmla="*/ 2288824 h 3439886"/>
              <a:gd name="connsiteX123" fmla="*/ 388580 w 11573522"/>
              <a:gd name="connsiteY123" fmla="*/ 2143638 h 3439886"/>
              <a:gd name="connsiteX124" fmla="*/ 200780 w 11573522"/>
              <a:gd name="connsiteY124" fmla="*/ 2286391 h 3439886"/>
              <a:gd name="connsiteX125" fmla="*/ 375195 w 11573522"/>
              <a:gd name="connsiteY125" fmla="*/ 2421843 h 3439886"/>
              <a:gd name="connsiteX126" fmla="*/ 375195 w 11573522"/>
              <a:gd name="connsiteY126" fmla="*/ 2429954 h 3439886"/>
              <a:gd name="connsiteX127" fmla="*/ 198752 w 11573522"/>
              <a:gd name="connsiteY127" fmla="*/ 2293285 h 3439886"/>
              <a:gd name="connsiteX128" fmla="*/ 198752 w 11573522"/>
              <a:gd name="connsiteY128" fmla="*/ 2471319 h 3439886"/>
              <a:gd name="connsiteX129" fmla="*/ 375195 w 11573522"/>
              <a:gd name="connsiteY129" fmla="*/ 2608394 h 3439886"/>
              <a:gd name="connsiteX130" fmla="*/ 375195 w 11573522"/>
              <a:gd name="connsiteY130" fmla="*/ 2616910 h 3439886"/>
              <a:gd name="connsiteX131" fmla="*/ 191856 w 11573522"/>
              <a:gd name="connsiteY131" fmla="*/ 2474563 h 3439886"/>
              <a:gd name="connsiteX132" fmla="*/ 191856 w 11573522"/>
              <a:gd name="connsiteY132" fmla="*/ 2284768 h 3439886"/>
              <a:gd name="connsiteX133" fmla="*/ 383713 w 11573522"/>
              <a:gd name="connsiteY133" fmla="*/ 2138772 h 3439886"/>
              <a:gd name="connsiteX134" fmla="*/ 383713 w 11573522"/>
              <a:gd name="connsiteY134" fmla="*/ 1959926 h 3439886"/>
              <a:gd name="connsiteX135" fmla="*/ 390609 w 11573522"/>
              <a:gd name="connsiteY135" fmla="*/ 1965198 h 3439886"/>
              <a:gd name="connsiteX136" fmla="*/ 390609 w 11573522"/>
              <a:gd name="connsiteY136" fmla="*/ 2136339 h 3439886"/>
              <a:gd name="connsiteX137" fmla="*/ 576788 w 11573522"/>
              <a:gd name="connsiteY137" fmla="*/ 2280307 h 3439886"/>
              <a:gd name="connsiteX138" fmla="*/ 576788 w 11573522"/>
              <a:gd name="connsiteY138" fmla="*/ 2102272 h 3439886"/>
              <a:gd name="connsiteX139" fmla="*/ 390609 w 11573522"/>
              <a:gd name="connsiteY139" fmla="*/ 1957898 h 3439886"/>
              <a:gd name="connsiteX140" fmla="*/ 390609 w 11573522"/>
              <a:gd name="connsiteY140" fmla="*/ 1964792 h 3439886"/>
              <a:gd name="connsiteX141" fmla="*/ 383713 w 11573522"/>
              <a:gd name="connsiteY141" fmla="*/ 1959520 h 3439886"/>
              <a:gd name="connsiteX142" fmla="*/ 383713 w 11573522"/>
              <a:gd name="connsiteY142" fmla="*/ 1949382 h 3439886"/>
              <a:gd name="connsiteX143" fmla="*/ 569487 w 11573522"/>
              <a:gd name="connsiteY143" fmla="*/ 1808251 h 3439886"/>
              <a:gd name="connsiteX144" fmla="*/ 575166 w 11573522"/>
              <a:gd name="connsiteY144" fmla="*/ 1812307 h 3439886"/>
              <a:gd name="connsiteX145" fmla="*/ 392637 w 11573522"/>
              <a:gd name="connsiteY145" fmla="*/ 1951004 h 3439886"/>
              <a:gd name="connsiteX146" fmla="*/ 580033 w 11573522"/>
              <a:gd name="connsiteY146" fmla="*/ 2096594 h 3439886"/>
              <a:gd name="connsiteX147" fmla="*/ 767834 w 11573522"/>
              <a:gd name="connsiteY147" fmla="*/ 1953437 h 3439886"/>
              <a:gd name="connsiteX148" fmla="*/ 580438 w 11573522"/>
              <a:gd name="connsiteY148" fmla="*/ 1808251 h 3439886"/>
              <a:gd name="connsiteX149" fmla="*/ 575166 w 11573522"/>
              <a:gd name="connsiteY149" fmla="*/ 1812307 h 3439886"/>
              <a:gd name="connsiteX150" fmla="*/ 569893 w 11573522"/>
              <a:gd name="connsiteY150" fmla="*/ 1807846 h 3439886"/>
              <a:gd name="connsiteX151" fmla="*/ 578005 w 11573522"/>
              <a:gd name="connsiteY151" fmla="*/ 1801763 h 3439886"/>
              <a:gd name="connsiteX152" fmla="*/ 578005 w 11573522"/>
              <a:gd name="connsiteY152" fmla="*/ 1795679 h 3439886"/>
              <a:gd name="connsiteX153" fmla="*/ 584900 w 11573522"/>
              <a:gd name="connsiteY153" fmla="*/ 1795679 h 3439886"/>
              <a:gd name="connsiteX154" fmla="*/ 584900 w 11573522"/>
              <a:gd name="connsiteY154" fmla="*/ 1802168 h 3439886"/>
              <a:gd name="connsiteX155" fmla="*/ 771079 w 11573522"/>
              <a:gd name="connsiteY155" fmla="*/ 1946137 h 3439886"/>
              <a:gd name="connsiteX156" fmla="*/ 771079 w 11573522"/>
              <a:gd name="connsiteY156" fmla="*/ 1783107 h 3439886"/>
              <a:gd name="connsiteX157" fmla="*/ 771079 w 11573522"/>
              <a:gd name="connsiteY157" fmla="*/ 1768508 h 3439886"/>
              <a:gd name="connsiteX158" fmla="*/ 584900 w 11573522"/>
              <a:gd name="connsiteY158" fmla="*/ 1624133 h 3439886"/>
              <a:gd name="connsiteX159" fmla="*/ 584900 w 11573522"/>
              <a:gd name="connsiteY159" fmla="*/ 1785541 h 3439886"/>
              <a:gd name="connsiteX160" fmla="*/ 584900 w 11573522"/>
              <a:gd name="connsiteY160" fmla="*/ 1795274 h 3439886"/>
              <a:gd name="connsiteX161" fmla="*/ 578005 w 11573522"/>
              <a:gd name="connsiteY161" fmla="*/ 1795274 h 3439886"/>
              <a:gd name="connsiteX162" fmla="*/ 578005 w 11573522"/>
              <a:gd name="connsiteY162" fmla="*/ 1621294 h 3439886"/>
              <a:gd name="connsiteX163" fmla="*/ 437661 w 11573522"/>
              <a:gd name="connsiteY163" fmla="*/ 1512608 h 3439886"/>
              <a:gd name="connsiteX164" fmla="*/ 441312 w 11573522"/>
              <a:gd name="connsiteY164" fmla="*/ 1506930 h 3439886"/>
              <a:gd name="connsiteX165" fmla="*/ 578816 w 11573522"/>
              <a:gd name="connsiteY165" fmla="*/ 1613589 h 3439886"/>
              <a:gd name="connsiteX166" fmla="*/ 578816 w 11573522"/>
              <a:gd name="connsiteY166" fmla="*/ 1435555 h 3439886"/>
              <a:gd name="connsiteX167" fmla="*/ 513106 w 11573522"/>
              <a:gd name="connsiteY167" fmla="*/ 1384456 h 3439886"/>
              <a:gd name="connsiteX168" fmla="*/ 516350 w 11573522"/>
              <a:gd name="connsiteY168" fmla="*/ 1378372 h 3439886"/>
              <a:gd name="connsiteX169" fmla="*/ 582061 w 11573522"/>
              <a:gd name="connsiteY169" fmla="*/ 1429472 h 3439886"/>
              <a:gd name="connsiteX170" fmla="*/ 769862 w 11573522"/>
              <a:gd name="connsiteY170" fmla="*/ 1286719 h 3439886"/>
              <a:gd name="connsiteX171" fmla="*/ 632763 w 11573522"/>
              <a:gd name="connsiteY171" fmla="*/ 1180060 h 3439886"/>
              <a:gd name="connsiteX172" fmla="*/ 636413 w 11573522"/>
              <a:gd name="connsiteY172" fmla="*/ 1173571 h 3439886"/>
              <a:gd name="connsiteX173" fmla="*/ 771079 w 11573522"/>
              <a:gd name="connsiteY173" fmla="*/ 1278203 h 3439886"/>
              <a:gd name="connsiteX174" fmla="*/ 771079 w 11573522"/>
              <a:gd name="connsiteY174" fmla="*/ 1099762 h 3439886"/>
              <a:gd name="connsiteX175" fmla="*/ 708208 w 11573522"/>
              <a:gd name="connsiteY175" fmla="*/ 1051096 h 3439886"/>
              <a:gd name="connsiteX176" fmla="*/ 711453 w 11573522"/>
              <a:gd name="connsiteY176" fmla="*/ 1045419 h 3439886"/>
              <a:gd name="connsiteX177" fmla="*/ 774323 w 11573522"/>
              <a:gd name="connsiteY177" fmla="*/ 1094085 h 3439886"/>
              <a:gd name="connsiteX178" fmla="*/ 962125 w 11573522"/>
              <a:gd name="connsiteY178" fmla="*/ 951332 h 3439886"/>
              <a:gd name="connsiteX179" fmla="*/ 777163 w 11573522"/>
              <a:gd name="connsiteY179" fmla="*/ 807769 h 3439886"/>
              <a:gd name="connsiteX180" fmla="*/ 589362 w 11573522"/>
              <a:gd name="connsiteY180" fmla="*/ 950521 h 3439886"/>
              <a:gd name="connsiteX181" fmla="*/ 711453 w 11573522"/>
              <a:gd name="connsiteY181" fmla="*/ 1045013 h 3439886"/>
              <a:gd name="connsiteX182" fmla="*/ 707802 w 11573522"/>
              <a:gd name="connsiteY182" fmla="*/ 1051096 h 3439886"/>
              <a:gd name="connsiteX183" fmla="*/ 584900 w 11573522"/>
              <a:gd name="connsiteY183" fmla="*/ 955388 h 3439886"/>
              <a:gd name="connsiteX184" fmla="*/ 584900 w 11573522"/>
              <a:gd name="connsiteY184" fmla="*/ 1133828 h 3439886"/>
              <a:gd name="connsiteX185" fmla="*/ 636008 w 11573522"/>
              <a:gd name="connsiteY185" fmla="*/ 1173571 h 3439886"/>
              <a:gd name="connsiteX186" fmla="*/ 632357 w 11573522"/>
              <a:gd name="connsiteY186" fmla="*/ 1180060 h 3439886"/>
              <a:gd name="connsiteX187" fmla="*/ 582872 w 11573522"/>
              <a:gd name="connsiteY187" fmla="*/ 1141534 h 3439886"/>
              <a:gd name="connsiteX188" fmla="*/ 395071 w 11573522"/>
              <a:gd name="connsiteY188" fmla="*/ 1284286 h 3439886"/>
              <a:gd name="connsiteX189" fmla="*/ 516350 w 11573522"/>
              <a:gd name="connsiteY189" fmla="*/ 1378372 h 3439886"/>
              <a:gd name="connsiteX190" fmla="*/ 512700 w 11573522"/>
              <a:gd name="connsiteY190" fmla="*/ 1384050 h 3439886"/>
              <a:gd name="connsiteX191" fmla="*/ 392637 w 11573522"/>
              <a:gd name="connsiteY191" fmla="*/ 1291180 h 3439886"/>
              <a:gd name="connsiteX192" fmla="*/ 392637 w 11573522"/>
              <a:gd name="connsiteY192" fmla="*/ 1469214 h 3439886"/>
              <a:gd name="connsiteX193" fmla="*/ 440906 w 11573522"/>
              <a:gd name="connsiteY193" fmla="*/ 1506525 h 3439886"/>
              <a:gd name="connsiteX194" fmla="*/ 437661 w 11573522"/>
              <a:gd name="connsiteY194" fmla="*/ 1512608 h 3439886"/>
              <a:gd name="connsiteX195" fmla="*/ 391015 w 11573522"/>
              <a:gd name="connsiteY195" fmla="*/ 1476514 h 3439886"/>
              <a:gd name="connsiteX196" fmla="*/ 195912 w 11573522"/>
              <a:gd name="connsiteY196" fmla="*/ 1624539 h 3439886"/>
              <a:gd name="connsiteX197" fmla="*/ 0 w 11573522"/>
              <a:gd name="connsiteY197" fmla="*/ 1472459 h 3439886"/>
              <a:gd name="connsiteX198" fmla="*/ 0 w 11573522"/>
              <a:gd name="connsiteY198" fmla="*/ 1412033 h 3439886"/>
              <a:gd name="connsiteX199" fmla="*/ 6490 w 11573522"/>
              <a:gd name="connsiteY199" fmla="*/ 1414872 h 3439886"/>
              <a:gd name="connsiteX200" fmla="*/ 6490 w 11573522"/>
              <a:gd name="connsiteY200" fmla="*/ 1469214 h 3439886"/>
              <a:gd name="connsiteX201" fmla="*/ 192668 w 11573522"/>
              <a:gd name="connsiteY201" fmla="*/ 1613589 h 3439886"/>
              <a:gd name="connsiteX202" fmla="*/ 192668 w 11573522"/>
              <a:gd name="connsiteY202" fmla="*/ 1435555 h 3439886"/>
              <a:gd name="connsiteX203" fmla="*/ 6490 w 11573522"/>
              <a:gd name="connsiteY203" fmla="*/ 1291180 h 3439886"/>
              <a:gd name="connsiteX204" fmla="*/ 6490 w 11573522"/>
              <a:gd name="connsiteY204" fmla="*/ 1414466 h 3439886"/>
              <a:gd name="connsiteX205" fmla="*/ 0 w 11573522"/>
              <a:gd name="connsiteY205" fmla="*/ 1411627 h 3439886"/>
              <a:gd name="connsiteX206" fmla="*/ 0 w 11573522"/>
              <a:gd name="connsiteY206" fmla="*/ 1282664 h 3439886"/>
              <a:gd name="connsiteX207" fmla="*/ 66926 w 11573522"/>
              <a:gd name="connsiteY207" fmla="*/ 1231565 h 3439886"/>
              <a:gd name="connsiteX208" fmla="*/ 73821 w 11573522"/>
              <a:gd name="connsiteY208" fmla="*/ 1234809 h 3439886"/>
              <a:gd name="connsiteX209" fmla="*/ 8924 w 11573522"/>
              <a:gd name="connsiteY209" fmla="*/ 1284286 h 3439886"/>
              <a:gd name="connsiteX210" fmla="*/ 196318 w 11573522"/>
              <a:gd name="connsiteY210" fmla="*/ 1429472 h 3439886"/>
              <a:gd name="connsiteX211" fmla="*/ 384119 w 11573522"/>
              <a:gd name="connsiteY211" fmla="*/ 1286719 h 3439886"/>
              <a:gd name="connsiteX212" fmla="*/ 196724 w 11573522"/>
              <a:gd name="connsiteY212" fmla="*/ 1141534 h 3439886"/>
              <a:gd name="connsiteX213" fmla="*/ 74227 w 11573522"/>
              <a:gd name="connsiteY213" fmla="*/ 1234403 h 3439886"/>
              <a:gd name="connsiteX214" fmla="*/ 67332 w 11573522"/>
              <a:gd name="connsiteY214" fmla="*/ 1231159 h 3439886"/>
              <a:gd name="connsiteX215" fmla="*/ 191856 w 11573522"/>
              <a:gd name="connsiteY215" fmla="*/ 1136667 h 3439886"/>
              <a:gd name="connsiteX216" fmla="*/ 191856 w 11573522"/>
              <a:gd name="connsiteY216" fmla="*/ 1044607 h 3439886"/>
              <a:gd name="connsiteX217" fmla="*/ 198752 w 11573522"/>
              <a:gd name="connsiteY217" fmla="*/ 1045419 h 3439886"/>
              <a:gd name="connsiteX218" fmla="*/ 198752 w 11573522"/>
              <a:gd name="connsiteY218" fmla="*/ 1133828 h 3439886"/>
              <a:gd name="connsiteX219" fmla="*/ 384524 w 11573522"/>
              <a:gd name="connsiteY219" fmla="*/ 1278203 h 3439886"/>
              <a:gd name="connsiteX220" fmla="*/ 384524 w 11573522"/>
              <a:gd name="connsiteY220" fmla="*/ 1099762 h 3439886"/>
              <a:gd name="connsiteX221" fmla="*/ 296912 w 11573522"/>
              <a:gd name="connsiteY221" fmla="*/ 1032037 h 3439886"/>
              <a:gd name="connsiteX222" fmla="*/ 300968 w 11573522"/>
              <a:gd name="connsiteY222" fmla="*/ 1026359 h 3439886"/>
              <a:gd name="connsiteX223" fmla="*/ 388175 w 11573522"/>
              <a:gd name="connsiteY223" fmla="*/ 1094085 h 3439886"/>
              <a:gd name="connsiteX224" fmla="*/ 575977 w 11573522"/>
              <a:gd name="connsiteY224" fmla="*/ 951332 h 3439886"/>
              <a:gd name="connsiteX225" fmla="*/ 434822 w 11573522"/>
              <a:gd name="connsiteY225" fmla="*/ 841835 h 3439886"/>
              <a:gd name="connsiteX226" fmla="*/ 438878 w 11573522"/>
              <a:gd name="connsiteY226" fmla="*/ 836158 h 3439886"/>
              <a:gd name="connsiteX227" fmla="*/ 578816 w 11573522"/>
              <a:gd name="connsiteY227" fmla="*/ 944843 h 3439886"/>
              <a:gd name="connsiteX228" fmla="*/ 578816 w 11573522"/>
              <a:gd name="connsiteY228" fmla="*/ 766808 h 3439886"/>
              <a:gd name="connsiteX229" fmla="*/ 521218 w 11573522"/>
              <a:gd name="connsiteY229" fmla="*/ 722199 h 3439886"/>
              <a:gd name="connsiteX230" fmla="*/ 525274 w 11573522"/>
              <a:gd name="connsiteY230" fmla="*/ 716927 h 3439886"/>
              <a:gd name="connsiteX231" fmla="*/ 582061 w 11573522"/>
              <a:gd name="connsiteY231" fmla="*/ 761131 h 3439886"/>
              <a:gd name="connsiteX232" fmla="*/ 769862 w 11573522"/>
              <a:gd name="connsiteY232" fmla="*/ 618379 h 3439886"/>
              <a:gd name="connsiteX233" fmla="*/ 582872 w 11573522"/>
              <a:gd name="connsiteY233" fmla="*/ 472787 h 3439886"/>
              <a:gd name="connsiteX234" fmla="*/ 395071 w 11573522"/>
              <a:gd name="connsiteY234" fmla="*/ 615540 h 3439886"/>
              <a:gd name="connsiteX235" fmla="*/ 524868 w 11573522"/>
              <a:gd name="connsiteY235" fmla="*/ 716521 h 3439886"/>
              <a:gd name="connsiteX236" fmla="*/ 521218 w 11573522"/>
              <a:gd name="connsiteY236" fmla="*/ 722199 h 3439886"/>
              <a:gd name="connsiteX237" fmla="*/ 392637 w 11573522"/>
              <a:gd name="connsiteY237" fmla="*/ 622434 h 3439886"/>
              <a:gd name="connsiteX238" fmla="*/ 392637 w 11573522"/>
              <a:gd name="connsiteY238" fmla="*/ 800875 h 3439886"/>
              <a:gd name="connsiteX239" fmla="*/ 438472 w 11573522"/>
              <a:gd name="connsiteY239" fmla="*/ 836158 h 3439886"/>
              <a:gd name="connsiteX240" fmla="*/ 434416 w 11573522"/>
              <a:gd name="connsiteY240" fmla="*/ 841430 h 3439886"/>
              <a:gd name="connsiteX241" fmla="*/ 391015 w 11573522"/>
              <a:gd name="connsiteY241" fmla="*/ 807769 h 3439886"/>
              <a:gd name="connsiteX242" fmla="*/ 203214 w 11573522"/>
              <a:gd name="connsiteY242" fmla="*/ 950521 h 3439886"/>
              <a:gd name="connsiteX243" fmla="*/ 300968 w 11573522"/>
              <a:gd name="connsiteY243" fmla="*/ 1026359 h 3439886"/>
              <a:gd name="connsiteX244" fmla="*/ 296912 w 11573522"/>
              <a:gd name="connsiteY244" fmla="*/ 1031630 h 3439886"/>
              <a:gd name="connsiteX245" fmla="*/ 198752 w 11573522"/>
              <a:gd name="connsiteY245" fmla="*/ 955388 h 3439886"/>
              <a:gd name="connsiteX246" fmla="*/ 198752 w 11573522"/>
              <a:gd name="connsiteY246" fmla="*/ 1045013 h 3439886"/>
              <a:gd name="connsiteX247" fmla="*/ 191856 w 11573522"/>
              <a:gd name="connsiteY247" fmla="*/ 1044202 h 3439886"/>
              <a:gd name="connsiteX248" fmla="*/ 191856 w 11573522"/>
              <a:gd name="connsiteY248" fmla="*/ 952954 h 3439886"/>
              <a:gd name="connsiteX249" fmla="*/ 183744 w 11573522"/>
              <a:gd name="connsiteY249" fmla="*/ 946465 h 3439886"/>
              <a:gd name="connsiteX250" fmla="*/ 183744 w 11573522"/>
              <a:gd name="connsiteY250" fmla="*/ 937949 h 3439886"/>
              <a:gd name="connsiteX251" fmla="*/ 192668 w 11573522"/>
              <a:gd name="connsiteY251" fmla="*/ 944843 h 3439886"/>
              <a:gd name="connsiteX252" fmla="*/ 192668 w 11573522"/>
              <a:gd name="connsiteY252" fmla="*/ 766808 h 3439886"/>
              <a:gd name="connsiteX253" fmla="*/ 183744 w 11573522"/>
              <a:gd name="connsiteY253" fmla="*/ 759914 h 3439886"/>
              <a:gd name="connsiteX254" fmla="*/ 183744 w 11573522"/>
              <a:gd name="connsiteY254" fmla="*/ 751398 h 3439886"/>
              <a:gd name="connsiteX255" fmla="*/ 196318 w 11573522"/>
              <a:gd name="connsiteY255" fmla="*/ 761131 h 3439886"/>
              <a:gd name="connsiteX256" fmla="*/ 384119 w 11573522"/>
              <a:gd name="connsiteY256" fmla="*/ 618379 h 3439886"/>
              <a:gd name="connsiteX257" fmla="*/ 196724 w 11573522"/>
              <a:gd name="connsiteY257" fmla="*/ 472787 h 3439886"/>
              <a:gd name="connsiteX258" fmla="*/ 8924 w 11573522"/>
              <a:gd name="connsiteY258" fmla="*/ 615540 h 3439886"/>
              <a:gd name="connsiteX259" fmla="*/ 183339 w 11573522"/>
              <a:gd name="connsiteY259" fmla="*/ 750992 h 3439886"/>
              <a:gd name="connsiteX260" fmla="*/ 183339 w 11573522"/>
              <a:gd name="connsiteY260" fmla="*/ 759508 h 3439886"/>
              <a:gd name="connsiteX261" fmla="*/ 6490 w 11573522"/>
              <a:gd name="connsiteY261" fmla="*/ 622434 h 3439886"/>
              <a:gd name="connsiteX262" fmla="*/ 6490 w 11573522"/>
              <a:gd name="connsiteY262" fmla="*/ 800875 h 3439886"/>
              <a:gd name="connsiteX263" fmla="*/ 183339 w 11573522"/>
              <a:gd name="connsiteY263" fmla="*/ 937544 h 3439886"/>
              <a:gd name="connsiteX264" fmla="*/ 183339 w 11573522"/>
              <a:gd name="connsiteY264" fmla="*/ 946060 h 3439886"/>
              <a:gd name="connsiteX265" fmla="*/ 0 w 11573522"/>
              <a:gd name="connsiteY265" fmla="*/ 804119 h 3439886"/>
              <a:gd name="connsiteX266" fmla="*/ 0 w 11573522"/>
              <a:gd name="connsiteY266" fmla="*/ 613917 h 3439886"/>
              <a:gd name="connsiteX267" fmla="*/ 191856 w 11573522"/>
              <a:gd name="connsiteY267" fmla="*/ 468327 h 3439886"/>
              <a:gd name="connsiteX268" fmla="*/ 191856 w 11573522"/>
              <a:gd name="connsiteY268" fmla="*/ 289076 h 3439886"/>
              <a:gd name="connsiteX269" fmla="*/ 198752 w 11573522"/>
              <a:gd name="connsiteY269" fmla="*/ 294348 h 3439886"/>
              <a:gd name="connsiteX270" fmla="*/ 198752 w 11573522"/>
              <a:gd name="connsiteY270" fmla="*/ 465488 h 3439886"/>
              <a:gd name="connsiteX271" fmla="*/ 384524 w 11573522"/>
              <a:gd name="connsiteY271" fmla="*/ 609862 h 3439886"/>
              <a:gd name="connsiteX272" fmla="*/ 384524 w 11573522"/>
              <a:gd name="connsiteY272" fmla="*/ 431828 h 3439886"/>
              <a:gd name="connsiteX273" fmla="*/ 198752 w 11573522"/>
              <a:gd name="connsiteY273" fmla="*/ 287453 h 3439886"/>
              <a:gd name="connsiteX274" fmla="*/ 198752 w 11573522"/>
              <a:gd name="connsiteY274" fmla="*/ 293942 h 3439886"/>
              <a:gd name="connsiteX275" fmla="*/ 191856 w 11573522"/>
              <a:gd name="connsiteY275" fmla="*/ 288670 h 3439886"/>
              <a:gd name="connsiteX276" fmla="*/ 191856 w 11573522"/>
              <a:gd name="connsiteY276" fmla="*/ 278937 h 3439886"/>
              <a:gd name="connsiteX277" fmla="*/ 377629 w 11573522"/>
              <a:gd name="connsiteY277" fmla="*/ 137401 h 3439886"/>
              <a:gd name="connsiteX278" fmla="*/ 383308 w 11573522"/>
              <a:gd name="connsiteY278" fmla="*/ 141862 h 3439886"/>
              <a:gd name="connsiteX279" fmla="*/ 200780 w 11573522"/>
              <a:gd name="connsiteY279" fmla="*/ 280559 h 3439886"/>
              <a:gd name="connsiteX280" fmla="*/ 388175 w 11573522"/>
              <a:gd name="connsiteY280" fmla="*/ 425745 h 3439886"/>
              <a:gd name="connsiteX281" fmla="*/ 575977 w 11573522"/>
              <a:gd name="connsiteY281" fmla="*/ 282993 h 3439886"/>
              <a:gd name="connsiteX282" fmla="*/ 388580 w 11573522"/>
              <a:gd name="connsiteY282" fmla="*/ 137807 h 3439886"/>
              <a:gd name="connsiteX283" fmla="*/ 383308 w 11573522"/>
              <a:gd name="connsiteY283" fmla="*/ 141862 h 3439886"/>
              <a:gd name="connsiteX284" fmla="*/ 378035 w 11573522"/>
              <a:gd name="connsiteY284" fmla="*/ 137401 h 3439886"/>
              <a:gd name="connsiteX285" fmla="*/ 386147 w 11573522"/>
              <a:gd name="connsiteY285" fmla="*/ 131318 h 3439886"/>
              <a:gd name="connsiteX286" fmla="*/ 386147 w 11573522"/>
              <a:gd name="connsiteY286" fmla="*/ 1350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1573522" h="3439886">
                <a:moveTo>
                  <a:pt x="388580" y="2811978"/>
                </a:moveTo>
                <a:cubicBezTo>
                  <a:pt x="266084" y="2905253"/>
                  <a:pt x="266084" y="2905253"/>
                  <a:pt x="266084" y="2905253"/>
                </a:cubicBezTo>
                <a:cubicBezTo>
                  <a:pt x="200780" y="2954731"/>
                  <a:pt x="200780" y="2954731"/>
                  <a:pt x="200780" y="2954731"/>
                </a:cubicBezTo>
                <a:cubicBezTo>
                  <a:pt x="388175" y="3100322"/>
                  <a:pt x="388175" y="3100322"/>
                  <a:pt x="388175" y="3100322"/>
                </a:cubicBezTo>
                <a:cubicBezTo>
                  <a:pt x="575977" y="2957569"/>
                  <a:pt x="575977" y="2957569"/>
                  <a:pt x="575977" y="2957569"/>
                </a:cubicBezTo>
                <a:cubicBezTo>
                  <a:pt x="388580" y="2811978"/>
                  <a:pt x="388580" y="2811978"/>
                  <a:pt x="388580" y="2811978"/>
                </a:cubicBezTo>
                <a:close/>
                <a:moveTo>
                  <a:pt x="386147" y="0"/>
                </a:moveTo>
                <a:lnTo>
                  <a:pt x="392637" y="0"/>
                </a:lnTo>
                <a:lnTo>
                  <a:pt x="392637" y="28893"/>
                </a:lnTo>
                <a:cubicBezTo>
                  <a:pt x="392637" y="131318"/>
                  <a:pt x="392637" y="131318"/>
                  <a:pt x="392637" y="131318"/>
                </a:cubicBezTo>
                <a:cubicBezTo>
                  <a:pt x="578816" y="275693"/>
                  <a:pt x="578816" y="275693"/>
                  <a:pt x="578816" y="275693"/>
                </a:cubicBezTo>
                <a:cubicBezTo>
                  <a:pt x="578816" y="97658"/>
                  <a:pt x="578816" y="97658"/>
                  <a:pt x="578816" y="97658"/>
                </a:cubicBezTo>
                <a:cubicBezTo>
                  <a:pt x="521320" y="52946"/>
                  <a:pt x="485384" y="25001"/>
                  <a:pt x="462924" y="7536"/>
                </a:cubicBezTo>
                <a:lnTo>
                  <a:pt x="453234" y="0"/>
                </a:lnTo>
                <a:lnTo>
                  <a:pt x="464209" y="0"/>
                </a:lnTo>
                <a:lnTo>
                  <a:pt x="484510" y="15775"/>
                </a:lnTo>
                <a:cubicBezTo>
                  <a:pt x="582061" y="91574"/>
                  <a:pt x="582061" y="91574"/>
                  <a:pt x="582061" y="91574"/>
                </a:cubicBezTo>
                <a:cubicBezTo>
                  <a:pt x="638188" y="48992"/>
                  <a:pt x="673267" y="22378"/>
                  <a:pt x="695192" y="5744"/>
                </a:cubicBezTo>
                <a:lnTo>
                  <a:pt x="702764" y="0"/>
                </a:lnTo>
                <a:lnTo>
                  <a:pt x="2758098" y="0"/>
                </a:lnTo>
                <a:lnTo>
                  <a:pt x="2764588" y="0"/>
                </a:lnTo>
                <a:lnTo>
                  <a:pt x="2825185" y="0"/>
                </a:lnTo>
                <a:lnTo>
                  <a:pt x="2836160" y="0"/>
                </a:lnTo>
                <a:lnTo>
                  <a:pt x="3074715" y="0"/>
                </a:lnTo>
                <a:lnTo>
                  <a:pt x="9201571" y="0"/>
                </a:lnTo>
                <a:lnTo>
                  <a:pt x="11573522" y="0"/>
                </a:lnTo>
                <a:lnTo>
                  <a:pt x="11573522" y="3439886"/>
                </a:lnTo>
                <a:lnTo>
                  <a:pt x="962936" y="3439886"/>
                </a:lnTo>
                <a:lnTo>
                  <a:pt x="962936" y="3439632"/>
                </a:lnTo>
                <a:cubicBezTo>
                  <a:pt x="962936" y="3438953"/>
                  <a:pt x="962936" y="3438953"/>
                  <a:pt x="962936" y="3438953"/>
                </a:cubicBezTo>
                <a:cubicBezTo>
                  <a:pt x="776757" y="3294579"/>
                  <a:pt x="776757" y="3294579"/>
                  <a:pt x="776757" y="3294579"/>
                </a:cubicBezTo>
                <a:cubicBezTo>
                  <a:pt x="776757" y="3361342"/>
                  <a:pt x="776757" y="3403069"/>
                  <a:pt x="776757" y="3429148"/>
                </a:cubicBezTo>
                <a:lnTo>
                  <a:pt x="776757" y="3439886"/>
                </a:lnTo>
                <a:lnTo>
                  <a:pt x="769862" y="3439886"/>
                </a:lnTo>
                <a:lnTo>
                  <a:pt x="769862" y="3414403"/>
                </a:lnTo>
                <a:cubicBezTo>
                  <a:pt x="769862" y="3292145"/>
                  <a:pt x="769862" y="3292145"/>
                  <a:pt x="769862" y="3292145"/>
                </a:cubicBezTo>
                <a:cubicBezTo>
                  <a:pt x="629924" y="3183458"/>
                  <a:pt x="629924" y="3183458"/>
                  <a:pt x="629924" y="3183458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771079" y="3284034"/>
                  <a:pt x="771079" y="3284034"/>
                  <a:pt x="771079" y="3284034"/>
                </a:cubicBezTo>
                <a:cubicBezTo>
                  <a:pt x="771079" y="3105999"/>
                  <a:pt x="771079" y="3105999"/>
                  <a:pt x="771079" y="3105999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708614" y="3049222"/>
                  <a:pt x="708614" y="3049222"/>
                  <a:pt x="708614" y="3049222"/>
                </a:cubicBezTo>
                <a:cubicBezTo>
                  <a:pt x="774323" y="3100322"/>
                  <a:pt x="774323" y="3100322"/>
                  <a:pt x="774323" y="3100322"/>
                </a:cubicBezTo>
                <a:cubicBezTo>
                  <a:pt x="962125" y="2957569"/>
                  <a:pt x="962125" y="2957569"/>
                  <a:pt x="962125" y="2957569"/>
                </a:cubicBezTo>
                <a:cubicBezTo>
                  <a:pt x="824621" y="2850911"/>
                  <a:pt x="824621" y="2850911"/>
                  <a:pt x="824621" y="2850911"/>
                </a:cubicBezTo>
                <a:cubicBezTo>
                  <a:pt x="828271" y="2844422"/>
                  <a:pt x="828271" y="2844422"/>
                  <a:pt x="828271" y="2844422"/>
                </a:cubicBezTo>
                <a:cubicBezTo>
                  <a:pt x="962936" y="2948647"/>
                  <a:pt x="962936" y="2948647"/>
                  <a:pt x="962936" y="2948647"/>
                </a:cubicBezTo>
                <a:cubicBezTo>
                  <a:pt x="962936" y="2770612"/>
                  <a:pt x="962936" y="2770612"/>
                  <a:pt x="962936" y="2770612"/>
                </a:cubicBezTo>
                <a:cubicBezTo>
                  <a:pt x="900065" y="2721947"/>
                  <a:pt x="900065" y="2721947"/>
                  <a:pt x="900065" y="2721947"/>
                </a:cubicBezTo>
                <a:cubicBezTo>
                  <a:pt x="903716" y="2715864"/>
                  <a:pt x="903716" y="2715864"/>
                  <a:pt x="903716" y="2715864"/>
                </a:cubicBezTo>
                <a:cubicBezTo>
                  <a:pt x="966181" y="2764529"/>
                  <a:pt x="966181" y="2764529"/>
                  <a:pt x="966181" y="2764529"/>
                </a:cubicBezTo>
                <a:cubicBezTo>
                  <a:pt x="1153982" y="2621777"/>
                  <a:pt x="1153982" y="2621777"/>
                  <a:pt x="1153982" y="2621777"/>
                </a:cubicBezTo>
                <a:cubicBezTo>
                  <a:pt x="969021" y="2478619"/>
                  <a:pt x="969021" y="2478619"/>
                  <a:pt x="969021" y="2478619"/>
                </a:cubicBezTo>
                <a:cubicBezTo>
                  <a:pt x="781219" y="2621371"/>
                  <a:pt x="781219" y="2621371"/>
                  <a:pt x="781219" y="2621371"/>
                </a:cubicBezTo>
                <a:cubicBezTo>
                  <a:pt x="903310" y="2715864"/>
                  <a:pt x="903310" y="2715864"/>
                  <a:pt x="903310" y="2715864"/>
                </a:cubicBezTo>
                <a:cubicBezTo>
                  <a:pt x="900065" y="2721542"/>
                  <a:pt x="900065" y="2721542"/>
                  <a:pt x="900065" y="2721542"/>
                </a:cubicBezTo>
                <a:cubicBezTo>
                  <a:pt x="776757" y="2626238"/>
                  <a:pt x="776757" y="2626238"/>
                  <a:pt x="776757" y="2626238"/>
                </a:cubicBezTo>
                <a:cubicBezTo>
                  <a:pt x="776757" y="2804273"/>
                  <a:pt x="776757" y="2804273"/>
                  <a:pt x="776757" y="2804273"/>
                </a:cubicBezTo>
                <a:cubicBezTo>
                  <a:pt x="828271" y="2844017"/>
                  <a:pt x="828271" y="2844017"/>
                  <a:pt x="828271" y="2844017"/>
                </a:cubicBezTo>
                <a:cubicBezTo>
                  <a:pt x="824215" y="2850506"/>
                  <a:pt x="824215" y="2850506"/>
                  <a:pt x="824215" y="2850506"/>
                </a:cubicBezTo>
                <a:cubicBezTo>
                  <a:pt x="774729" y="2811978"/>
                  <a:pt x="774729" y="2811978"/>
                  <a:pt x="774729" y="2811978"/>
                </a:cubicBezTo>
                <a:cubicBezTo>
                  <a:pt x="586928" y="2954731"/>
                  <a:pt x="586928" y="2954731"/>
                  <a:pt x="586928" y="2954731"/>
                </a:cubicBezTo>
                <a:cubicBezTo>
                  <a:pt x="708208" y="3048817"/>
                  <a:pt x="708208" y="3048817"/>
                  <a:pt x="708208" y="3048817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584900" y="2961625"/>
                  <a:pt x="584900" y="2961625"/>
                  <a:pt x="584900" y="2961625"/>
                </a:cubicBezTo>
                <a:cubicBezTo>
                  <a:pt x="584900" y="3140065"/>
                  <a:pt x="584900" y="3140065"/>
                  <a:pt x="584900" y="3140065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629518" y="3183052"/>
                  <a:pt x="629518" y="3183052"/>
                  <a:pt x="629518" y="3183052"/>
                </a:cubicBezTo>
                <a:cubicBezTo>
                  <a:pt x="582872" y="3146960"/>
                  <a:pt x="582872" y="3146960"/>
                  <a:pt x="582872" y="3146960"/>
                </a:cubicBezTo>
                <a:cubicBezTo>
                  <a:pt x="388175" y="3295390"/>
                  <a:pt x="388175" y="3295390"/>
                  <a:pt x="388175" y="3295390"/>
                </a:cubicBezTo>
                <a:cubicBezTo>
                  <a:pt x="191856" y="3143310"/>
                  <a:pt x="191856" y="3143310"/>
                  <a:pt x="191856" y="3143310"/>
                </a:cubicBezTo>
                <a:cubicBezTo>
                  <a:pt x="191856" y="3082477"/>
                  <a:pt x="191856" y="3082477"/>
                  <a:pt x="191856" y="3082477"/>
                </a:cubicBezTo>
                <a:cubicBezTo>
                  <a:pt x="198752" y="3085316"/>
                  <a:pt x="198752" y="3085316"/>
                  <a:pt x="198752" y="3085316"/>
                </a:cubicBezTo>
                <a:cubicBezTo>
                  <a:pt x="198752" y="3140065"/>
                  <a:pt x="198752" y="3140065"/>
                  <a:pt x="198752" y="3140065"/>
                </a:cubicBezTo>
                <a:cubicBezTo>
                  <a:pt x="384930" y="3284034"/>
                  <a:pt x="384930" y="3284034"/>
                  <a:pt x="384930" y="3284034"/>
                </a:cubicBezTo>
                <a:cubicBezTo>
                  <a:pt x="384930" y="3105999"/>
                  <a:pt x="384930" y="3105999"/>
                  <a:pt x="384930" y="3105999"/>
                </a:cubicBezTo>
                <a:cubicBezTo>
                  <a:pt x="198752" y="2961625"/>
                  <a:pt x="198752" y="2961625"/>
                  <a:pt x="198752" y="2961625"/>
                </a:cubicBezTo>
                <a:cubicBezTo>
                  <a:pt x="198752" y="3084911"/>
                  <a:pt x="198752" y="3084911"/>
                  <a:pt x="198752" y="3084911"/>
                </a:cubicBezTo>
                <a:cubicBezTo>
                  <a:pt x="191856" y="3082072"/>
                  <a:pt x="191856" y="3082072"/>
                  <a:pt x="191856" y="3082072"/>
                </a:cubicBezTo>
                <a:cubicBezTo>
                  <a:pt x="191856" y="2953108"/>
                  <a:pt x="191856" y="2953108"/>
                  <a:pt x="191856" y="2953108"/>
                </a:cubicBezTo>
                <a:cubicBezTo>
                  <a:pt x="259189" y="2902009"/>
                  <a:pt x="259189" y="2902009"/>
                  <a:pt x="259189" y="2902009"/>
                </a:cubicBezTo>
                <a:cubicBezTo>
                  <a:pt x="383713" y="2807517"/>
                  <a:pt x="383713" y="2807517"/>
                  <a:pt x="383713" y="2807517"/>
                </a:cubicBezTo>
                <a:cubicBezTo>
                  <a:pt x="383713" y="2715053"/>
                  <a:pt x="383713" y="2715053"/>
                  <a:pt x="383713" y="2715053"/>
                </a:cubicBezTo>
                <a:cubicBezTo>
                  <a:pt x="390609" y="2716269"/>
                  <a:pt x="390609" y="2716269"/>
                  <a:pt x="390609" y="2716269"/>
                </a:cubicBezTo>
                <a:cubicBezTo>
                  <a:pt x="390609" y="2804273"/>
                  <a:pt x="390609" y="2804273"/>
                  <a:pt x="390609" y="2804273"/>
                </a:cubicBezTo>
                <a:cubicBezTo>
                  <a:pt x="576788" y="2948647"/>
                  <a:pt x="576788" y="2948647"/>
                  <a:pt x="576788" y="2948647"/>
                </a:cubicBezTo>
                <a:cubicBezTo>
                  <a:pt x="576788" y="2770612"/>
                  <a:pt x="576788" y="2770612"/>
                  <a:pt x="576788" y="2770612"/>
                </a:cubicBezTo>
                <a:cubicBezTo>
                  <a:pt x="489174" y="2702481"/>
                  <a:pt x="489174" y="2702481"/>
                  <a:pt x="489174" y="2702481"/>
                </a:cubicBezTo>
                <a:cubicBezTo>
                  <a:pt x="492825" y="2697209"/>
                  <a:pt x="492825" y="2697209"/>
                  <a:pt x="492825" y="2697209"/>
                </a:cubicBezTo>
                <a:cubicBezTo>
                  <a:pt x="580033" y="2764529"/>
                  <a:pt x="580033" y="2764529"/>
                  <a:pt x="580033" y="2764529"/>
                </a:cubicBezTo>
                <a:cubicBezTo>
                  <a:pt x="767834" y="2621777"/>
                  <a:pt x="767834" y="2621777"/>
                  <a:pt x="767834" y="2621777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630735" y="2507007"/>
                  <a:pt x="630735" y="2507007"/>
                  <a:pt x="630735" y="2507007"/>
                </a:cubicBezTo>
                <a:cubicBezTo>
                  <a:pt x="771079" y="2615693"/>
                  <a:pt x="771079" y="2615693"/>
                  <a:pt x="771079" y="2615693"/>
                </a:cubicBezTo>
                <a:cubicBezTo>
                  <a:pt x="771079" y="2437659"/>
                  <a:pt x="771079" y="2437659"/>
                  <a:pt x="771079" y="2437659"/>
                </a:cubicBezTo>
                <a:cubicBezTo>
                  <a:pt x="713481" y="2392644"/>
                  <a:pt x="713481" y="2392644"/>
                  <a:pt x="713481" y="2392644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74323" y="2431576"/>
                  <a:pt x="774323" y="2431576"/>
                  <a:pt x="774323" y="2431576"/>
                </a:cubicBezTo>
                <a:cubicBezTo>
                  <a:pt x="962125" y="2288824"/>
                  <a:pt x="962125" y="2288824"/>
                  <a:pt x="962125" y="2288824"/>
                </a:cubicBezTo>
                <a:cubicBezTo>
                  <a:pt x="774729" y="2143638"/>
                  <a:pt x="774729" y="2143638"/>
                  <a:pt x="774729" y="2143638"/>
                </a:cubicBezTo>
                <a:cubicBezTo>
                  <a:pt x="586928" y="2286391"/>
                  <a:pt x="586928" y="2286391"/>
                  <a:pt x="586928" y="2286391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13075" y="2392644"/>
                  <a:pt x="713075" y="2392644"/>
                  <a:pt x="713075" y="2392644"/>
                </a:cubicBezTo>
                <a:cubicBezTo>
                  <a:pt x="584900" y="2293285"/>
                  <a:pt x="584900" y="2293285"/>
                  <a:pt x="584900" y="2293285"/>
                </a:cubicBezTo>
                <a:cubicBezTo>
                  <a:pt x="584900" y="2471319"/>
                  <a:pt x="584900" y="2471319"/>
                  <a:pt x="584900" y="2471319"/>
                </a:cubicBezTo>
                <a:cubicBezTo>
                  <a:pt x="630329" y="2506602"/>
                  <a:pt x="630329" y="2506602"/>
                  <a:pt x="630329" y="2506602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582872" y="2478619"/>
                  <a:pt x="582872" y="2478619"/>
                  <a:pt x="582872" y="2478619"/>
                </a:cubicBezTo>
                <a:cubicBezTo>
                  <a:pt x="395071" y="2621371"/>
                  <a:pt x="395071" y="2621371"/>
                  <a:pt x="395071" y="2621371"/>
                </a:cubicBezTo>
                <a:cubicBezTo>
                  <a:pt x="492825" y="2696804"/>
                  <a:pt x="492825" y="2696804"/>
                  <a:pt x="492825" y="2696804"/>
                </a:cubicBezTo>
                <a:cubicBezTo>
                  <a:pt x="488769" y="2702481"/>
                  <a:pt x="488769" y="2702481"/>
                  <a:pt x="488769" y="2702481"/>
                </a:cubicBezTo>
                <a:cubicBezTo>
                  <a:pt x="390609" y="2626238"/>
                  <a:pt x="390609" y="2626238"/>
                  <a:pt x="390609" y="2626238"/>
                </a:cubicBezTo>
                <a:cubicBezTo>
                  <a:pt x="390609" y="2715864"/>
                  <a:pt x="390609" y="2715864"/>
                  <a:pt x="390609" y="2715864"/>
                </a:cubicBezTo>
                <a:cubicBezTo>
                  <a:pt x="383713" y="2714647"/>
                  <a:pt x="383713" y="2714647"/>
                  <a:pt x="383713" y="2714647"/>
                </a:cubicBezTo>
                <a:cubicBezTo>
                  <a:pt x="383713" y="2623399"/>
                  <a:pt x="383713" y="2623399"/>
                  <a:pt x="383713" y="2623399"/>
                </a:cubicBezTo>
                <a:cubicBezTo>
                  <a:pt x="375601" y="2616910"/>
                  <a:pt x="375601" y="2616910"/>
                  <a:pt x="375601" y="2616910"/>
                </a:cubicBezTo>
                <a:cubicBezTo>
                  <a:pt x="375601" y="2608394"/>
                  <a:pt x="375601" y="2608394"/>
                  <a:pt x="375601" y="2608394"/>
                </a:cubicBezTo>
                <a:cubicBezTo>
                  <a:pt x="384930" y="2615693"/>
                  <a:pt x="384930" y="2615693"/>
                  <a:pt x="384930" y="2615693"/>
                </a:cubicBezTo>
                <a:cubicBezTo>
                  <a:pt x="384930" y="2437659"/>
                  <a:pt x="384930" y="2437659"/>
                  <a:pt x="384930" y="2437659"/>
                </a:cubicBezTo>
                <a:cubicBezTo>
                  <a:pt x="375601" y="2430360"/>
                  <a:pt x="375601" y="2430360"/>
                  <a:pt x="375601" y="2430360"/>
                </a:cubicBezTo>
                <a:cubicBezTo>
                  <a:pt x="375601" y="2421843"/>
                  <a:pt x="375601" y="2421843"/>
                  <a:pt x="375601" y="2421843"/>
                </a:cubicBezTo>
                <a:cubicBezTo>
                  <a:pt x="388175" y="2431576"/>
                  <a:pt x="388175" y="2431576"/>
                  <a:pt x="388175" y="2431576"/>
                </a:cubicBezTo>
                <a:cubicBezTo>
                  <a:pt x="575977" y="2288824"/>
                  <a:pt x="575977" y="2288824"/>
                  <a:pt x="575977" y="2288824"/>
                </a:cubicBezTo>
                <a:cubicBezTo>
                  <a:pt x="388580" y="2143638"/>
                  <a:pt x="388580" y="2143638"/>
                  <a:pt x="388580" y="2143638"/>
                </a:cubicBezTo>
                <a:cubicBezTo>
                  <a:pt x="200780" y="2286391"/>
                  <a:pt x="200780" y="2286391"/>
                  <a:pt x="200780" y="2286391"/>
                </a:cubicBezTo>
                <a:cubicBezTo>
                  <a:pt x="375195" y="2421843"/>
                  <a:pt x="375195" y="2421843"/>
                  <a:pt x="375195" y="2421843"/>
                </a:cubicBezTo>
                <a:cubicBezTo>
                  <a:pt x="375195" y="2429954"/>
                  <a:pt x="375195" y="2429954"/>
                  <a:pt x="375195" y="2429954"/>
                </a:cubicBezTo>
                <a:cubicBezTo>
                  <a:pt x="198752" y="2293285"/>
                  <a:pt x="198752" y="2293285"/>
                  <a:pt x="198752" y="2293285"/>
                </a:cubicBezTo>
                <a:cubicBezTo>
                  <a:pt x="198752" y="2471319"/>
                  <a:pt x="198752" y="2471319"/>
                  <a:pt x="198752" y="2471319"/>
                </a:cubicBezTo>
                <a:cubicBezTo>
                  <a:pt x="375195" y="2608394"/>
                  <a:pt x="375195" y="2608394"/>
                  <a:pt x="375195" y="2608394"/>
                </a:cubicBezTo>
                <a:cubicBezTo>
                  <a:pt x="375195" y="2616910"/>
                  <a:pt x="375195" y="2616910"/>
                  <a:pt x="375195" y="2616910"/>
                </a:cubicBezTo>
                <a:cubicBezTo>
                  <a:pt x="191856" y="2474563"/>
                  <a:pt x="191856" y="2474563"/>
                  <a:pt x="191856" y="2474563"/>
                </a:cubicBezTo>
                <a:cubicBezTo>
                  <a:pt x="191856" y="2284768"/>
                  <a:pt x="191856" y="2284768"/>
                  <a:pt x="191856" y="2284768"/>
                </a:cubicBezTo>
                <a:cubicBezTo>
                  <a:pt x="383713" y="2138772"/>
                  <a:pt x="383713" y="2138772"/>
                  <a:pt x="383713" y="2138772"/>
                </a:cubicBezTo>
                <a:cubicBezTo>
                  <a:pt x="383713" y="1959926"/>
                  <a:pt x="383713" y="1959926"/>
                  <a:pt x="383713" y="1959926"/>
                </a:cubicBezTo>
                <a:cubicBezTo>
                  <a:pt x="390609" y="1965198"/>
                  <a:pt x="390609" y="1965198"/>
                  <a:pt x="390609" y="1965198"/>
                </a:cubicBezTo>
                <a:cubicBezTo>
                  <a:pt x="390609" y="2136339"/>
                  <a:pt x="390609" y="2136339"/>
                  <a:pt x="390609" y="2136339"/>
                </a:cubicBezTo>
                <a:cubicBezTo>
                  <a:pt x="576788" y="2280307"/>
                  <a:pt x="576788" y="2280307"/>
                  <a:pt x="576788" y="2280307"/>
                </a:cubicBezTo>
                <a:cubicBezTo>
                  <a:pt x="576788" y="2102272"/>
                  <a:pt x="576788" y="2102272"/>
                  <a:pt x="576788" y="2102272"/>
                </a:cubicBezTo>
                <a:cubicBezTo>
                  <a:pt x="390609" y="1957898"/>
                  <a:pt x="390609" y="1957898"/>
                  <a:pt x="390609" y="1957898"/>
                </a:cubicBezTo>
                <a:cubicBezTo>
                  <a:pt x="390609" y="1964792"/>
                  <a:pt x="390609" y="1964792"/>
                  <a:pt x="390609" y="1964792"/>
                </a:cubicBezTo>
                <a:cubicBezTo>
                  <a:pt x="383713" y="1959520"/>
                  <a:pt x="383713" y="1959520"/>
                  <a:pt x="383713" y="1959520"/>
                </a:cubicBezTo>
                <a:cubicBezTo>
                  <a:pt x="383713" y="1949382"/>
                  <a:pt x="383713" y="1949382"/>
                  <a:pt x="383713" y="1949382"/>
                </a:cubicBezTo>
                <a:cubicBezTo>
                  <a:pt x="569487" y="1808251"/>
                  <a:pt x="569487" y="1808251"/>
                  <a:pt x="569487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392637" y="1951004"/>
                  <a:pt x="392637" y="1951004"/>
                  <a:pt x="392637" y="1951004"/>
                </a:cubicBezTo>
                <a:cubicBezTo>
                  <a:pt x="580033" y="2096594"/>
                  <a:pt x="580033" y="2096594"/>
                  <a:pt x="580033" y="2096594"/>
                </a:cubicBezTo>
                <a:cubicBezTo>
                  <a:pt x="767834" y="1953437"/>
                  <a:pt x="767834" y="1953437"/>
                  <a:pt x="767834" y="1953437"/>
                </a:cubicBezTo>
                <a:cubicBezTo>
                  <a:pt x="580438" y="1808251"/>
                  <a:pt x="580438" y="1808251"/>
                  <a:pt x="580438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569893" y="1807846"/>
                  <a:pt x="569893" y="1807846"/>
                  <a:pt x="569893" y="1807846"/>
                </a:cubicBezTo>
                <a:cubicBezTo>
                  <a:pt x="578005" y="1801763"/>
                  <a:pt x="578005" y="1801763"/>
                  <a:pt x="578005" y="1801763"/>
                </a:cubicBezTo>
                <a:cubicBezTo>
                  <a:pt x="578005" y="1795679"/>
                  <a:pt x="578005" y="1795679"/>
                  <a:pt x="578005" y="1795679"/>
                </a:cubicBezTo>
                <a:cubicBezTo>
                  <a:pt x="584900" y="1795679"/>
                  <a:pt x="584900" y="1795679"/>
                  <a:pt x="584900" y="1795679"/>
                </a:cubicBezTo>
                <a:cubicBezTo>
                  <a:pt x="584900" y="1802168"/>
                  <a:pt x="584900" y="1802168"/>
                  <a:pt x="584900" y="1802168"/>
                </a:cubicBezTo>
                <a:cubicBezTo>
                  <a:pt x="771079" y="1946137"/>
                  <a:pt x="771079" y="1946137"/>
                  <a:pt x="771079" y="1946137"/>
                </a:cubicBezTo>
                <a:cubicBezTo>
                  <a:pt x="771079" y="1783107"/>
                  <a:pt x="771079" y="1783107"/>
                  <a:pt x="771079" y="1783107"/>
                </a:cubicBezTo>
                <a:cubicBezTo>
                  <a:pt x="771079" y="1768508"/>
                  <a:pt x="771079" y="1768508"/>
                  <a:pt x="771079" y="1768508"/>
                </a:cubicBezTo>
                <a:cubicBezTo>
                  <a:pt x="584900" y="1624133"/>
                  <a:pt x="584900" y="1624133"/>
                  <a:pt x="584900" y="1624133"/>
                </a:cubicBezTo>
                <a:cubicBezTo>
                  <a:pt x="584900" y="1785541"/>
                  <a:pt x="584900" y="1785541"/>
                  <a:pt x="584900" y="1785541"/>
                </a:cubicBezTo>
                <a:cubicBezTo>
                  <a:pt x="584900" y="1795274"/>
                  <a:pt x="584900" y="1795274"/>
                  <a:pt x="584900" y="1795274"/>
                </a:cubicBezTo>
                <a:cubicBezTo>
                  <a:pt x="578005" y="1795274"/>
                  <a:pt x="578005" y="1795274"/>
                  <a:pt x="578005" y="1795274"/>
                </a:cubicBezTo>
                <a:cubicBezTo>
                  <a:pt x="578005" y="1621294"/>
                  <a:pt x="578005" y="1621294"/>
                  <a:pt x="578005" y="1621294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441312" y="1506930"/>
                  <a:pt x="441312" y="1506930"/>
                  <a:pt x="441312" y="1506930"/>
                </a:cubicBezTo>
                <a:cubicBezTo>
                  <a:pt x="578816" y="1613589"/>
                  <a:pt x="578816" y="1613589"/>
                  <a:pt x="578816" y="1613589"/>
                </a:cubicBezTo>
                <a:cubicBezTo>
                  <a:pt x="578816" y="1435555"/>
                  <a:pt x="578816" y="1435555"/>
                  <a:pt x="578816" y="1435555"/>
                </a:cubicBezTo>
                <a:cubicBezTo>
                  <a:pt x="513106" y="1384456"/>
                  <a:pt x="513106" y="1384456"/>
                  <a:pt x="513106" y="138445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82061" y="1429472"/>
                  <a:pt x="582061" y="1429472"/>
                  <a:pt x="582061" y="1429472"/>
                </a:cubicBezTo>
                <a:cubicBezTo>
                  <a:pt x="769862" y="1286719"/>
                  <a:pt x="769862" y="1286719"/>
                  <a:pt x="769862" y="1286719"/>
                </a:cubicBezTo>
                <a:cubicBezTo>
                  <a:pt x="632763" y="1180060"/>
                  <a:pt x="632763" y="1180060"/>
                  <a:pt x="632763" y="1180060"/>
                </a:cubicBezTo>
                <a:cubicBezTo>
                  <a:pt x="636413" y="1173571"/>
                  <a:pt x="636413" y="1173571"/>
                  <a:pt x="636413" y="1173571"/>
                </a:cubicBezTo>
                <a:cubicBezTo>
                  <a:pt x="771079" y="1278203"/>
                  <a:pt x="771079" y="1278203"/>
                  <a:pt x="771079" y="1278203"/>
                </a:cubicBezTo>
                <a:cubicBezTo>
                  <a:pt x="771079" y="1099762"/>
                  <a:pt x="771079" y="1099762"/>
                  <a:pt x="771079" y="1099762"/>
                </a:cubicBezTo>
                <a:cubicBezTo>
                  <a:pt x="708208" y="1051096"/>
                  <a:pt x="708208" y="1051096"/>
                  <a:pt x="708208" y="1051096"/>
                </a:cubicBezTo>
                <a:cubicBezTo>
                  <a:pt x="711453" y="1045419"/>
                  <a:pt x="711453" y="1045419"/>
                  <a:pt x="711453" y="1045419"/>
                </a:cubicBezTo>
                <a:cubicBezTo>
                  <a:pt x="774323" y="1094085"/>
                  <a:pt x="774323" y="1094085"/>
                  <a:pt x="774323" y="1094085"/>
                </a:cubicBezTo>
                <a:cubicBezTo>
                  <a:pt x="962125" y="951332"/>
                  <a:pt x="962125" y="951332"/>
                  <a:pt x="962125" y="951332"/>
                </a:cubicBezTo>
                <a:cubicBezTo>
                  <a:pt x="777163" y="807769"/>
                  <a:pt x="777163" y="807769"/>
                  <a:pt x="777163" y="807769"/>
                </a:cubicBezTo>
                <a:cubicBezTo>
                  <a:pt x="589362" y="950521"/>
                  <a:pt x="589362" y="950521"/>
                  <a:pt x="589362" y="950521"/>
                </a:cubicBezTo>
                <a:cubicBezTo>
                  <a:pt x="711453" y="1045013"/>
                  <a:pt x="711453" y="1045013"/>
                  <a:pt x="711453" y="1045013"/>
                </a:cubicBezTo>
                <a:cubicBezTo>
                  <a:pt x="707802" y="1051096"/>
                  <a:pt x="707802" y="1051096"/>
                  <a:pt x="707802" y="1051096"/>
                </a:cubicBezTo>
                <a:cubicBezTo>
                  <a:pt x="584900" y="955388"/>
                  <a:pt x="584900" y="955388"/>
                  <a:pt x="584900" y="955388"/>
                </a:cubicBezTo>
                <a:cubicBezTo>
                  <a:pt x="584900" y="1133828"/>
                  <a:pt x="584900" y="1133828"/>
                  <a:pt x="584900" y="1133828"/>
                </a:cubicBezTo>
                <a:cubicBezTo>
                  <a:pt x="636008" y="1173571"/>
                  <a:pt x="636008" y="1173571"/>
                  <a:pt x="636008" y="1173571"/>
                </a:cubicBezTo>
                <a:cubicBezTo>
                  <a:pt x="632357" y="1180060"/>
                  <a:pt x="632357" y="1180060"/>
                  <a:pt x="632357" y="1180060"/>
                </a:cubicBezTo>
                <a:cubicBezTo>
                  <a:pt x="582872" y="1141534"/>
                  <a:pt x="582872" y="1141534"/>
                  <a:pt x="582872" y="1141534"/>
                </a:cubicBezTo>
                <a:cubicBezTo>
                  <a:pt x="395071" y="1284286"/>
                  <a:pt x="395071" y="1284286"/>
                  <a:pt x="395071" y="128428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12700" y="1384050"/>
                  <a:pt x="512700" y="1384050"/>
                  <a:pt x="512700" y="1384050"/>
                </a:cubicBezTo>
                <a:cubicBezTo>
                  <a:pt x="392637" y="1291180"/>
                  <a:pt x="392637" y="1291180"/>
                  <a:pt x="392637" y="1291180"/>
                </a:cubicBezTo>
                <a:cubicBezTo>
                  <a:pt x="392637" y="1469214"/>
                  <a:pt x="392637" y="1469214"/>
                  <a:pt x="392637" y="1469214"/>
                </a:cubicBezTo>
                <a:cubicBezTo>
                  <a:pt x="440906" y="1506525"/>
                  <a:pt x="440906" y="1506525"/>
                  <a:pt x="440906" y="1506525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391015" y="1476514"/>
                  <a:pt x="391015" y="1476514"/>
                  <a:pt x="391015" y="1476514"/>
                </a:cubicBezTo>
                <a:cubicBezTo>
                  <a:pt x="195912" y="1624539"/>
                  <a:pt x="195912" y="1624539"/>
                  <a:pt x="195912" y="1624539"/>
                </a:cubicBezTo>
                <a:cubicBezTo>
                  <a:pt x="0" y="1472459"/>
                  <a:pt x="0" y="1472459"/>
                  <a:pt x="0" y="1472459"/>
                </a:cubicBezTo>
                <a:cubicBezTo>
                  <a:pt x="0" y="1412033"/>
                  <a:pt x="0" y="1412033"/>
                  <a:pt x="0" y="1412033"/>
                </a:cubicBezTo>
                <a:cubicBezTo>
                  <a:pt x="6490" y="1414872"/>
                  <a:pt x="6490" y="1414872"/>
                  <a:pt x="6490" y="1414872"/>
                </a:cubicBezTo>
                <a:cubicBezTo>
                  <a:pt x="6490" y="1469214"/>
                  <a:pt x="6490" y="1469214"/>
                  <a:pt x="6490" y="1469214"/>
                </a:cubicBezTo>
                <a:cubicBezTo>
                  <a:pt x="192668" y="1613589"/>
                  <a:pt x="192668" y="1613589"/>
                  <a:pt x="192668" y="1613589"/>
                </a:cubicBezTo>
                <a:cubicBezTo>
                  <a:pt x="192668" y="1435555"/>
                  <a:pt x="192668" y="1435555"/>
                  <a:pt x="192668" y="1435555"/>
                </a:cubicBezTo>
                <a:cubicBezTo>
                  <a:pt x="6490" y="1291180"/>
                  <a:pt x="6490" y="1291180"/>
                  <a:pt x="6490" y="1291180"/>
                </a:cubicBezTo>
                <a:cubicBezTo>
                  <a:pt x="6490" y="1414466"/>
                  <a:pt x="6490" y="1414466"/>
                  <a:pt x="6490" y="1414466"/>
                </a:cubicBezTo>
                <a:cubicBezTo>
                  <a:pt x="0" y="1411627"/>
                  <a:pt x="0" y="1411627"/>
                  <a:pt x="0" y="1411627"/>
                </a:cubicBezTo>
                <a:cubicBezTo>
                  <a:pt x="0" y="1282664"/>
                  <a:pt x="0" y="1282664"/>
                  <a:pt x="0" y="1282664"/>
                </a:cubicBezTo>
                <a:cubicBezTo>
                  <a:pt x="66926" y="1231565"/>
                  <a:pt x="66926" y="1231565"/>
                  <a:pt x="66926" y="1231565"/>
                </a:cubicBezTo>
                <a:cubicBezTo>
                  <a:pt x="73821" y="1234809"/>
                  <a:pt x="73821" y="1234809"/>
                  <a:pt x="73821" y="1234809"/>
                </a:cubicBezTo>
                <a:cubicBezTo>
                  <a:pt x="8924" y="1284286"/>
                  <a:pt x="8924" y="1284286"/>
                  <a:pt x="8924" y="1284286"/>
                </a:cubicBezTo>
                <a:cubicBezTo>
                  <a:pt x="196318" y="1429472"/>
                  <a:pt x="196318" y="1429472"/>
                  <a:pt x="196318" y="1429472"/>
                </a:cubicBezTo>
                <a:cubicBezTo>
                  <a:pt x="384119" y="1286719"/>
                  <a:pt x="384119" y="1286719"/>
                  <a:pt x="384119" y="1286719"/>
                </a:cubicBezTo>
                <a:cubicBezTo>
                  <a:pt x="196724" y="1141534"/>
                  <a:pt x="196724" y="1141534"/>
                  <a:pt x="196724" y="1141534"/>
                </a:cubicBezTo>
                <a:cubicBezTo>
                  <a:pt x="74227" y="1234403"/>
                  <a:pt x="74227" y="1234403"/>
                  <a:pt x="74227" y="1234403"/>
                </a:cubicBezTo>
                <a:cubicBezTo>
                  <a:pt x="67332" y="1231159"/>
                  <a:pt x="67332" y="1231159"/>
                  <a:pt x="67332" y="1231159"/>
                </a:cubicBezTo>
                <a:cubicBezTo>
                  <a:pt x="191856" y="1136667"/>
                  <a:pt x="191856" y="1136667"/>
                  <a:pt x="191856" y="1136667"/>
                </a:cubicBezTo>
                <a:cubicBezTo>
                  <a:pt x="191856" y="1044607"/>
                  <a:pt x="191856" y="1044607"/>
                  <a:pt x="191856" y="1044607"/>
                </a:cubicBezTo>
                <a:cubicBezTo>
                  <a:pt x="198752" y="1045419"/>
                  <a:pt x="198752" y="1045419"/>
                  <a:pt x="198752" y="1045419"/>
                </a:cubicBezTo>
                <a:cubicBezTo>
                  <a:pt x="198752" y="1133828"/>
                  <a:pt x="198752" y="1133828"/>
                  <a:pt x="198752" y="1133828"/>
                </a:cubicBezTo>
                <a:cubicBezTo>
                  <a:pt x="384524" y="1278203"/>
                  <a:pt x="384524" y="1278203"/>
                  <a:pt x="384524" y="1278203"/>
                </a:cubicBezTo>
                <a:cubicBezTo>
                  <a:pt x="384524" y="1099762"/>
                  <a:pt x="384524" y="1099762"/>
                  <a:pt x="384524" y="1099762"/>
                </a:cubicBezTo>
                <a:cubicBezTo>
                  <a:pt x="296912" y="1032037"/>
                  <a:pt x="296912" y="1032037"/>
                  <a:pt x="296912" y="1032037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388175" y="1094085"/>
                  <a:pt x="388175" y="1094085"/>
                  <a:pt x="388175" y="1094085"/>
                </a:cubicBezTo>
                <a:cubicBezTo>
                  <a:pt x="575977" y="951332"/>
                  <a:pt x="575977" y="951332"/>
                  <a:pt x="575977" y="951332"/>
                </a:cubicBezTo>
                <a:cubicBezTo>
                  <a:pt x="434822" y="841835"/>
                  <a:pt x="434822" y="841835"/>
                  <a:pt x="434822" y="841835"/>
                </a:cubicBezTo>
                <a:cubicBezTo>
                  <a:pt x="438878" y="836158"/>
                  <a:pt x="438878" y="836158"/>
                  <a:pt x="438878" y="836158"/>
                </a:cubicBezTo>
                <a:cubicBezTo>
                  <a:pt x="578816" y="944843"/>
                  <a:pt x="578816" y="944843"/>
                  <a:pt x="578816" y="944843"/>
                </a:cubicBezTo>
                <a:cubicBezTo>
                  <a:pt x="578816" y="766808"/>
                  <a:pt x="578816" y="766808"/>
                  <a:pt x="578816" y="766808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525274" y="716927"/>
                  <a:pt x="525274" y="716927"/>
                  <a:pt x="525274" y="716927"/>
                </a:cubicBezTo>
                <a:cubicBezTo>
                  <a:pt x="582061" y="761131"/>
                  <a:pt x="582061" y="761131"/>
                  <a:pt x="582061" y="761131"/>
                </a:cubicBezTo>
                <a:cubicBezTo>
                  <a:pt x="769862" y="618379"/>
                  <a:pt x="769862" y="618379"/>
                  <a:pt x="769862" y="618379"/>
                </a:cubicBezTo>
                <a:cubicBezTo>
                  <a:pt x="582872" y="472787"/>
                  <a:pt x="582872" y="472787"/>
                  <a:pt x="582872" y="472787"/>
                </a:cubicBezTo>
                <a:cubicBezTo>
                  <a:pt x="395071" y="615540"/>
                  <a:pt x="395071" y="615540"/>
                  <a:pt x="395071" y="615540"/>
                </a:cubicBezTo>
                <a:cubicBezTo>
                  <a:pt x="524868" y="716521"/>
                  <a:pt x="524868" y="716521"/>
                  <a:pt x="524868" y="716521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392637" y="622434"/>
                  <a:pt x="392637" y="622434"/>
                  <a:pt x="392637" y="622434"/>
                </a:cubicBezTo>
                <a:cubicBezTo>
                  <a:pt x="392637" y="800875"/>
                  <a:pt x="392637" y="800875"/>
                  <a:pt x="392637" y="800875"/>
                </a:cubicBezTo>
                <a:cubicBezTo>
                  <a:pt x="438472" y="836158"/>
                  <a:pt x="438472" y="836158"/>
                  <a:pt x="438472" y="836158"/>
                </a:cubicBezTo>
                <a:cubicBezTo>
                  <a:pt x="434416" y="841430"/>
                  <a:pt x="434416" y="841430"/>
                  <a:pt x="434416" y="841430"/>
                </a:cubicBezTo>
                <a:cubicBezTo>
                  <a:pt x="391015" y="807769"/>
                  <a:pt x="391015" y="807769"/>
                  <a:pt x="391015" y="807769"/>
                </a:cubicBezTo>
                <a:cubicBezTo>
                  <a:pt x="203214" y="950521"/>
                  <a:pt x="203214" y="950521"/>
                  <a:pt x="203214" y="950521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296912" y="1031630"/>
                  <a:pt x="296912" y="1031630"/>
                  <a:pt x="296912" y="1031630"/>
                </a:cubicBezTo>
                <a:cubicBezTo>
                  <a:pt x="198752" y="955388"/>
                  <a:pt x="198752" y="955388"/>
                  <a:pt x="198752" y="955388"/>
                </a:cubicBezTo>
                <a:cubicBezTo>
                  <a:pt x="198752" y="1045013"/>
                  <a:pt x="198752" y="1045013"/>
                  <a:pt x="198752" y="1045013"/>
                </a:cubicBezTo>
                <a:cubicBezTo>
                  <a:pt x="191856" y="1044202"/>
                  <a:pt x="191856" y="1044202"/>
                  <a:pt x="191856" y="1044202"/>
                </a:cubicBezTo>
                <a:cubicBezTo>
                  <a:pt x="191856" y="952954"/>
                  <a:pt x="191856" y="952954"/>
                  <a:pt x="191856" y="952954"/>
                </a:cubicBezTo>
                <a:cubicBezTo>
                  <a:pt x="183744" y="946465"/>
                  <a:pt x="183744" y="946465"/>
                  <a:pt x="183744" y="946465"/>
                </a:cubicBezTo>
                <a:cubicBezTo>
                  <a:pt x="183744" y="937949"/>
                  <a:pt x="183744" y="937949"/>
                  <a:pt x="183744" y="937949"/>
                </a:cubicBezTo>
                <a:cubicBezTo>
                  <a:pt x="192668" y="944843"/>
                  <a:pt x="192668" y="944843"/>
                  <a:pt x="192668" y="944843"/>
                </a:cubicBezTo>
                <a:cubicBezTo>
                  <a:pt x="192668" y="766808"/>
                  <a:pt x="192668" y="766808"/>
                  <a:pt x="192668" y="766808"/>
                </a:cubicBezTo>
                <a:cubicBezTo>
                  <a:pt x="183744" y="759914"/>
                  <a:pt x="183744" y="759914"/>
                  <a:pt x="183744" y="759914"/>
                </a:cubicBezTo>
                <a:cubicBezTo>
                  <a:pt x="183744" y="751398"/>
                  <a:pt x="183744" y="751398"/>
                  <a:pt x="183744" y="751398"/>
                </a:cubicBezTo>
                <a:cubicBezTo>
                  <a:pt x="196318" y="761131"/>
                  <a:pt x="196318" y="761131"/>
                  <a:pt x="196318" y="761131"/>
                </a:cubicBezTo>
                <a:cubicBezTo>
                  <a:pt x="384119" y="618379"/>
                  <a:pt x="384119" y="618379"/>
                  <a:pt x="384119" y="618379"/>
                </a:cubicBezTo>
                <a:cubicBezTo>
                  <a:pt x="196724" y="472787"/>
                  <a:pt x="196724" y="472787"/>
                  <a:pt x="196724" y="472787"/>
                </a:cubicBezTo>
                <a:cubicBezTo>
                  <a:pt x="8924" y="615540"/>
                  <a:pt x="8924" y="615540"/>
                  <a:pt x="8924" y="615540"/>
                </a:cubicBezTo>
                <a:cubicBezTo>
                  <a:pt x="183339" y="750992"/>
                  <a:pt x="183339" y="750992"/>
                  <a:pt x="183339" y="750992"/>
                </a:cubicBezTo>
                <a:cubicBezTo>
                  <a:pt x="183339" y="759508"/>
                  <a:pt x="183339" y="759508"/>
                  <a:pt x="183339" y="759508"/>
                </a:cubicBezTo>
                <a:cubicBezTo>
                  <a:pt x="6490" y="622434"/>
                  <a:pt x="6490" y="622434"/>
                  <a:pt x="6490" y="622434"/>
                </a:cubicBezTo>
                <a:cubicBezTo>
                  <a:pt x="6490" y="800875"/>
                  <a:pt x="6490" y="800875"/>
                  <a:pt x="6490" y="800875"/>
                </a:cubicBezTo>
                <a:lnTo>
                  <a:pt x="183339" y="937544"/>
                </a:lnTo>
                <a:cubicBezTo>
                  <a:pt x="183339" y="946060"/>
                  <a:pt x="183339" y="946060"/>
                  <a:pt x="183339" y="946060"/>
                </a:cubicBezTo>
                <a:cubicBezTo>
                  <a:pt x="0" y="804119"/>
                  <a:pt x="0" y="804119"/>
                  <a:pt x="0" y="804119"/>
                </a:cubicBezTo>
                <a:cubicBezTo>
                  <a:pt x="0" y="613917"/>
                  <a:pt x="0" y="613917"/>
                  <a:pt x="0" y="613917"/>
                </a:cubicBezTo>
                <a:cubicBezTo>
                  <a:pt x="191856" y="468327"/>
                  <a:pt x="191856" y="468327"/>
                  <a:pt x="191856" y="468327"/>
                </a:cubicBezTo>
                <a:cubicBezTo>
                  <a:pt x="191856" y="289076"/>
                  <a:pt x="191856" y="289076"/>
                  <a:pt x="191856" y="289076"/>
                </a:cubicBezTo>
                <a:cubicBezTo>
                  <a:pt x="198752" y="294348"/>
                  <a:pt x="198752" y="294348"/>
                  <a:pt x="198752" y="294348"/>
                </a:cubicBezTo>
                <a:cubicBezTo>
                  <a:pt x="198752" y="465488"/>
                  <a:pt x="198752" y="465488"/>
                  <a:pt x="198752" y="465488"/>
                </a:cubicBezTo>
                <a:cubicBezTo>
                  <a:pt x="384524" y="609862"/>
                  <a:pt x="384524" y="609862"/>
                  <a:pt x="384524" y="609862"/>
                </a:cubicBezTo>
                <a:cubicBezTo>
                  <a:pt x="384524" y="431828"/>
                  <a:pt x="384524" y="431828"/>
                  <a:pt x="384524" y="431828"/>
                </a:cubicBezTo>
                <a:cubicBezTo>
                  <a:pt x="198752" y="287453"/>
                  <a:pt x="198752" y="287453"/>
                  <a:pt x="198752" y="287453"/>
                </a:cubicBezTo>
                <a:cubicBezTo>
                  <a:pt x="198752" y="293942"/>
                  <a:pt x="198752" y="293942"/>
                  <a:pt x="198752" y="293942"/>
                </a:cubicBezTo>
                <a:cubicBezTo>
                  <a:pt x="191856" y="288670"/>
                  <a:pt x="191856" y="288670"/>
                  <a:pt x="191856" y="288670"/>
                </a:cubicBezTo>
                <a:cubicBezTo>
                  <a:pt x="191856" y="278937"/>
                  <a:pt x="191856" y="278937"/>
                  <a:pt x="191856" y="278937"/>
                </a:cubicBezTo>
                <a:cubicBezTo>
                  <a:pt x="377629" y="137401"/>
                  <a:pt x="377629" y="137401"/>
                  <a:pt x="377629" y="137401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200780" y="280559"/>
                  <a:pt x="200780" y="280559"/>
                  <a:pt x="200780" y="280559"/>
                </a:cubicBezTo>
                <a:cubicBezTo>
                  <a:pt x="388175" y="425745"/>
                  <a:pt x="388175" y="425745"/>
                  <a:pt x="388175" y="425745"/>
                </a:cubicBezTo>
                <a:cubicBezTo>
                  <a:pt x="575977" y="282993"/>
                  <a:pt x="575977" y="282993"/>
                  <a:pt x="575977" y="282993"/>
                </a:cubicBezTo>
                <a:cubicBezTo>
                  <a:pt x="388580" y="137807"/>
                  <a:pt x="388580" y="137807"/>
                  <a:pt x="388580" y="137807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378035" y="137401"/>
                  <a:pt x="378035" y="137401"/>
                  <a:pt x="378035" y="137401"/>
                </a:cubicBezTo>
                <a:cubicBezTo>
                  <a:pt x="386147" y="131318"/>
                  <a:pt x="386147" y="131318"/>
                  <a:pt x="386147" y="131318"/>
                </a:cubicBezTo>
                <a:cubicBezTo>
                  <a:pt x="386147" y="59650"/>
                  <a:pt x="386147" y="21577"/>
                  <a:pt x="386147" y="1350"/>
                </a:cubicBezTo>
                <a:close/>
              </a:path>
            </a:pathLst>
          </a:custGeom>
          <a:gradFill flip="none" rotWithShape="1">
            <a:gsLst>
              <a:gs pos="7000">
                <a:schemeClr val="bg1"/>
              </a:gs>
              <a:gs pos="26000">
                <a:schemeClr val="bg1">
                  <a:alpha val="80000"/>
                </a:schemeClr>
              </a:gs>
            </a:gsLst>
            <a:lin ang="0" scaled="1"/>
            <a:tileRect/>
          </a:gradFill>
        </p:spPr>
        <p:txBody>
          <a:bodyPr wrap="square" lIns="2160000" rIns="756000" anchor="ctr">
            <a:noAutofit/>
          </a:bodyPr>
          <a:lstStyle>
            <a:lvl1pPr>
              <a:defRPr/>
            </a:lvl1pPr>
          </a:lstStyle>
          <a:p>
            <a:pPr lvl="0"/>
            <a:r>
              <a:rPr lang="fr-FR" dirty="0"/>
              <a:t>Cliquez pour modifier les styles du texte du masque  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B62CD770-3131-7686-5D22-0AC580D9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7250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Process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8A6D559-B5F2-C10A-5216-55551821C047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09039" y="1866901"/>
            <a:ext cx="1409699" cy="1409700"/>
          </a:xfrm>
          <a:solidFill>
            <a:srgbClr val="000000"/>
          </a:solidFill>
        </p:spPr>
        <p:txBody>
          <a:bodyPr lIns="36000" tIns="36000" rIns="36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A89DC66-E329-2BA7-093B-F605D23EBE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6EBAB840-A288-E4AE-DD2B-ABD52849168F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123108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3E9C6ABE-0C15-ECEA-4B26-53769D8EA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7957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24B29917-CE4F-A965-FAA6-E3B453333B7E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337177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6F1352A1-512B-F388-3483-16D51BDD2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2026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C4BAD260-C56B-B79F-C093-46D3C16BCC87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7551246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E3294DD8-C0C7-7FF7-2AF0-2A6B1C7861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6095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43259EC-B8D8-255D-A2B2-B6984873CA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765314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24D806FB-89F5-15B1-42D4-FB45DB6CC6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80163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501BFA8-B9A9-BC60-9090-AC04B424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60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Process 2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0E4F447-1473-CEC3-0C4B-859E1566BDE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7318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7F676C8B-EE69-3CAC-C9F6-BFDEFD052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5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89215B80-BD0F-D77B-4046-84DBB6530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50698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50E15DEA-ADB9-4EAD-9B8B-400BF2AF4F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423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31D594DF-B2F9-BDEA-68CF-C1C92B869A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1440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4EB8106A-BAE6-87F6-A881-562ED8FA41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68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FA8E9A1-911D-DD9D-7A76-ADDB4C2E4317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2908981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89C62950-23F5-0C27-DBF0-B851B616C800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1006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ABF9A6B1-3BC9-0F8E-8148-B1CF03BB61CA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7219723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8" name="Espace réservé du texte 11">
            <a:extLst>
              <a:ext uri="{FF2B5EF4-FFF2-40B4-BE49-F238E27FC236}">
                <a16:creationId xmlns:a16="http://schemas.microsoft.com/office/drawing/2014/main" id="{97EC53BB-3B6C-3AF7-68E1-48C8465AC20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386855" y="1583490"/>
            <a:ext cx="1652399" cy="16524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D2C0AC3-31B7-69C8-1880-96C477E5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324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FIN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6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39232968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734798"/>
            <a:ext cx="3563937" cy="179886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t>FIN CEA-Leti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3843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1" y="6163479"/>
            <a:ext cx="1295400" cy="263878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897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FIN Gris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5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0514183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Gris CEA-Let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FIN </a:t>
            </a:r>
            <a:r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t>Gris CEA-Leti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502833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88" y="721970"/>
            <a:ext cx="3566187" cy="1800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1" y="6163479"/>
            <a:ext cx="1295400" cy="26387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823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Contact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Prénom NOM = 1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 -  Email / Tél, =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31838" y="726066"/>
            <a:ext cx="1806198" cy="1806198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2219D0D-87E0-357C-56D2-13A29A891F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0" y="5892800"/>
            <a:ext cx="3357563" cy="558800"/>
          </a:xfrm>
        </p:spPr>
        <p:txBody>
          <a:bodyPr rIns="0">
            <a:normAutofit/>
          </a:bodyPr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2670384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EA-Let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t>Contact CEA-Leti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Prénom NOM = 1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 -  Email / Tél, =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2" y="729000"/>
            <a:ext cx="3566187" cy="1800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2F5FE-77B2-23B0-C532-AEB2E287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81125"/>
            <a:ext cx="10728325" cy="4532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</a:t>
            </a:r>
            <a:r>
              <a:rPr lang="fr-FR" dirty="0"/>
              <a:t>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23659-435A-02ED-1399-865530A1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26600" y="6344083"/>
            <a:ext cx="1016000" cy="3651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35D0C-47E7-5C23-F3E1-F607F10E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600" y="6344083"/>
            <a:ext cx="8839200" cy="3651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8E43D-0343-547B-3EBE-C6B616E5A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4083"/>
            <a:ext cx="693738" cy="3651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PATTERN CARRE DECAL" hidden="1">
            <a:extLst>
              <a:ext uri="{FF2B5EF4-FFF2-40B4-BE49-F238E27FC236}">
                <a16:creationId xmlns:a16="http://schemas.microsoft.com/office/drawing/2014/main" id="{57B8022F-6BAC-B272-714C-3051A2DF82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7446433" y="-1"/>
            <a:ext cx="4745567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60" r:id="rId3"/>
    <p:sldLayoutId id="2147483696" r:id="rId4"/>
    <p:sldLayoutId id="2147483664" r:id="rId5"/>
    <p:sldLayoutId id="2147483665" r:id="rId6"/>
    <p:sldLayoutId id="2147483651" r:id="rId7"/>
    <p:sldLayoutId id="2147483683" r:id="rId8"/>
    <p:sldLayoutId id="2147483678" r:id="rId9"/>
    <p:sldLayoutId id="2147483676" r:id="rId10"/>
    <p:sldLayoutId id="2147483650" r:id="rId11"/>
    <p:sldLayoutId id="2147483666" r:id="rId12"/>
    <p:sldLayoutId id="2147483669" r:id="rId13"/>
    <p:sldLayoutId id="2147483653" r:id="rId14"/>
    <p:sldLayoutId id="2147483685" r:id="rId15"/>
    <p:sldLayoutId id="2147483684" r:id="rId16"/>
    <p:sldLayoutId id="2147483671" r:id="rId17"/>
    <p:sldLayoutId id="2147483690" r:id="rId18"/>
    <p:sldLayoutId id="2147483672" r:id="rId19"/>
    <p:sldLayoutId id="2147483687" r:id="rId20"/>
    <p:sldLayoutId id="2147483686" r:id="rId21"/>
    <p:sldLayoutId id="2147483654" r:id="rId22"/>
    <p:sldLayoutId id="2147483655" r:id="rId23"/>
    <p:sldLayoutId id="2147483691" r:id="rId24"/>
    <p:sldLayoutId id="2147483692" r:id="rId25"/>
    <p:sldLayoutId id="2147483667" r:id="rId26"/>
    <p:sldLayoutId id="2147483673" r:id="rId27"/>
    <p:sldLayoutId id="2147483674" r:id="rId28"/>
    <p:sldLayoutId id="2147483675" r:id="rId29"/>
    <p:sldLayoutId id="2147483681" r:id="rId30"/>
    <p:sldLayoutId id="2147483682" r:id="rId31"/>
    <p:sldLayoutId id="2147483693" r:id="rId32"/>
    <p:sldLayoutId id="2147483688" r:id="rId33"/>
    <p:sldLayoutId id="2147483689" r:id="rId34"/>
    <p:sldLayoutId id="2147483662" r:id="rId35"/>
    <p:sldLayoutId id="2147483695" r:id="rId36"/>
    <p:sldLayoutId id="2147483694" r:id="rId37"/>
    <p:sldLayoutId id="2147483697" r:id="rId38"/>
    <p:sldLayoutId id="2147483668" r:id="rId39"/>
    <p:sldLayoutId id="2147483698" r:id="rId4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SzPct val="9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274638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59" userDrawn="1">
          <p15:clr>
            <a:srgbClr val="F26B43"/>
          </p15:clr>
        </p15:guide>
        <p15:guide id="2" orient="horz" pos="3861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  <p15:guide id="7" orient="horz" pos="37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rxiv.org/abs/2102.12092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6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5" Type="http://schemas.openxmlformats.org/officeDocument/2006/relationships/image" Target="../media/image116.png"/><Relationship Id="rId4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" Type="http://schemas.openxmlformats.org/officeDocument/2006/relationships/image" Target="../media/image47.png"/><Relationship Id="rId21" Type="http://schemas.openxmlformats.org/officeDocument/2006/relationships/image" Target="../media/image147.png"/><Relationship Id="rId34" Type="http://schemas.openxmlformats.org/officeDocument/2006/relationships/image" Target="../media/image44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3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29" Type="http://schemas.openxmlformats.org/officeDocument/2006/relationships/image" Target="../media/image15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24" Type="http://schemas.openxmlformats.org/officeDocument/2006/relationships/image" Target="../media/image150.png"/><Relationship Id="rId32" Type="http://schemas.openxmlformats.org/officeDocument/2006/relationships/image" Target="../media/image157.png"/><Relationship Id="rId5" Type="http://schemas.openxmlformats.org/officeDocument/2006/relationships/image" Target="../media/image65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31" Type="http://schemas.openxmlformats.org/officeDocument/2006/relationships/image" Target="../media/image156.png"/><Relationship Id="rId4" Type="http://schemas.openxmlformats.org/officeDocument/2006/relationships/image" Target="../media/image64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image" Target="../media/image66.png"/><Relationship Id="rId21" Type="http://schemas.openxmlformats.org/officeDocument/2006/relationships/image" Target="../media/image176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2.png"/><Relationship Id="rId20" Type="http://schemas.openxmlformats.org/officeDocument/2006/relationships/image" Target="../media/image17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19" Type="http://schemas.openxmlformats.org/officeDocument/2006/relationships/image" Target="../media/image174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9.png"/><Relationship Id="rId7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7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7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29F44-1983-5C84-836C-29E0780A2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186" y="2043567"/>
            <a:ext cx="5713914" cy="1309234"/>
          </a:xfrm>
          <a:effectLst/>
        </p:spPr>
        <p:txBody>
          <a:bodyPr>
            <a:normAutofit/>
          </a:bodyPr>
          <a:lstStyle/>
          <a:p>
            <a:r>
              <a:rPr lang="en-US" smtClean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CLIP it real</a:t>
            </a:r>
            <a:endParaRPr lang="en-US" noProof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37B58D-9A96-1DE6-DF53-DC3249088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185" y="4258455"/>
            <a:ext cx="3844955" cy="165576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noProof="0" smtClean="0"/>
              <a:t>MeetUp Grenoble</a:t>
            </a:r>
          </a:p>
          <a:p>
            <a:r>
              <a:rPr lang="en-US" noProof="0" smtClean="0"/>
              <a:t>Clément DOUARRE</a:t>
            </a:r>
          </a:p>
          <a:p>
            <a:r>
              <a:rPr lang="en-US" smtClean="0"/>
              <a:t>26/10/23</a:t>
            </a:r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C829F44-1983-5C84-836C-29E0780A2BD4}"/>
              </a:ext>
            </a:extLst>
          </p:cNvPr>
          <p:cNvSpPr txBox="1">
            <a:spLocks/>
          </p:cNvSpPr>
          <p:nvPr/>
        </p:nvSpPr>
        <p:spPr>
          <a:xfrm>
            <a:off x="801186" y="2167391"/>
            <a:ext cx="5713914" cy="1587501"/>
          </a:xfrm>
          <a:prstGeom prst="rect">
            <a:avLst/>
          </a:prstGeom>
          <a:effectLst/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912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866" y="1070649"/>
            <a:ext cx="4473045" cy="53348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77" y="1068251"/>
            <a:ext cx="5861527" cy="53227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Foundation models : a </a:t>
            </a:r>
            <a:r>
              <a:rPr lang="fr-FR" smtClean="0"/>
              <a:t>« </a:t>
            </a:r>
            <a:r>
              <a:rPr lang="en-US" smtClean="0"/>
              <a:t>paradigm shift</a:t>
            </a:r>
            <a:r>
              <a:rPr lang="fr-FR"/>
              <a:t> » </a:t>
            </a:r>
            <a:r>
              <a:rPr lang="en-US" baseline="30000" smtClean="0"/>
              <a:t>1</a:t>
            </a:r>
            <a:r>
              <a:rPr lang="en-US" smtClean="0"/>
              <a:t> in AI ?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11779"/>
            <a:ext cx="51443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On the Opportunities and Risks of Foundation Models</a:t>
            </a:r>
            <a:r>
              <a:rPr lang="en-US" sz="1000" smtClean="0"/>
              <a:t>, Bommasani (Stanford) (2022)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7553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2" y="3559072"/>
            <a:ext cx="1775847" cy="877477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3362606" y="3406192"/>
            <a:ext cx="1035927" cy="1202415"/>
          </a:xfrm>
          <a:prstGeom prst="rect">
            <a:avLst/>
          </a:prstGeom>
        </p:spPr>
      </p:pic>
      <p:sp>
        <p:nvSpPr>
          <p:cNvPr id="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Foundation models : a </a:t>
            </a:r>
            <a:r>
              <a:rPr lang="fr-FR" smtClean="0"/>
              <a:t>« </a:t>
            </a:r>
            <a:r>
              <a:rPr lang="en-US" smtClean="0"/>
              <a:t>paradigm shift</a:t>
            </a:r>
            <a:r>
              <a:rPr lang="fr-FR"/>
              <a:t> » </a:t>
            </a:r>
            <a:r>
              <a:rPr lang="en-US" b="1" baseline="30000" smtClean="0"/>
              <a:t>1</a:t>
            </a:r>
            <a:r>
              <a:rPr lang="en-US" smtClean="0"/>
              <a:t> in AI ?</a:t>
            </a:r>
            <a:endParaRPr lang="en-US"/>
          </a:p>
        </p:txBody>
      </p:sp>
      <p:sp>
        <p:nvSpPr>
          <p:cNvPr id="6" name="ZoneTexte 5"/>
          <p:cNvSpPr txBox="1"/>
          <p:nvPr/>
        </p:nvSpPr>
        <p:spPr>
          <a:xfrm>
            <a:off x="331352" y="4573463"/>
            <a:ext cx="27527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Dataset</a:t>
            </a:r>
            <a:r>
              <a:rPr lang="fr-FR" sz="1200" smtClean="0"/>
              <a:t> : ~ 100 images (for human training).</a:t>
            </a:r>
          </a:p>
          <a:p>
            <a:pPr algn="just"/>
            <a:endParaRPr lang="fr-FR" sz="1200" b="1" smtClean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Instruction</a:t>
            </a:r>
            <a:r>
              <a:rPr lang="fr-FR" sz="1200" smtClean="0"/>
              <a:t> : « If you find a number of red pixels over this threshold and a shape round enough, image contains an apple. »</a:t>
            </a:r>
            <a:endParaRPr lang="en-US" sz="1200"/>
          </a:p>
        </p:txBody>
      </p:sp>
      <p:sp>
        <p:nvSpPr>
          <p:cNvPr id="7" name="ZoneTexte 6"/>
          <p:cNvSpPr txBox="1"/>
          <p:nvPr/>
        </p:nvSpPr>
        <p:spPr>
          <a:xfrm>
            <a:off x="3084078" y="4542667"/>
            <a:ext cx="29652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Dataset</a:t>
            </a:r>
            <a:r>
              <a:rPr lang="fr-FR" sz="1200" smtClean="0"/>
              <a:t> : ~ 1K labeled images with and without apples.</a:t>
            </a:r>
          </a:p>
          <a:p>
            <a:pPr algn="just"/>
            <a:endParaRPr lang="fr-FR" sz="1200" smtClean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Instruction</a:t>
            </a:r>
            <a:r>
              <a:rPr lang="fr-FR" sz="1200" smtClean="0"/>
              <a:t> : « Look for red and circles to figure out if image is apple.»</a:t>
            </a:r>
          </a:p>
          <a:p>
            <a:pPr algn="just"/>
            <a:endParaRPr lang="fr-FR" sz="12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Homogenization of </a:t>
            </a:r>
            <a:r>
              <a:rPr lang="fr-FR" sz="1200" smtClean="0"/>
              <a:t>:</a:t>
            </a:r>
          </a:p>
          <a:p>
            <a:pPr algn="just"/>
            <a:r>
              <a:rPr lang="fr-FR" sz="1200"/>
              <a:t> </a:t>
            </a:r>
            <a:r>
              <a:rPr lang="fr-FR" sz="1200" smtClean="0"/>
              <a:t>   classification algorithms.</a:t>
            </a:r>
            <a:endParaRPr lang="en-US" sz="1200" b="1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701" y="1047009"/>
            <a:ext cx="1002797" cy="1103224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6147508" y="4556812"/>
            <a:ext cx="2567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Dataset</a:t>
            </a:r>
            <a:r>
              <a:rPr lang="fr-FR" sz="1200" smtClean="0"/>
              <a:t> : ~ 1M labeled images with and without apples.</a:t>
            </a:r>
          </a:p>
          <a:p>
            <a:pPr algn="just"/>
            <a:endParaRPr lang="fr-FR" sz="1200" smtClean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Instruction</a:t>
            </a:r>
            <a:r>
              <a:rPr lang="fr-FR" sz="1200" smtClean="0"/>
              <a:t> : « Figure out if this image contains an apple.»</a:t>
            </a:r>
          </a:p>
          <a:p>
            <a:pPr algn="just"/>
            <a:endParaRPr lang="fr-FR" sz="12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Homogenization </a:t>
            </a:r>
            <a:r>
              <a:rPr lang="fr-FR" sz="1200" b="1"/>
              <a:t>of </a:t>
            </a:r>
            <a:r>
              <a:rPr lang="fr-FR" sz="1200"/>
              <a:t>:</a:t>
            </a:r>
          </a:p>
          <a:p>
            <a:pPr algn="just"/>
            <a:r>
              <a:rPr lang="fr-FR" sz="1200"/>
              <a:t>    </a:t>
            </a:r>
            <a:r>
              <a:rPr lang="fr-FR" sz="1200" smtClean="0"/>
              <a:t>feature extraction algorithms.</a:t>
            </a:r>
            <a:endParaRPr lang="en-US" sz="1200" b="1"/>
          </a:p>
        </p:txBody>
      </p:sp>
      <p:sp>
        <p:nvSpPr>
          <p:cNvPr id="12" name="ZoneTexte 11"/>
          <p:cNvSpPr txBox="1"/>
          <p:nvPr/>
        </p:nvSpPr>
        <p:spPr>
          <a:xfrm>
            <a:off x="8812888" y="4556812"/>
            <a:ext cx="3109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Dataset</a:t>
            </a:r>
            <a:r>
              <a:rPr lang="fr-FR" sz="1200" smtClean="0"/>
              <a:t> : ~ 1B weakly labeled/ unlabeled images not nec. apple related.</a:t>
            </a:r>
          </a:p>
          <a:p>
            <a:pPr algn="just"/>
            <a:endParaRPr lang="fr-FR" sz="1200" smtClean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 smtClean="0"/>
              <a:t>Instruction</a:t>
            </a:r>
            <a:r>
              <a:rPr lang="fr-FR" sz="1200" smtClean="0"/>
              <a:t> : « Figure out if this image contains an apple.»</a:t>
            </a:r>
          </a:p>
          <a:p>
            <a:pPr algn="just"/>
            <a:endParaRPr lang="fr-FR" sz="12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200" b="1"/>
              <a:t>Homogenization of </a:t>
            </a:r>
            <a:r>
              <a:rPr lang="fr-FR" sz="1200" smtClean="0"/>
              <a:t>: </a:t>
            </a:r>
          </a:p>
          <a:p>
            <a:pPr algn="just"/>
            <a:r>
              <a:rPr lang="fr-FR" sz="1200"/>
              <a:t> </a:t>
            </a:r>
            <a:r>
              <a:rPr lang="fr-FR" sz="1200" smtClean="0"/>
              <a:t>   tasks.</a:t>
            </a:r>
            <a:endParaRPr lang="en-US" sz="1200" b="1"/>
          </a:p>
        </p:txBody>
      </p:sp>
      <p:sp>
        <p:nvSpPr>
          <p:cNvPr id="13" name="ZoneTexte 12"/>
          <p:cNvSpPr txBox="1"/>
          <p:nvPr/>
        </p:nvSpPr>
        <p:spPr>
          <a:xfrm>
            <a:off x="641859" y="2963025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smtClean="0"/>
              <a:t>Specialized algorithms</a:t>
            </a:r>
            <a:endParaRPr lang="en-US" sz="1600" b="1"/>
          </a:p>
        </p:txBody>
      </p:sp>
      <p:sp>
        <p:nvSpPr>
          <p:cNvPr id="14" name="ZoneTexte 13"/>
          <p:cNvSpPr txBox="1"/>
          <p:nvPr/>
        </p:nvSpPr>
        <p:spPr>
          <a:xfrm>
            <a:off x="3441915" y="2942828"/>
            <a:ext cx="2403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smtClean="0"/>
              <a:t>«Traditional » (GOF) Machine Learning</a:t>
            </a:r>
            <a:endParaRPr lang="en-US" sz="1600" b="1"/>
          </a:p>
        </p:txBody>
      </p:sp>
      <p:sp>
        <p:nvSpPr>
          <p:cNvPr id="15" name="ZoneTexte 14"/>
          <p:cNvSpPr txBox="1"/>
          <p:nvPr/>
        </p:nvSpPr>
        <p:spPr>
          <a:xfrm>
            <a:off x="6388735" y="3069229"/>
            <a:ext cx="1819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smtClean="0"/>
              <a:t>Deep Learning</a:t>
            </a:r>
            <a:endParaRPr lang="en-US" sz="1600" b="1"/>
          </a:p>
        </p:txBody>
      </p:sp>
      <p:sp>
        <p:nvSpPr>
          <p:cNvPr id="16" name="ZoneTexte 15"/>
          <p:cNvSpPr txBox="1"/>
          <p:nvPr/>
        </p:nvSpPr>
        <p:spPr>
          <a:xfrm>
            <a:off x="9361913" y="3010160"/>
            <a:ext cx="2060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smtClean="0"/>
              <a:t>Foundation</a:t>
            </a:r>
            <a:r>
              <a:rPr lang="fr-FR" sz="1600" smtClean="0"/>
              <a:t> </a:t>
            </a:r>
            <a:r>
              <a:rPr lang="fr-FR" sz="1600" b="1" smtClean="0"/>
              <a:t>models</a:t>
            </a:r>
            <a:endParaRPr lang="en-US" sz="1600" b="1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811" y="3532677"/>
            <a:ext cx="1465478" cy="888697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6"/>
          <a:srcRect t="12851" b="2232"/>
          <a:stretch/>
        </p:blipFill>
        <p:spPr>
          <a:xfrm>
            <a:off x="9490907" y="3490098"/>
            <a:ext cx="1692631" cy="1015426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2984186" y="1285929"/>
            <a:ext cx="3793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smtClean="0"/>
              <a:t>How do we teach a computer to detect if an image contains an apple ?</a:t>
            </a:r>
            <a:endParaRPr lang="en-US" sz="1600"/>
          </a:p>
        </p:txBody>
      </p:sp>
      <p:sp>
        <p:nvSpPr>
          <p:cNvPr id="22" name="Pentagone 21"/>
          <p:cNvSpPr/>
          <p:nvPr/>
        </p:nvSpPr>
        <p:spPr>
          <a:xfrm>
            <a:off x="588400" y="2491181"/>
            <a:ext cx="11268064" cy="344934"/>
          </a:xfrm>
          <a:prstGeom prst="homePlat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3" name="ZoneTexte 22"/>
          <p:cNvSpPr txBox="1"/>
          <p:nvPr/>
        </p:nvSpPr>
        <p:spPr>
          <a:xfrm>
            <a:off x="3971267" y="2484462"/>
            <a:ext cx="852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smtClean="0"/>
              <a:t>1990s</a:t>
            </a:r>
            <a:endParaRPr lang="en-US" sz="1600"/>
          </a:p>
        </p:txBody>
      </p:sp>
      <p:sp>
        <p:nvSpPr>
          <p:cNvPr id="24" name="ZoneTexte 23"/>
          <p:cNvSpPr txBox="1"/>
          <p:nvPr/>
        </p:nvSpPr>
        <p:spPr>
          <a:xfrm>
            <a:off x="6871910" y="2482508"/>
            <a:ext cx="852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smtClean="0"/>
              <a:t>2010s</a:t>
            </a:r>
            <a:endParaRPr lang="en-US" sz="1600"/>
          </a:p>
        </p:txBody>
      </p:sp>
      <p:sp>
        <p:nvSpPr>
          <p:cNvPr id="25" name="ZoneTexte 24"/>
          <p:cNvSpPr txBox="1"/>
          <p:nvPr/>
        </p:nvSpPr>
        <p:spPr>
          <a:xfrm>
            <a:off x="9817739" y="2497561"/>
            <a:ext cx="852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smtClean="0"/>
              <a:t>2020s</a:t>
            </a:r>
            <a:endParaRPr lang="en-US" sz="1600"/>
          </a:p>
        </p:txBody>
      </p:sp>
      <p:sp>
        <p:nvSpPr>
          <p:cNvPr id="26" name="Rectangle 25"/>
          <p:cNvSpPr/>
          <p:nvPr/>
        </p:nvSpPr>
        <p:spPr>
          <a:xfrm>
            <a:off x="0" y="6611779"/>
            <a:ext cx="72426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On the Opportunities and Risks of Foundation Models</a:t>
            </a:r>
            <a:r>
              <a:rPr lang="en-US" sz="1000" smtClean="0"/>
              <a:t>, Bommasani (Stanford) (2022) (figure is also inspired by that paper)</a:t>
            </a:r>
            <a:endParaRPr lang="en-US" sz="100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898" y="3544907"/>
            <a:ext cx="1183497" cy="9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1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2" grpId="0" animBg="1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à coins arrondis 62"/>
          <p:cNvSpPr/>
          <p:nvPr/>
        </p:nvSpPr>
        <p:spPr>
          <a:xfrm>
            <a:off x="9337619" y="5323275"/>
            <a:ext cx="1042338" cy="775308"/>
          </a:xfrm>
          <a:prstGeom prst="roundRect">
            <a:avLst/>
          </a:prstGeom>
          <a:solidFill>
            <a:srgbClr val="FFC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Feature extraction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112" name="Rectangle à coins arrondis 111"/>
          <p:cNvSpPr/>
          <p:nvPr/>
        </p:nvSpPr>
        <p:spPr>
          <a:xfrm>
            <a:off x="5308578" y="5638726"/>
            <a:ext cx="807323" cy="270141"/>
          </a:xfrm>
          <a:prstGeom prst="roundRect">
            <a:avLst/>
          </a:prstGeom>
          <a:solidFill>
            <a:srgbClr val="E5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Classif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720588" cy="871827"/>
          </a:xfrm>
        </p:spPr>
        <p:txBody>
          <a:bodyPr>
            <a:normAutofit/>
          </a:bodyPr>
          <a:lstStyle/>
          <a:p>
            <a:r>
              <a:rPr lang="fr-FR" sz="2800" smtClean="0"/>
              <a:t>Foundation models scale up pre-training</a:t>
            </a:r>
            <a:endParaRPr lang="en-US" sz="2800"/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3779557" y="2812422"/>
            <a:ext cx="3285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42" y="2724113"/>
            <a:ext cx="1367595" cy="36995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779129" y="2268000"/>
            <a:ext cx="1882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ImageNet </a:t>
            </a:r>
          </a:p>
          <a:p>
            <a:pPr algn="ctr"/>
            <a:r>
              <a:rPr lang="fr-FR" sz="1200" i="1" smtClean="0"/>
              <a:t>classification </a:t>
            </a:r>
          </a:p>
        </p:txBody>
      </p:sp>
      <p:sp>
        <p:nvSpPr>
          <p:cNvPr id="16" name="Rectangle à coins arrondis 15"/>
          <p:cNvSpPr/>
          <p:nvPr/>
        </p:nvSpPr>
        <p:spPr>
          <a:xfrm>
            <a:off x="4140229" y="2601151"/>
            <a:ext cx="1006636" cy="422541"/>
          </a:xfrm>
          <a:prstGeom prst="roundRect">
            <a:avLst/>
          </a:prstGeom>
          <a:solidFill>
            <a:srgbClr val="FFC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Feature extraction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964510" y="2442138"/>
            <a:ext cx="238862" cy="238396"/>
          </a:xfrm>
          <a:prstGeom prst="rect">
            <a:avLst/>
          </a:prstGeom>
        </p:spPr>
      </p:pic>
      <p:sp>
        <p:nvSpPr>
          <p:cNvPr id="19" name="Rectangle à coins arrondis 18"/>
          <p:cNvSpPr/>
          <p:nvPr/>
        </p:nvSpPr>
        <p:spPr>
          <a:xfrm>
            <a:off x="5371025" y="2665828"/>
            <a:ext cx="807323" cy="270141"/>
          </a:xfrm>
          <a:prstGeom prst="roundRect">
            <a:avLst/>
          </a:prstGeom>
          <a:solidFill>
            <a:srgbClr val="E5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Classif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cxnSp>
        <p:nvCxnSpPr>
          <p:cNvPr id="20" name="Connecteur droit avec flèche 19"/>
          <p:cNvCxnSpPr/>
          <p:nvPr/>
        </p:nvCxnSpPr>
        <p:spPr>
          <a:xfrm>
            <a:off x="5150316" y="2800899"/>
            <a:ext cx="220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312298" y="2510375"/>
            <a:ext cx="238862" cy="238396"/>
          </a:xfrm>
          <a:prstGeom prst="rect">
            <a:avLst/>
          </a:prstGeom>
        </p:spPr>
      </p:pic>
      <p:cxnSp>
        <p:nvCxnSpPr>
          <p:cNvPr id="22" name="Connecteur droit avec flèche 21"/>
          <p:cNvCxnSpPr/>
          <p:nvPr/>
        </p:nvCxnSpPr>
        <p:spPr>
          <a:xfrm>
            <a:off x="8909642" y="2823728"/>
            <a:ext cx="3285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à coins arrondis 22"/>
          <p:cNvSpPr/>
          <p:nvPr/>
        </p:nvSpPr>
        <p:spPr>
          <a:xfrm>
            <a:off x="9238164" y="2601660"/>
            <a:ext cx="1083059" cy="422541"/>
          </a:xfrm>
          <a:prstGeom prst="roundRect">
            <a:avLst/>
          </a:prstGeom>
          <a:solidFill>
            <a:srgbClr val="FFC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Feature extraction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9064215" y="2449246"/>
            <a:ext cx="238862" cy="238396"/>
          </a:xfrm>
          <a:prstGeom prst="rect">
            <a:avLst/>
          </a:prstGeom>
        </p:spPr>
      </p:pic>
      <p:sp>
        <p:nvSpPr>
          <p:cNvPr id="25" name="Rectangle à coins arrondis 24"/>
          <p:cNvSpPr/>
          <p:nvPr/>
        </p:nvSpPr>
        <p:spPr>
          <a:xfrm>
            <a:off x="10592550" y="2677134"/>
            <a:ext cx="851417" cy="270141"/>
          </a:xfrm>
          <a:prstGeom prst="roundRect">
            <a:avLst/>
          </a:prstGeom>
          <a:solidFill>
            <a:srgbClr val="E5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Classif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cxnSp>
        <p:nvCxnSpPr>
          <p:cNvPr id="26" name="Connecteur droit avec flèche 25"/>
          <p:cNvCxnSpPr/>
          <p:nvPr/>
        </p:nvCxnSpPr>
        <p:spPr>
          <a:xfrm>
            <a:off x="10371841" y="2812205"/>
            <a:ext cx="220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533823" y="2521681"/>
            <a:ext cx="238862" cy="238396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844" y="2403074"/>
            <a:ext cx="322618" cy="322618"/>
          </a:xfrm>
          <a:prstGeom prst="rect">
            <a:avLst/>
          </a:prstGeom>
        </p:spPr>
      </p:pic>
      <p:sp>
        <p:nvSpPr>
          <p:cNvPr id="31" name="ZoneTexte 30"/>
          <p:cNvSpPr txBox="1"/>
          <p:nvPr/>
        </p:nvSpPr>
        <p:spPr>
          <a:xfrm>
            <a:off x="9206998" y="2392341"/>
            <a:ext cx="308679" cy="36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/</a:t>
            </a:r>
            <a:endParaRPr lang="en-US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9791847" y="2341130"/>
            <a:ext cx="0" cy="260021"/>
          </a:xfrm>
          <a:prstGeom prst="straightConnector1">
            <a:avLst/>
          </a:prstGeom>
          <a:ln w="57150">
            <a:solidFill>
              <a:srgbClr val="FFC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4647242" y="2353422"/>
            <a:ext cx="5181761" cy="0"/>
          </a:xfrm>
          <a:prstGeom prst="line">
            <a:avLst/>
          </a:prstGeom>
          <a:ln w="57150">
            <a:solidFill>
              <a:srgbClr val="FFC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4647242" y="2380761"/>
            <a:ext cx="0" cy="242387"/>
          </a:xfrm>
          <a:prstGeom prst="line">
            <a:avLst/>
          </a:prstGeom>
          <a:ln w="57150">
            <a:solidFill>
              <a:srgbClr val="FFC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797553" y="2054723"/>
            <a:ext cx="13526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i="1" smtClean="0"/>
              <a:t>weight transfer</a:t>
            </a:r>
            <a:endParaRPr lang="fr-FR" sz="1200" i="1" baseline="30000"/>
          </a:p>
        </p:txBody>
      </p:sp>
      <p:cxnSp>
        <p:nvCxnSpPr>
          <p:cNvPr id="36" name="Connecteur droit 35"/>
          <p:cNvCxnSpPr/>
          <p:nvPr/>
        </p:nvCxnSpPr>
        <p:spPr>
          <a:xfrm>
            <a:off x="6437180" y="1777378"/>
            <a:ext cx="0" cy="193529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367828" y="657259"/>
            <a:ext cx="6625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smtClean="0"/>
              <a:t>Traditional Deep Learning</a:t>
            </a:r>
            <a:endParaRPr lang="fr-FR" sz="1400" smtClean="0"/>
          </a:p>
        </p:txBody>
      </p:sp>
      <p:sp>
        <p:nvSpPr>
          <p:cNvPr id="40" name="ZoneTexte 39"/>
          <p:cNvSpPr txBox="1"/>
          <p:nvPr/>
        </p:nvSpPr>
        <p:spPr>
          <a:xfrm>
            <a:off x="581701" y="929181"/>
            <a:ext cx="4693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smtClean="0"/>
              <a:t>Pre-training (PT) : large dataset, generic task. </a:t>
            </a:r>
          </a:p>
          <a:p>
            <a:pPr marL="285750" indent="-285750">
              <a:buFontTx/>
              <a:buChar char="-"/>
            </a:pPr>
            <a:r>
              <a:rPr lang="fr-FR" sz="1400" smtClean="0"/>
              <a:t>PT and downstream (DS) tasks are often « close ».</a:t>
            </a:r>
          </a:p>
          <a:p>
            <a:pPr marL="285750" indent="-285750">
              <a:buFontTx/>
              <a:buChar char="-"/>
            </a:pPr>
            <a:r>
              <a:rPr lang="fr-FR" sz="1400" smtClean="0"/>
              <a:t>Fine-tuning on DS task.</a:t>
            </a:r>
          </a:p>
        </p:txBody>
      </p:sp>
      <p:cxnSp>
        <p:nvCxnSpPr>
          <p:cNvPr id="42" name="Connecteur droit avec flèche 41"/>
          <p:cNvCxnSpPr/>
          <p:nvPr/>
        </p:nvCxnSpPr>
        <p:spPr>
          <a:xfrm>
            <a:off x="3695724" y="5783583"/>
            <a:ext cx="3285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à coins arrondis 44"/>
          <p:cNvSpPr/>
          <p:nvPr/>
        </p:nvSpPr>
        <p:spPr>
          <a:xfrm>
            <a:off x="4058022" y="5321664"/>
            <a:ext cx="1042338" cy="775308"/>
          </a:xfrm>
          <a:prstGeom prst="roundRect">
            <a:avLst/>
          </a:prstGeom>
          <a:solidFill>
            <a:srgbClr val="FFC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Feature extraction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pic>
        <p:nvPicPr>
          <p:cNvPr id="47" name="Imag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946374" y="5236438"/>
            <a:ext cx="238862" cy="238396"/>
          </a:xfrm>
          <a:prstGeom prst="rect">
            <a:avLst/>
          </a:prstGeom>
        </p:spPr>
      </p:pic>
      <p:cxnSp>
        <p:nvCxnSpPr>
          <p:cNvPr id="49" name="Connecteur droit avec flèche 48"/>
          <p:cNvCxnSpPr/>
          <p:nvPr/>
        </p:nvCxnSpPr>
        <p:spPr>
          <a:xfrm>
            <a:off x="5112587" y="5772060"/>
            <a:ext cx="220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Image 4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274569" y="5481536"/>
            <a:ext cx="238862" cy="238396"/>
          </a:xfrm>
          <a:prstGeom prst="rect">
            <a:avLst/>
          </a:prstGeom>
        </p:spPr>
      </p:pic>
      <p:cxnSp>
        <p:nvCxnSpPr>
          <p:cNvPr id="51" name="Connecteur droit avec flèche 50"/>
          <p:cNvCxnSpPr/>
          <p:nvPr/>
        </p:nvCxnSpPr>
        <p:spPr>
          <a:xfrm>
            <a:off x="9012329" y="5746975"/>
            <a:ext cx="3285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à coins arrondis 53"/>
          <p:cNvSpPr/>
          <p:nvPr/>
        </p:nvSpPr>
        <p:spPr>
          <a:xfrm>
            <a:off x="10748009" y="5630598"/>
            <a:ext cx="488075" cy="141462"/>
          </a:xfrm>
          <a:prstGeom prst="roundRect">
            <a:avLst/>
          </a:prstGeom>
          <a:solidFill>
            <a:srgbClr val="E5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sz="800" dirty="0" smtClean="0">
              <a:solidFill>
                <a:schemeClr val="tx1"/>
              </a:solidFill>
            </a:endParaRPr>
          </a:p>
        </p:txBody>
      </p:sp>
      <p:cxnSp>
        <p:nvCxnSpPr>
          <p:cNvPr id="55" name="Connecteur droit avec flèche 54"/>
          <p:cNvCxnSpPr/>
          <p:nvPr/>
        </p:nvCxnSpPr>
        <p:spPr>
          <a:xfrm>
            <a:off x="10474528" y="5735452"/>
            <a:ext cx="220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Image 5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637545" y="5461641"/>
            <a:ext cx="238862" cy="238396"/>
          </a:xfrm>
          <a:prstGeom prst="rect">
            <a:avLst/>
          </a:prstGeom>
        </p:spPr>
      </p:pic>
      <p:pic>
        <p:nvPicPr>
          <p:cNvPr id="59" name="Image 58"/>
          <p:cNvPicPr>
            <a:picLocks noChangeAspect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890" y="5227152"/>
            <a:ext cx="322618" cy="343042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/>
        </p:nvPicPr>
        <p:blipFill rotWithShape="1">
          <a:blip r:embed="rId5"/>
          <a:srcRect b="47169"/>
          <a:stretch/>
        </p:blipFill>
        <p:spPr>
          <a:xfrm>
            <a:off x="1053968" y="5746975"/>
            <a:ext cx="1348138" cy="395269"/>
          </a:xfrm>
          <a:prstGeom prst="rect">
            <a:avLst/>
          </a:prstGeom>
        </p:spPr>
      </p:pic>
      <p:sp>
        <p:nvSpPr>
          <p:cNvPr id="69" name="ZoneTexte 68"/>
          <p:cNvSpPr txBox="1"/>
          <p:nvPr/>
        </p:nvSpPr>
        <p:spPr>
          <a:xfrm>
            <a:off x="287837" y="3542673"/>
            <a:ext cx="2451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smtClean="0"/>
              <a:t>Foundation models</a:t>
            </a:r>
            <a:endParaRPr lang="fr-FR" sz="1400" smtClean="0"/>
          </a:p>
        </p:txBody>
      </p:sp>
      <p:sp>
        <p:nvSpPr>
          <p:cNvPr id="70" name="ZoneTexte 69"/>
          <p:cNvSpPr txBox="1"/>
          <p:nvPr/>
        </p:nvSpPr>
        <p:spPr>
          <a:xfrm>
            <a:off x="564347" y="3828593"/>
            <a:ext cx="4710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smtClean="0">
                <a:sym typeface="Wingdings" panose="05000000000000000000" pitchFamily="2" charset="2"/>
              </a:rPr>
              <a:t>PT </a:t>
            </a:r>
            <a:r>
              <a:rPr lang="fr-FR" sz="1400">
                <a:sym typeface="Wingdings" panose="05000000000000000000" pitchFamily="2" charset="2"/>
              </a:rPr>
              <a:t>:</a:t>
            </a:r>
            <a:r>
              <a:rPr lang="fr-FR" sz="1400" smtClean="0">
                <a:sym typeface="Wingdings" panose="05000000000000000000" pitchFamily="2" charset="2"/>
              </a:rPr>
              <a:t> </a:t>
            </a:r>
            <a:r>
              <a:rPr lang="fr-FR" sz="1400" b="1" smtClean="0">
                <a:sym typeface="Wingdings" panose="05000000000000000000" pitchFamily="2" charset="2"/>
              </a:rPr>
              <a:t>very</a:t>
            </a:r>
            <a:r>
              <a:rPr lang="fr-FR" sz="1400" smtClean="0">
                <a:sym typeface="Wingdings" panose="05000000000000000000" pitchFamily="2" charset="2"/>
              </a:rPr>
              <a:t> large dataset, </a:t>
            </a:r>
            <a:r>
              <a:rPr lang="fr-FR" sz="1400" b="1" smtClean="0">
                <a:sym typeface="Wingdings" panose="05000000000000000000" pitchFamily="2" charset="2"/>
              </a:rPr>
              <a:t>very</a:t>
            </a:r>
            <a:r>
              <a:rPr lang="fr-FR" sz="1400" smtClean="0">
                <a:sym typeface="Wingdings" panose="05000000000000000000" pitchFamily="2" charset="2"/>
              </a:rPr>
              <a:t> generic task. </a:t>
            </a:r>
          </a:p>
          <a:p>
            <a:pPr marL="285750" indent="-285750">
              <a:buFontTx/>
              <a:buChar char="-"/>
            </a:pPr>
            <a:r>
              <a:rPr lang="fr-FR" sz="1400" smtClean="0"/>
              <a:t>PT and DS tasks can be very different.</a:t>
            </a:r>
          </a:p>
          <a:p>
            <a:pPr marL="285750" indent="-285750">
              <a:buFontTx/>
              <a:buChar char="-"/>
            </a:pPr>
            <a:r>
              <a:rPr lang="fr-FR" sz="1400" smtClean="0"/>
              <a:t>Light / no fine-tuning on DS task.</a:t>
            </a:r>
          </a:p>
        </p:txBody>
      </p:sp>
      <p:sp>
        <p:nvSpPr>
          <p:cNvPr id="71" name="Rectangle à coins arrondis 70"/>
          <p:cNvSpPr/>
          <p:nvPr/>
        </p:nvSpPr>
        <p:spPr>
          <a:xfrm>
            <a:off x="9320738" y="4981466"/>
            <a:ext cx="1098944" cy="270141"/>
          </a:xfrm>
          <a:prstGeom prst="roundRect">
            <a:avLst/>
          </a:prstGeom>
          <a:solidFill>
            <a:srgbClr val="3E4A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bg1"/>
                </a:solidFill>
              </a:rPr>
              <a:t>Prompting</a:t>
            </a:r>
            <a:endParaRPr lang="en-US" sz="1200" dirty="0" smtClean="0">
              <a:solidFill>
                <a:schemeClr val="bg1"/>
              </a:solidFill>
            </a:endParaRPr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64" y="4825845"/>
            <a:ext cx="322618" cy="329639"/>
          </a:xfrm>
          <a:prstGeom prst="rect">
            <a:avLst/>
          </a:prstGeom>
        </p:spPr>
      </p:pic>
      <p:cxnSp>
        <p:nvCxnSpPr>
          <p:cNvPr id="73" name="Connecteur droit avec flèche 72"/>
          <p:cNvCxnSpPr/>
          <p:nvPr/>
        </p:nvCxnSpPr>
        <p:spPr>
          <a:xfrm>
            <a:off x="9913885" y="5251607"/>
            <a:ext cx="0" cy="95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Parenthèses 76"/>
          <p:cNvSpPr/>
          <p:nvPr/>
        </p:nvSpPr>
        <p:spPr>
          <a:xfrm>
            <a:off x="10553875" y="5481303"/>
            <a:ext cx="723726" cy="427564"/>
          </a:xfrm>
          <a:prstGeom prst="bracketPair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Connecteur droit 82"/>
          <p:cNvCxnSpPr/>
          <p:nvPr/>
        </p:nvCxnSpPr>
        <p:spPr>
          <a:xfrm>
            <a:off x="6419557" y="4608360"/>
            <a:ext cx="0" cy="211693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5100360" y="5461408"/>
            <a:ext cx="4255873" cy="0"/>
          </a:xfrm>
          <a:prstGeom prst="straightConnector1">
            <a:avLst/>
          </a:prstGeom>
          <a:ln w="57150">
            <a:solidFill>
              <a:srgbClr val="FFC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768978" y="5200442"/>
            <a:ext cx="13526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i="1" smtClean="0"/>
              <a:t>weight transfer</a:t>
            </a:r>
            <a:endParaRPr lang="fr-FR" sz="1200" i="1" baseline="3000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857" y="2742465"/>
            <a:ext cx="308386" cy="339269"/>
          </a:xfrm>
          <a:prstGeom prst="rect">
            <a:avLst/>
          </a:prstGeom>
        </p:spPr>
      </p:pic>
      <p:sp>
        <p:nvSpPr>
          <p:cNvPr id="64" name="Rectangle à coins arrondis 63"/>
          <p:cNvSpPr/>
          <p:nvPr/>
        </p:nvSpPr>
        <p:spPr>
          <a:xfrm>
            <a:off x="2526204" y="2531414"/>
            <a:ext cx="1281068" cy="5557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PT dataset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5" name="Rectangle à coins arrondis 64"/>
          <p:cNvSpPr/>
          <p:nvPr/>
        </p:nvSpPr>
        <p:spPr>
          <a:xfrm>
            <a:off x="7845686" y="2715679"/>
            <a:ext cx="1109750" cy="23367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bg1"/>
                </a:solidFill>
              </a:rPr>
              <a:t>DS dataset</a:t>
            </a:r>
            <a:endParaRPr lang="en-US" sz="1200" dirty="0" smtClean="0">
              <a:solidFill>
                <a:schemeClr val="bg1"/>
              </a:solidFill>
            </a:endParaRPr>
          </a:p>
        </p:txBody>
      </p:sp>
      <p:sp>
        <p:nvSpPr>
          <p:cNvPr id="66" name="ZoneTexte 65"/>
          <p:cNvSpPr txBox="1"/>
          <p:nvPr/>
        </p:nvSpPr>
        <p:spPr>
          <a:xfrm>
            <a:off x="6376393" y="2641631"/>
            <a:ext cx="11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apples </a:t>
            </a:r>
          </a:p>
          <a:p>
            <a:pPr algn="ctr"/>
            <a:r>
              <a:rPr lang="fr-FR" sz="1200" i="1" smtClean="0"/>
              <a:t>classification</a:t>
            </a:r>
          </a:p>
        </p:txBody>
      </p:sp>
      <p:sp>
        <p:nvSpPr>
          <p:cNvPr id="74" name="Rectangle à coins arrondis 73"/>
          <p:cNvSpPr/>
          <p:nvPr/>
        </p:nvSpPr>
        <p:spPr>
          <a:xfrm>
            <a:off x="7925049" y="5634895"/>
            <a:ext cx="1109750" cy="23367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bg1"/>
                </a:solidFill>
              </a:rPr>
              <a:t>DS dataset</a:t>
            </a:r>
            <a:endParaRPr lang="en-US" sz="1200" dirty="0" smtClean="0">
              <a:solidFill>
                <a:schemeClr val="bg1"/>
              </a:solidFill>
            </a:endParaRPr>
          </a:p>
        </p:txBody>
      </p:sp>
      <p:sp>
        <p:nvSpPr>
          <p:cNvPr id="79" name="Rectangle à coins arrondis 78"/>
          <p:cNvSpPr/>
          <p:nvPr/>
        </p:nvSpPr>
        <p:spPr>
          <a:xfrm>
            <a:off x="2469590" y="5136612"/>
            <a:ext cx="1317910" cy="13828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PT dataset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5024" y="6158941"/>
            <a:ext cx="1256146" cy="566355"/>
          </a:xfrm>
          <a:prstGeom prst="rect">
            <a:avLst/>
          </a:prstGeom>
        </p:spPr>
      </p:pic>
      <p:sp>
        <p:nvSpPr>
          <p:cNvPr id="82" name="ZoneTexte 81"/>
          <p:cNvSpPr txBox="1"/>
          <p:nvPr/>
        </p:nvSpPr>
        <p:spPr>
          <a:xfrm>
            <a:off x="1156131" y="5279543"/>
            <a:ext cx="1143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ALIGN</a:t>
            </a:r>
          </a:p>
          <a:p>
            <a:pPr algn="ctr"/>
            <a:r>
              <a:rPr lang="fr-FR" sz="1200" i="1" smtClean="0"/>
              <a:t>captioning </a:t>
            </a:r>
          </a:p>
        </p:txBody>
      </p:sp>
      <p:sp>
        <p:nvSpPr>
          <p:cNvPr id="85" name="ZoneTexte 84"/>
          <p:cNvSpPr txBox="1"/>
          <p:nvPr/>
        </p:nvSpPr>
        <p:spPr>
          <a:xfrm>
            <a:off x="6494769" y="3316541"/>
            <a:ext cx="107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animal classification</a:t>
            </a:r>
          </a:p>
        </p:txBody>
      </p:sp>
      <p:sp>
        <p:nvSpPr>
          <p:cNvPr id="86" name="ZoneTexte 85"/>
          <p:cNvSpPr txBox="1"/>
          <p:nvPr/>
        </p:nvSpPr>
        <p:spPr>
          <a:xfrm>
            <a:off x="9625462" y="3312890"/>
            <a:ext cx="28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mtClean="0"/>
              <a:t>…</a:t>
            </a:r>
          </a:p>
        </p:txBody>
      </p:sp>
      <p:sp>
        <p:nvSpPr>
          <p:cNvPr id="99" name="ZoneTexte 98"/>
          <p:cNvSpPr txBox="1"/>
          <p:nvPr/>
        </p:nvSpPr>
        <p:spPr>
          <a:xfrm>
            <a:off x="8016293" y="3314954"/>
            <a:ext cx="105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cell classification</a:t>
            </a:r>
          </a:p>
        </p:txBody>
      </p:sp>
      <p:pic>
        <p:nvPicPr>
          <p:cNvPr id="100" name="Image 99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79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12329" y="3411390"/>
            <a:ext cx="366144" cy="352133"/>
          </a:xfrm>
          <a:prstGeom prst="rect">
            <a:avLst/>
          </a:prstGeom>
        </p:spPr>
      </p:pic>
      <p:pic>
        <p:nvPicPr>
          <p:cNvPr id="102" name="Imag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8372" y="3420364"/>
            <a:ext cx="360042" cy="357559"/>
          </a:xfrm>
          <a:prstGeom prst="rect">
            <a:avLst/>
          </a:prstGeom>
        </p:spPr>
      </p:pic>
      <p:sp>
        <p:nvSpPr>
          <p:cNvPr id="104" name="ZoneTexte 103"/>
          <p:cNvSpPr txBox="1"/>
          <p:nvPr/>
        </p:nvSpPr>
        <p:spPr>
          <a:xfrm>
            <a:off x="6310959" y="6348317"/>
            <a:ext cx="1575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/>
              <a:t>d</a:t>
            </a:r>
            <a:r>
              <a:rPr lang="fr-FR" sz="1200" i="1" smtClean="0"/>
              <a:t>epth prediction</a:t>
            </a:r>
          </a:p>
        </p:txBody>
      </p:sp>
      <p:sp>
        <p:nvSpPr>
          <p:cNvPr id="105" name="ZoneTexte 104"/>
          <p:cNvSpPr txBox="1"/>
          <p:nvPr/>
        </p:nvSpPr>
        <p:spPr>
          <a:xfrm>
            <a:off x="11125741" y="6280746"/>
            <a:ext cx="28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mtClean="0"/>
              <a:t>…</a:t>
            </a:r>
          </a:p>
        </p:txBody>
      </p:sp>
      <p:sp>
        <p:nvSpPr>
          <p:cNvPr id="107" name="ZoneTexte 106"/>
          <p:cNvSpPr txBox="1"/>
          <p:nvPr/>
        </p:nvSpPr>
        <p:spPr>
          <a:xfrm>
            <a:off x="9112288" y="6373079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visual QA</a:t>
            </a:r>
          </a:p>
        </p:txBody>
      </p:sp>
      <p:pic>
        <p:nvPicPr>
          <p:cNvPr id="58" name="Image 5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1749" y="6208702"/>
            <a:ext cx="866925" cy="571382"/>
          </a:xfrm>
          <a:prstGeom prst="rect">
            <a:avLst/>
          </a:prstGeom>
        </p:spPr>
      </p:pic>
      <p:pic>
        <p:nvPicPr>
          <p:cNvPr id="113" name="Image 1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732" y="5570178"/>
            <a:ext cx="308386" cy="339269"/>
          </a:xfrm>
          <a:prstGeom prst="rect">
            <a:avLst/>
          </a:prstGeom>
        </p:spPr>
      </p:pic>
      <p:sp>
        <p:nvSpPr>
          <p:cNvPr id="114" name="ZoneTexte 113"/>
          <p:cNvSpPr txBox="1"/>
          <p:nvPr/>
        </p:nvSpPr>
        <p:spPr>
          <a:xfrm>
            <a:off x="6434268" y="5507444"/>
            <a:ext cx="11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apples </a:t>
            </a:r>
          </a:p>
          <a:p>
            <a:pPr algn="ctr"/>
            <a:r>
              <a:rPr lang="fr-FR" sz="1200" i="1" smtClean="0"/>
              <a:t>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05169" y="5581416"/>
            <a:ext cx="5309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/>
              <a:t>Classif</a:t>
            </a:r>
          </a:p>
        </p:txBody>
      </p:sp>
      <p:sp>
        <p:nvSpPr>
          <p:cNvPr id="80" name="Rectangle à coins arrondis 79"/>
          <p:cNvSpPr/>
          <p:nvPr/>
        </p:nvSpPr>
        <p:spPr>
          <a:xfrm>
            <a:off x="777392" y="1773639"/>
            <a:ext cx="5599002" cy="20627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Pre-training</a:t>
            </a:r>
            <a:endParaRPr lang="en-US" sz="1400" dirty="0" smtClean="0"/>
          </a:p>
        </p:txBody>
      </p:sp>
      <p:sp>
        <p:nvSpPr>
          <p:cNvPr id="84" name="Rectangle à coins arrondis 83"/>
          <p:cNvSpPr/>
          <p:nvPr/>
        </p:nvSpPr>
        <p:spPr>
          <a:xfrm>
            <a:off x="6519708" y="1770083"/>
            <a:ext cx="4924259" cy="22320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Downstream task</a:t>
            </a:r>
            <a:endParaRPr lang="en-US" sz="1400" dirty="0" smtClean="0"/>
          </a:p>
        </p:txBody>
      </p:sp>
      <p:sp>
        <p:nvSpPr>
          <p:cNvPr id="89" name="Rectangle à coins arrondis 88"/>
          <p:cNvSpPr/>
          <p:nvPr/>
        </p:nvSpPr>
        <p:spPr>
          <a:xfrm>
            <a:off x="754451" y="4611916"/>
            <a:ext cx="5599002" cy="20627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Pre-training</a:t>
            </a:r>
            <a:endParaRPr lang="en-US" sz="1400" dirty="0" smtClean="0"/>
          </a:p>
        </p:txBody>
      </p:sp>
      <p:sp>
        <p:nvSpPr>
          <p:cNvPr id="94" name="Rectangle à coins arrondis 93"/>
          <p:cNvSpPr/>
          <p:nvPr/>
        </p:nvSpPr>
        <p:spPr>
          <a:xfrm>
            <a:off x="6496767" y="4608360"/>
            <a:ext cx="4924259" cy="22320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Downstream task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40873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112" grpId="0" animBg="1"/>
      <p:bldP spid="13" grpId="0"/>
      <p:bldP spid="16" grpId="0" animBg="1"/>
      <p:bldP spid="19" grpId="0" animBg="1"/>
      <p:bldP spid="23" grpId="0" animBg="1"/>
      <p:bldP spid="25" grpId="0" animBg="1"/>
      <p:bldP spid="31" grpId="0"/>
      <p:bldP spid="35" grpId="0"/>
      <p:bldP spid="39" grpId="0"/>
      <p:bldP spid="45" grpId="0" animBg="1"/>
      <p:bldP spid="54" grpId="0" animBg="1"/>
      <p:bldP spid="69" grpId="0"/>
      <p:bldP spid="71" grpId="0" animBg="1"/>
      <p:bldP spid="77" grpId="0" animBg="1"/>
      <p:bldP spid="93" grpId="0"/>
      <p:bldP spid="64" grpId="0" animBg="1"/>
      <p:bldP spid="65" grpId="0" animBg="1"/>
      <p:bldP spid="66" grpId="0"/>
      <p:bldP spid="74" grpId="0" animBg="1"/>
      <p:bldP spid="79" grpId="0" animBg="1"/>
      <p:bldP spid="82" grpId="0"/>
      <p:bldP spid="85" grpId="0"/>
      <p:bldP spid="86" grpId="0"/>
      <p:bldP spid="99" grpId="0"/>
      <p:bldP spid="104" grpId="0"/>
      <p:bldP spid="105" grpId="0"/>
      <p:bldP spid="107" grpId="0"/>
      <p:bldP spid="114" grpId="0"/>
      <p:bldP spid="3" grpId="0"/>
      <p:bldP spid="80" grpId="0" animBg="1"/>
      <p:bldP spid="84" grpId="0" animBg="1"/>
      <p:bldP spid="89" grpId="0" animBg="1"/>
      <p:bldP spid="9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6141" y="4239568"/>
            <a:ext cx="11210991" cy="8196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foundation model is any model that is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on broad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(…)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be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adapted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e.g.,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fine-tuned) to a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 range of downstream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(…) </a:t>
            </a:r>
          </a:p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technological point of view,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[they] are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new — they are based on deep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NNs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[pre-training],  which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existed for decades. </a:t>
            </a:r>
            <a:endParaRPr lang="en-US" sz="1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sheer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scale and scope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foundation models from the last few years have stretched our imagination of what is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possible.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142" y="5368094"/>
            <a:ext cx="11210990" cy="914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is what makes foundation models possible, but scale is what makes them powerful. Scale required three ingredients: </a:t>
            </a:r>
            <a:endParaRPr lang="en-US" sz="1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improvements in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1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GPU throughput and memory have increased 10× over the last four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years,</a:t>
            </a:r>
          </a:p>
          <a:p>
            <a:pPr marL="285750" indent="-285750">
              <a:buFontTx/>
              <a:buChar char="-"/>
            </a:pP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ii) the development of the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(…) that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leverages the parallelism of the hardware to train much more expressive models than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before,</a:t>
            </a:r>
          </a:p>
          <a:p>
            <a:pPr marL="285750" indent="-285750">
              <a:buFontTx/>
              <a:buChar char="-"/>
            </a:pP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iii) the availability of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 more training data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720588" cy="871827"/>
          </a:xfrm>
        </p:spPr>
        <p:txBody>
          <a:bodyPr>
            <a:normAutofit/>
          </a:bodyPr>
          <a:lstStyle/>
          <a:p>
            <a:r>
              <a:rPr lang="fr-FR" sz="2800" smtClean="0"/>
              <a:t>Foundation models scale up pre-training</a:t>
            </a:r>
            <a:endParaRPr lang="en-US" sz="2800"/>
          </a:p>
        </p:txBody>
      </p:sp>
      <p:sp>
        <p:nvSpPr>
          <p:cNvPr id="43" name="Rectangle 42"/>
          <p:cNvSpPr/>
          <p:nvPr/>
        </p:nvSpPr>
        <p:spPr>
          <a:xfrm>
            <a:off x="0" y="6611779"/>
            <a:ext cx="52229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On the Opportunities and Risks of Foundation Models</a:t>
            </a:r>
            <a:r>
              <a:rPr lang="en-US" sz="1000" smtClean="0"/>
              <a:t>, Bommasani (Stanford) (2022)</a:t>
            </a:r>
            <a:endParaRPr lang="en-US" sz="1000"/>
          </a:p>
        </p:txBody>
      </p:sp>
      <p:sp>
        <p:nvSpPr>
          <p:cNvPr id="44" name="ZoneTexte 43"/>
          <p:cNvSpPr txBox="1"/>
          <p:nvPr/>
        </p:nvSpPr>
        <p:spPr>
          <a:xfrm>
            <a:off x="11535290" y="3962569"/>
            <a:ext cx="41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mtClean="0"/>
              <a:t>1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11535290" y="5144633"/>
            <a:ext cx="41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mtClean="0"/>
              <a:t>1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6442338" y="3898397"/>
            <a:ext cx="147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mtClean="0"/>
              <a:t>↘↘</a:t>
            </a:r>
            <a:r>
              <a:rPr lang="en-US" sz="1400" smtClean="0"/>
              <a:t> fine-tuning</a:t>
            </a:r>
            <a:endParaRPr lang="en-US" sz="1400"/>
          </a:p>
        </p:txBody>
      </p:sp>
      <p:sp>
        <p:nvSpPr>
          <p:cNvPr id="47" name="Rectangle 46"/>
          <p:cNvSpPr/>
          <p:nvPr/>
        </p:nvSpPr>
        <p:spPr>
          <a:xfrm>
            <a:off x="8740741" y="3898397"/>
            <a:ext cx="2023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↗↗</a:t>
            </a:r>
            <a:r>
              <a:rPr lang="en-US" sz="1400" smtClean="0"/>
              <a:t> range of DS tasks</a:t>
            </a:r>
            <a:endParaRPr lang="en-US" sz="1400"/>
          </a:p>
        </p:txBody>
      </p:sp>
      <p:sp>
        <p:nvSpPr>
          <p:cNvPr id="48" name="Rectangle à coins arrondis 47"/>
          <p:cNvSpPr/>
          <p:nvPr/>
        </p:nvSpPr>
        <p:spPr>
          <a:xfrm>
            <a:off x="6326645" y="4280476"/>
            <a:ext cx="1918829" cy="277432"/>
          </a:xfrm>
          <a:prstGeom prst="roundRect">
            <a:avLst/>
          </a:prstGeom>
          <a:noFill/>
          <a:ln w="57150">
            <a:solidFill>
              <a:srgbClr val="74B7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9" name="Rectangle à coins arrondis 48"/>
          <p:cNvSpPr/>
          <p:nvPr/>
        </p:nvSpPr>
        <p:spPr>
          <a:xfrm>
            <a:off x="8417719" y="4272785"/>
            <a:ext cx="2634755" cy="277432"/>
          </a:xfrm>
          <a:prstGeom prst="roundRect">
            <a:avLst/>
          </a:prstGeom>
          <a:noFill/>
          <a:ln w="57150">
            <a:solidFill>
              <a:srgbClr val="74B7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50" name="Rectangle à coins arrondis 49"/>
          <p:cNvSpPr/>
          <p:nvPr/>
        </p:nvSpPr>
        <p:spPr>
          <a:xfrm>
            <a:off x="9229996" y="1838370"/>
            <a:ext cx="1042338" cy="775308"/>
          </a:xfrm>
          <a:prstGeom prst="roundRect">
            <a:avLst/>
          </a:prstGeom>
          <a:solidFill>
            <a:srgbClr val="FFC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Feature extraction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1" name="Rectangle à coins arrondis 50"/>
          <p:cNvSpPr/>
          <p:nvPr/>
        </p:nvSpPr>
        <p:spPr>
          <a:xfrm>
            <a:off x="5200955" y="2153821"/>
            <a:ext cx="807323" cy="270141"/>
          </a:xfrm>
          <a:prstGeom prst="roundRect">
            <a:avLst/>
          </a:prstGeom>
          <a:solidFill>
            <a:srgbClr val="E5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Classif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cxnSp>
        <p:nvCxnSpPr>
          <p:cNvPr id="52" name="Connecteur droit avec flèche 51"/>
          <p:cNvCxnSpPr/>
          <p:nvPr/>
        </p:nvCxnSpPr>
        <p:spPr>
          <a:xfrm>
            <a:off x="3588101" y="2298678"/>
            <a:ext cx="3285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à coins arrondis 52"/>
          <p:cNvSpPr/>
          <p:nvPr/>
        </p:nvSpPr>
        <p:spPr>
          <a:xfrm>
            <a:off x="3950399" y="1836759"/>
            <a:ext cx="1042338" cy="775308"/>
          </a:xfrm>
          <a:prstGeom prst="roundRect">
            <a:avLst/>
          </a:prstGeom>
          <a:solidFill>
            <a:srgbClr val="FFC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Feature extraction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pic>
        <p:nvPicPr>
          <p:cNvPr id="54" name="Image 5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838751" y="1751533"/>
            <a:ext cx="238862" cy="238396"/>
          </a:xfrm>
          <a:prstGeom prst="rect">
            <a:avLst/>
          </a:prstGeom>
        </p:spPr>
      </p:pic>
      <p:cxnSp>
        <p:nvCxnSpPr>
          <p:cNvPr id="55" name="Connecteur droit avec flèche 54"/>
          <p:cNvCxnSpPr/>
          <p:nvPr/>
        </p:nvCxnSpPr>
        <p:spPr>
          <a:xfrm>
            <a:off x="5004964" y="2287155"/>
            <a:ext cx="220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Image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166946" y="1996631"/>
            <a:ext cx="238862" cy="238396"/>
          </a:xfrm>
          <a:prstGeom prst="rect">
            <a:avLst/>
          </a:prstGeom>
        </p:spPr>
      </p:pic>
      <p:cxnSp>
        <p:nvCxnSpPr>
          <p:cNvPr id="57" name="Connecteur droit avec flèche 56"/>
          <p:cNvCxnSpPr/>
          <p:nvPr/>
        </p:nvCxnSpPr>
        <p:spPr>
          <a:xfrm>
            <a:off x="8904706" y="2262070"/>
            <a:ext cx="3285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à coins arrondis 57"/>
          <p:cNvSpPr/>
          <p:nvPr/>
        </p:nvSpPr>
        <p:spPr>
          <a:xfrm>
            <a:off x="10640386" y="2145693"/>
            <a:ext cx="488075" cy="141462"/>
          </a:xfrm>
          <a:prstGeom prst="roundRect">
            <a:avLst/>
          </a:prstGeom>
          <a:solidFill>
            <a:srgbClr val="E5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sz="800" dirty="0" smtClean="0">
              <a:solidFill>
                <a:schemeClr val="tx1"/>
              </a:solidFill>
            </a:endParaRPr>
          </a:p>
        </p:txBody>
      </p:sp>
      <p:cxnSp>
        <p:nvCxnSpPr>
          <p:cNvPr id="59" name="Connecteur droit avec flèche 58"/>
          <p:cNvCxnSpPr/>
          <p:nvPr/>
        </p:nvCxnSpPr>
        <p:spPr>
          <a:xfrm>
            <a:off x="10366905" y="2250547"/>
            <a:ext cx="220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Imag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529922" y="1976736"/>
            <a:ext cx="238862" cy="238396"/>
          </a:xfrm>
          <a:prstGeom prst="rect">
            <a:avLst/>
          </a:prstGeom>
        </p:spPr>
      </p:pic>
      <p:pic>
        <p:nvPicPr>
          <p:cNvPr id="61" name="Image 60"/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267" y="1742247"/>
            <a:ext cx="322618" cy="343042"/>
          </a:xfrm>
          <a:prstGeom prst="rect">
            <a:avLst/>
          </a:prstGeom>
        </p:spPr>
      </p:pic>
      <p:pic>
        <p:nvPicPr>
          <p:cNvPr id="62" name="Image 61"/>
          <p:cNvPicPr>
            <a:picLocks noChangeAspect="1"/>
          </p:cNvPicPr>
          <p:nvPr/>
        </p:nvPicPr>
        <p:blipFill rotWithShape="1">
          <a:blip r:embed="rId4"/>
          <a:srcRect b="47169"/>
          <a:stretch/>
        </p:blipFill>
        <p:spPr>
          <a:xfrm>
            <a:off x="946345" y="2262070"/>
            <a:ext cx="1348138" cy="395269"/>
          </a:xfrm>
          <a:prstGeom prst="rect">
            <a:avLst/>
          </a:prstGeom>
        </p:spPr>
      </p:pic>
      <p:sp>
        <p:nvSpPr>
          <p:cNvPr id="63" name="Rectangle à coins arrondis 62"/>
          <p:cNvSpPr/>
          <p:nvPr/>
        </p:nvSpPr>
        <p:spPr>
          <a:xfrm>
            <a:off x="9213115" y="1496561"/>
            <a:ext cx="1098944" cy="270141"/>
          </a:xfrm>
          <a:prstGeom prst="roundRect">
            <a:avLst/>
          </a:prstGeom>
          <a:solidFill>
            <a:srgbClr val="3E4A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bg1"/>
                </a:solidFill>
              </a:rPr>
              <a:t>Prompting</a:t>
            </a:r>
            <a:endParaRPr lang="en-US" sz="1200" dirty="0" smtClean="0">
              <a:solidFill>
                <a:schemeClr val="bg1"/>
              </a:solidFill>
            </a:endParaRPr>
          </a:p>
        </p:txBody>
      </p:sp>
      <p:pic>
        <p:nvPicPr>
          <p:cNvPr id="64" name="Image 63"/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541" y="1340940"/>
            <a:ext cx="322618" cy="329639"/>
          </a:xfrm>
          <a:prstGeom prst="rect">
            <a:avLst/>
          </a:prstGeom>
        </p:spPr>
      </p:pic>
      <p:cxnSp>
        <p:nvCxnSpPr>
          <p:cNvPr id="65" name="Connecteur droit avec flèche 64"/>
          <p:cNvCxnSpPr/>
          <p:nvPr/>
        </p:nvCxnSpPr>
        <p:spPr>
          <a:xfrm>
            <a:off x="9806262" y="1766702"/>
            <a:ext cx="0" cy="95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Parenthèses 65"/>
          <p:cNvSpPr/>
          <p:nvPr/>
        </p:nvSpPr>
        <p:spPr>
          <a:xfrm>
            <a:off x="10446252" y="1996398"/>
            <a:ext cx="723726" cy="427564"/>
          </a:xfrm>
          <a:prstGeom prst="bracketPair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Connecteur droit 66"/>
          <p:cNvCxnSpPr/>
          <p:nvPr/>
        </p:nvCxnSpPr>
        <p:spPr>
          <a:xfrm>
            <a:off x="6311934" y="1123455"/>
            <a:ext cx="0" cy="226869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4992737" y="1976503"/>
            <a:ext cx="4255873" cy="0"/>
          </a:xfrm>
          <a:prstGeom prst="straightConnector1">
            <a:avLst/>
          </a:prstGeom>
          <a:ln w="57150">
            <a:solidFill>
              <a:srgbClr val="FFC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661355" y="1715537"/>
            <a:ext cx="13526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i="1" smtClean="0"/>
              <a:t>weight transfer</a:t>
            </a:r>
            <a:endParaRPr lang="fr-FR" sz="1200" i="1" baseline="30000"/>
          </a:p>
        </p:txBody>
      </p:sp>
      <p:sp>
        <p:nvSpPr>
          <p:cNvPr id="70" name="Rectangle à coins arrondis 69"/>
          <p:cNvSpPr/>
          <p:nvPr/>
        </p:nvSpPr>
        <p:spPr>
          <a:xfrm>
            <a:off x="7817426" y="2149990"/>
            <a:ext cx="1109750" cy="23367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bg1"/>
                </a:solidFill>
              </a:rPr>
              <a:t>DS dataset</a:t>
            </a:r>
            <a:endParaRPr lang="en-US" sz="1200" dirty="0" smtClean="0">
              <a:solidFill>
                <a:schemeClr val="bg1"/>
              </a:solidFill>
            </a:endParaRPr>
          </a:p>
        </p:txBody>
      </p:sp>
      <p:sp>
        <p:nvSpPr>
          <p:cNvPr id="71" name="Rectangle à coins arrondis 70"/>
          <p:cNvSpPr/>
          <p:nvPr/>
        </p:nvSpPr>
        <p:spPr>
          <a:xfrm>
            <a:off x="2361967" y="1651707"/>
            <a:ext cx="1317910" cy="13828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PT dataset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401" y="2674036"/>
            <a:ext cx="1256146" cy="566355"/>
          </a:xfrm>
          <a:prstGeom prst="rect">
            <a:avLst/>
          </a:prstGeom>
        </p:spPr>
      </p:pic>
      <p:sp>
        <p:nvSpPr>
          <p:cNvPr id="73" name="ZoneTexte 72"/>
          <p:cNvSpPr txBox="1"/>
          <p:nvPr/>
        </p:nvSpPr>
        <p:spPr>
          <a:xfrm>
            <a:off x="1048508" y="1794638"/>
            <a:ext cx="1143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ALIGN</a:t>
            </a:r>
          </a:p>
          <a:p>
            <a:pPr algn="ctr"/>
            <a:r>
              <a:rPr lang="fr-FR" sz="1200" i="1" smtClean="0"/>
              <a:t>captioning </a:t>
            </a:r>
          </a:p>
        </p:txBody>
      </p:sp>
      <p:sp>
        <p:nvSpPr>
          <p:cNvPr id="74" name="ZoneTexte 73"/>
          <p:cNvSpPr txBox="1"/>
          <p:nvPr/>
        </p:nvSpPr>
        <p:spPr>
          <a:xfrm>
            <a:off x="6203336" y="2863412"/>
            <a:ext cx="1575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/>
              <a:t>d</a:t>
            </a:r>
            <a:r>
              <a:rPr lang="fr-FR" sz="1200" i="1" smtClean="0"/>
              <a:t>epth prediction</a:t>
            </a:r>
          </a:p>
        </p:txBody>
      </p:sp>
      <p:sp>
        <p:nvSpPr>
          <p:cNvPr id="75" name="ZoneTexte 74"/>
          <p:cNvSpPr txBox="1"/>
          <p:nvPr/>
        </p:nvSpPr>
        <p:spPr>
          <a:xfrm>
            <a:off x="11018118" y="2795841"/>
            <a:ext cx="28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mtClean="0"/>
              <a:t>…</a:t>
            </a:r>
          </a:p>
        </p:txBody>
      </p:sp>
      <p:sp>
        <p:nvSpPr>
          <p:cNvPr id="76" name="ZoneTexte 75"/>
          <p:cNvSpPr txBox="1"/>
          <p:nvPr/>
        </p:nvSpPr>
        <p:spPr>
          <a:xfrm>
            <a:off x="9004665" y="2888174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visual QA</a:t>
            </a:r>
          </a:p>
        </p:txBody>
      </p:sp>
      <p:pic>
        <p:nvPicPr>
          <p:cNvPr id="77" name="Imag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4126" y="2723797"/>
            <a:ext cx="866925" cy="571382"/>
          </a:xfrm>
          <a:prstGeom prst="rect">
            <a:avLst/>
          </a:prstGeom>
        </p:spPr>
      </p:pic>
      <p:pic>
        <p:nvPicPr>
          <p:cNvPr id="78" name="Image 7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109" y="2085273"/>
            <a:ext cx="308386" cy="339269"/>
          </a:xfrm>
          <a:prstGeom prst="rect">
            <a:avLst/>
          </a:prstGeom>
        </p:spPr>
      </p:pic>
      <p:sp>
        <p:nvSpPr>
          <p:cNvPr id="79" name="ZoneTexte 78"/>
          <p:cNvSpPr txBox="1"/>
          <p:nvPr/>
        </p:nvSpPr>
        <p:spPr>
          <a:xfrm>
            <a:off x="6326645" y="2022539"/>
            <a:ext cx="11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apples </a:t>
            </a:r>
          </a:p>
          <a:p>
            <a:pPr algn="ctr"/>
            <a:r>
              <a:rPr lang="fr-FR" sz="1200" i="1" smtClean="0"/>
              <a:t>classification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97546" y="2096511"/>
            <a:ext cx="5309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/>
              <a:t>Classif</a:t>
            </a:r>
          </a:p>
        </p:txBody>
      </p:sp>
      <p:sp>
        <p:nvSpPr>
          <p:cNvPr id="81" name="Rectangle à coins arrondis 80"/>
          <p:cNvSpPr/>
          <p:nvPr/>
        </p:nvSpPr>
        <p:spPr>
          <a:xfrm>
            <a:off x="646828" y="1127011"/>
            <a:ext cx="5599002" cy="20627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Pre-training</a:t>
            </a:r>
            <a:endParaRPr lang="en-US" sz="1400" dirty="0" smtClean="0"/>
          </a:p>
        </p:txBody>
      </p:sp>
      <p:sp>
        <p:nvSpPr>
          <p:cNvPr id="82" name="Rectangle à coins arrondis 81"/>
          <p:cNvSpPr/>
          <p:nvPr/>
        </p:nvSpPr>
        <p:spPr>
          <a:xfrm>
            <a:off x="6389144" y="1123455"/>
            <a:ext cx="4924259" cy="22320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Downstream task</a:t>
            </a:r>
            <a:endParaRPr lang="en-US" sz="1400" dirty="0" smtClean="0"/>
          </a:p>
        </p:txBody>
      </p:sp>
      <p:sp>
        <p:nvSpPr>
          <p:cNvPr id="83" name="Rectangle à coins arrondis 82"/>
          <p:cNvSpPr/>
          <p:nvPr/>
        </p:nvSpPr>
        <p:spPr>
          <a:xfrm>
            <a:off x="1102093" y="6005534"/>
            <a:ext cx="3450242" cy="277432"/>
          </a:xfrm>
          <a:prstGeom prst="roundRect">
            <a:avLst/>
          </a:prstGeom>
          <a:noFill/>
          <a:ln w="57150">
            <a:solidFill>
              <a:srgbClr val="74B7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6539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44" grpId="0"/>
      <p:bldP spid="45" grpId="0"/>
      <p:bldP spid="46" grpId="0"/>
      <p:bldP spid="47" grpId="0"/>
      <p:bldP spid="48" grpId="0" animBg="1"/>
      <p:bldP spid="49" grpId="0" animBg="1"/>
      <p:bldP spid="8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Connecteur droit avec flèche 41"/>
          <p:cNvCxnSpPr/>
          <p:nvPr/>
        </p:nvCxnSpPr>
        <p:spPr>
          <a:xfrm>
            <a:off x="6312329" y="2765882"/>
            <a:ext cx="9354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Foundation models started in NLP</a:t>
            </a:r>
            <a:endParaRPr lang="en-US"/>
          </a:p>
        </p:txBody>
      </p:sp>
      <p:sp>
        <p:nvSpPr>
          <p:cNvPr id="5" name="ZoneTexte 4"/>
          <p:cNvSpPr txBox="1"/>
          <p:nvPr/>
        </p:nvSpPr>
        <p:spPr>
          <a:xfrm>
            <a:off x="356449" y="1232194"/>
            <a:ext cx="1100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smtClean="0"/>
              <a:t>Language modeling</a:t>
            </a:r>
            <a:r>
              <a:rPr lang="en-US" sz="1400" smtClean="0"/>
              <a:t> : understand language, </a:t>
            </a:r>
          </a:p>
          <a:p>
            <a:r>
              <a:rPr lang="en-US" sz="1400" i="1"/>
              <a:t> </a:t>
            </a:r>
            <a:r>
              <a:rPr lang="en-US" sz="1400" i="1" smtClean="0"/>
              <a:t>      i.e.</a:t>
            </a:r>
            <a:r>
              <a:rPr lang="en-US" sz="1400" smtClean="0"/>
              <a:t>, be able to </a:t>
            </a:r>
            <a:r>
              <a:rPr lang="en-US" sz="1400" b="1" smtClean="0"/>
              <a:t>predict probability distribution of unknown words given a context. </a:t>
            </a:r>
            <a:endParaRPr lang="en-US" sz="1400" b="1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4296154" y="2958641"/>
            <a:ext cx="20236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4350071" y="2958641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4639631" y="2958641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5870261" y="2958641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6117911" y="2958641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5058731" y="2958641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828102" y="3049735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aardvark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306257" y="3049735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abandon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5947047" y="3049735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zyzzyva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550807" y="3049735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zythum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891384" y="3049735"/>
            <a:ext cx="4133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cool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253335" y="3019428"/>
            <a:ext cx="2609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/>
              <a:t>…</a:t>
            </a:r>
            <a:endParaRPr lang="en-US" sz="800"/>
          </a:p>
        </p:txBody>
      </p:sp>
      <p:sp>
        <p:nvSpPr>
          <p:cNvPr id="24" name="ZoneTexte 23"/>
          <p:cNvSpPr txBox="1"/>
          <p:nvPr/>
        </p:nvSpPr>
        <p:spPr>
          <a:xfrm>
            <a:off x="4746312" y="3026875"/>
            <a:ext cx="2609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/>
              <a:t>…</a:t>
            </a:r>
            <a:endParaRPr lang="en-US" sz="800"/>
          </a:p>
        </p:txBody>
      </p:sp>
      <p:cxnSp>
        <p:nvCxnSpPr>
          <p:cNvPr id="25" name="Connecteur droit avec flèche 24"/>
          <p:cNvCxnSpPr/>
          <p:nvPr/>
        </p:nvCxnSpPr>
        <p:spPr>
          <a:xfrm flipV="1">
            <a:off x="4296154" y="2499794"/>
            <a:ext cx="0" cy="45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rme libre 27"/>
          <p:cNvSpPr/>
          <p:nvPr/>
        </p:nvSpPr>
        <p:spPr>
          <a:xfrm>
            <a:off x="4360231" y="2536337"/>
            <a:ext cx="1818640" cy="425768"/>
          </a:xfrm>
          <a:custGeom>
            <a:avLst/>
            <a:gdLst>
              <a:gd name="connsiteX0" fmla="*/ 0 w 1818640"/>
              <a:gd name="connsiteY0" fmla="*/ 413068 h 425768"/>
              <a:gd name="connsiteX1" fmla="*/ 101600 w 1818640"/>
              <a:gd name="connsiteY1" fmla="*/ 380048 h 425768"/>
              <a:gd name="connsiteX2" fmla="*/ 248920 w 1818640"/>
              <a:gd name="connsiteY2" fmla="*/ 392748 h 425768"/>
              <a:gd name="connsiteX3" fmla="*/ 307340 w 1818640"/>
              <a:gd name="connsiteY3" fmla="*/ 359728 h 425768"/>
              <a:gd name="connsiteX4" fmla="*/ 558800 w 1818640"/>
              <a:gd name="connsiteY4" fmla="*/ 385128 h 425768"/>
              <a:gd name="connsiteX5" fmla="*/ 680720 w 1818640"/>
              <a:gd name="connsiteY5" fmla="*/ 42228 h 425768"/>
              <a:gd name="connsiteX6" fmla="*/ 721360 w 1818640"/>
              <a:gd name="connsiteY6" fmla="*/ 34608 h 425768"/>
              <a:gd name="connsiteX7" fmla="*/ 772160 w 1818640"/>
              <a:gd name="connsiteY7" fmla="*/ 306388 h 425768"/>
              <a:gd name="connsiteX8" fmla="*/ 822960 w 1818640"/>
              <a:gd name="connsiteY8" fmla="*/ 357188 h 425768"/>
              <a:gd name="connsiteX9" fmla="*/ 1013460 w 1818640"/>
              <a:gd name="connsiteY9" fmla="*/ 372428 h 425768"/>
              <a:gd name="connsiteX10" fmla="*/ 1076960 w 1818640"/>
              <a:gd name="connsiteY10" fmla="*/ 148908 h 425768"/>
              <a:gd name="connsiteX11" fmla="*/ 1143000 w 1818640"/>
              <a:gd name="connsiteY11" fmla="*/ 319088 h 425768"/>
              <a:gd name="connsiteX12" fmla="*/ 1290320 w 1818640"/>
              <a:gd name="connsiteY12" fmla="*/ 372428 h 425768"/>
              <a:gd name="connsiteX13" fmla="*/ 1447800 w 1818640"/>
              <a:gd name="connsiteY13" fmla="*/ 364808 h 425768"/>
              <a:gd name="connsiteX14" fmla="*/ 1503680 w 1818640"/>
              <a:gd name="connsiteY14" fmla="*/ 387668 h 425768"/>
              <a:gd name="connsiteX15" fmla="*/ 1785620 w 1818640"/>
              <a:gd name="connsiteY15" fmla="*/ 400368 h 425768"/>
              <a:gd name="connsiteX16" fmla="*/ 1785620 w 1818640"/>
              <a:gd name="connsiteY16" fmla="*/ 410528 h 425768"/>
              <a:gd name="connsiteX17" fmla="*/ 1818640 w 1818640"/>
              <a:gd name="connsiteY17" fmla="*/ 425768 h 425768"/>
              <a:gd name="connsiteX18" fmla="*/ 0 w 1818640"/>
              <a:gd name="connsiteY18" fmla="*/ 413068 h 42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18640" h="425768">
                <a:moveTo>
                  <a:pt x="0" y="413068"/>
                </a:moveTo>
                <a:cubicBezTo>
                  <a:pt x="30056" y="398251"/>
                  <a:pt x="60113" y="383435"/>
                  <a:pt x="101600" y="380048"/>
                </a:cubicBezTo>
                <a:cubicBezTo>
                  <a:pt x="143087" y="376661"/>
                  <a:pt x="214630" y="396135"/>
                  <a:pt x="248920" y="392748"/>
                </a:cubicBezTo>
                <a:cubicBezTo>
                  <a:pt x="283210" y="389361"/>
                  <a:pt x="255693" y="360998"/>
                  <a:pt x="307340" y="359728"/>
                </a:cubicBezTo>
                <a:cubicBezTo>
                  <a:pt x="358987" y="358458"/>
                  <a:pt x="496570" y="438045"/>
                  <a:pt x="558800" y="385128"/>
                </a:cubicBezTo>
                <a:cubicBezTo>
                  <a:pt x="621030" y="332211"/>
                  <a:pt x="653627" y="100648"/>
                  <a:pt x="680720" y="42228"/>
                </a:cubicBezTo>
                <a:cubicBezTo>
                  <a:pt x="707813" y="-16192"/>
                  <a:pt x="706120" y="-9419"/>
                  <a:pt x="721360" y="34608"/>
                </a:cubicBezTo>
                <a:cubicBezTo>
                  <a:pt x="736600" y="78635"/>
                  <a:pt x="755227" y="252625"/>
                  <a:pt x="772160" y="306388"/>
                </a:cubicBezTo>
                <a:cubicBezTo>
                  <a:pt x="789093" y="360151"/>
                  <a:pt x="782743" y="346181"/>
                  <a:pt x="822960" y="357188"/>
                </a:cubicBezTo>
                <a:cubicBezTo>
                  <a:pt x="863177" y="368195"/>
                  <a:pt x="971127" y="407141"/>
                  <a:pt x="1013460" y="372428"/>
                </a:cubicBezTo>
                <a:cubicBezTo>
                  <a:pt x="1055793" y="337715"/>
                  <a:pt x="1055370" y="157798"/>
                  <a:pt x="1076960" y="148908"/>
                </a:cubicBezTo>
                <a:cubicBezTo>
                  <a:pt x="1098550" y="140018"/>
                  <a:pt x="1107440" y="281835"/>
                  <a:pt x="1143000" y="319088"/>
                </a:cubicBezTo>
                <a:cubicBezTo>
                  <a:pt x="1178560" y="356341"/>
                  <a:pt x="1239520" y="364808"/>
                  <a:pt x="1290320" y="372428"/>
                </a:cubicBezTo>
                <a:cubicBezTo>
                  <a:pt x="1341120" y="380048"/>
                  <a:pt x="1412240" y="362268"/>
                  <a:pt x="1447800" y="364808"/>
                </a:cubicBezTo>
                <a:cubicBezTo>
                  <a:pt x="1483360" y="367348"/>
                  <a:pt x="1447377" y="381741"/>
                  <a:pt x="1503680" y="387668"/>
                </a:cubicBezTo>
                <a:cubicBezTo>
                  <a:pt x="1559983" y="393595"/>
                  <a:pt x="1785620" y="400368"/>
                  <a:pt x="1785620" y="400368"/>
                </a:cubicBezTo>
                <a:cubicBezTo>
                  <a:pt x="1832610" y="404178"/>
                  <a:pt x="1780117" y="406295"/>
                  <a:pt x="1785620" y="410528"/>
                </a:cubicBezTo>
                <a:cubicBezTo>
                  <a:pt x="1791123" y="414761"/>
                  <a:pt x="1818640" y="425768"/>
                  <a:pt x="1818640" y="425768"/>
                </a:cubicBezTo>
                <a:lnTo>
                  <a:pt x="0" y="41306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32" name="Connecteur droit avec flèche 31"/>
          <p:cNvCxnSpPr>
            <a:endCxn id="6" idx="1"/>
          </p:cNvCxnSpPr>
          <p:nvPr/>
        </p:nvCxnSpPr>
        <p:spPr>
          <a:xfrm>
            <a:off x="2676525" y="2758280"/>
            <a:ext cx="1505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4437551" y="3225520"/>
            <a:ext cx="1861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smtClean="0"/>
              <a:t>words in dictionnary</a:t>
            </a:r>
            <a:endParaRPr lang="en-US" sz="1200" i="1"/>
          </a:p>
        </p:txBody>
      </p:sp>
      <p:sp>
        <p:nvSpPr>
          <p:cNvPr id="35" name="ZoneTexte 34"/>
          <p:cNvSpPr txBox="1"/>
          <p:nvPr/>
        </p:nvSpPr>
        <p:spPr>
          <a:xfrm>
            <a:off x="3691224" y="2186686"/>
            <a:ext cx="1613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smtClean="0"/>
              <a:t>relative probability</a:t>
            </a:r>
            <a:endParaRPr lang="en-US" sz="1200" i="1"/>
          </a:p>
        </p:txBody>
      </p:sp>
      <p:sp>
        <p:nvSpPr>
          <p:cNvPr id="36" name="Rectangle 35"/>
          <p:cNvSpPr/>
          <p:nvPr/>
        </p:nvSpPr>
        <p:spPr>
          <a:xfrm>
            <a:off x="1415499" y="2571851"/>
            <a:ext cx="13311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 Dogs are … »</a:t>
            </a:r>
            <a:endParaRPr lang="en-US" sz="1400"/>
          </a:p>
        </p:txBody>
      </p:sp>
      <p:sp>
        <p:nvSpPr>
          <p:cNvPr id="37" name="ZoneTexte 36"/>
          <p:cNvSpPr txBox="1"/>
          <p:nvPr/>
        </p:nvSpPr>
        <p:spPr>
          <a:xfrm>
            <a:off x="1660961" y="2229946"/>
            <a:ext cx="90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smtClean="0"/>
              <a:t>context</a:t>
            </a:r>
            <a:endParaRPr lang="en-US" sz="1200" i="1"/>
          </a:p>
        </p:txBody>
      </p:sp>
      <p:sp>
        <p:nvSpPr>
          <p:cNvPr id="38" name="Rectangle 37"/>
          <p:cNvSpPr/>
          <p:nvPr/>
        </p:nvSpPr>
        <p:spPr>
          <a:xfrm>
            <a:off x="755366" y="4604954"/>
            <a:ext cx="16333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 Dogs are cool. »</a:t>
            </a:r>
            <a:endParaRPr lang="en-US" sz="1200"/>
          </a:p>
        </p:txBody>
      </p:sp>
      <p:sp>
        <p:nvSpPr>
          <p:cNvPr id="39" name="Rectangle à coins arrondis 38"/>
          <p:cNvSpPr/>
          <p:nvPr/>
        </p:nvSpPr>
        <p:spPr>
          <a:xfrm>
            <a:off x="6434819" y="2645827"/>
            <a:ext cx="622500" cy="25572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max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827067" y="2609174"/>
            <a:ext cx="920816" cy="29821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Network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233047" y="2611993"/>
            <a:ext cx="7978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 cool »</a:t>
            </a:r>
            <a:endParaRPr lang="en-US" sz="1400"/>
          </a:p>
        </p:txBody>
      </p:sp>
      <p:sp>
        <p:nvSpPr>
          <p:cNvPr id="46" name="ZoneTexte 45"/>
          <p:cNvSpPr txBox="1"/>
          <p:nvPr/>
        </p:nvSpPr>
        <p:spPr>
          <a:xfrm>
            <a:off x="376327" y="3828565"/>
            <a:ext cx="615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mtClean="0">
                <a:sym typeface="Wingdings" panose="05000000000000000000" pitchFamily="2" charset="2"/>
              </a:rPr>
              <a:t> </a:t>
            </a:r>
            <a:r>
              <a:rPr lang="en-US" sz="1400" smtClean="0"/>
              <a:t>Easy to gather very large datasets : </a:t>
            </a:r>
            <a:r>
              <a:rPr lang="en-US" sz="1400" b="1" smtClean="0"/>
              <a:t>self-supervised learning</a:t>
            </a:r>
            <a:r>
              <a:rPr lang="en-US" sz="1400" smtClean="0"/>
              <a:t>.</a:t>
            </a:r>
            <a:endParaRPr lang="en-US" sz="1400" b="1"/>
          </a:p>
        </p:txBody>
      </p:sp>
      <p:sp>
        <p:nvSpPr>
          <p:cNvPr id="47" name="Accolades 46"/>
          <p:cNvSpPr/>
          <p:nvPr/>
        </p:nvSpPr>
        <p:spPr>
          <a:xfrm>
            <a:off x="659780" y="4637631"/>
            <a:ext cx="3067822" cy="1702913"/>
          </a:xfrm>
          <a:prstGeom prst="bracePair">
            <a:avLst>
              <a:gd name="adj" fmla="val 593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41569" y="4833903"/>
            <a:ext cx="30620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 Last week, Emmanuel Macron met Angela Merkel. »</a:t>
            </a:r>
            <a:endParaRPr lang="en-US" sz="1200"/>
          </a:p>
        </p:txBody>
      </p:sp>
      <p:sp>
        <p:nvSpPr>
          <p:cNvPr id="50" name="Rectangle 49"/>
          <p:cNvSpPr/>
          <p:nvPr/>
        </p:nvSpPr>
        <p:spPr>
          <a:xfrm>
            <a:off x="738859" y="5262936"/>
            <a:ext cx="28188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To the red country and part of the gray country of Oklahoma, the last rains came gently, and they did not cut the scarred earth</a:t>
            </a:r>
            <a:r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ZoneTexte 51"/>
          <p:cNvSpPr txBox="1"/>
          <p:nvPr/>
        </p:nvSpPr>
        <p:spPr>
          <a:xfrm rot="5400000">
            <a:off x="2063198" y="5929179"/>
            <a:ext cx="260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mtClean="0"/>
              <a:t>…</a:t>
            </a:r>
            <a:endParaRPr lang="en-US" sz="1600"/>
          </a:p>
        </p:txBody>
      </p:sp>
      <p:sp>
        <p:nvSpPr>
          <p:cNvPr id="53" name="ZoneTexte 52"/>
          <p:cNvSpPr txBox="1"/>
          <p:nvPr/>
        </p:nvSpPr>
        <p:spPr>
          <a:xfrm>
            <a:off x="1441912" y="4342387"/>
            <a:ext cx="1412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t</a:t>
            </a:r>
            <a:r>
              <a:rPr lang="en-US" sz="1200" i="1" smtClean="0"/>
              <a:t>raining dataset</a:t>
            </a:r>
            <a:endParaRPr lang="en-US" sz="1200" i="1"/>
          </a:p>
        </p:txBody>
      </p:sp>
      <p:cxnSp>
        <p:nvCxnSpPr>
          <p:cNvPr id="54" name="Connecteur droit avec flèche 53"/>
          <p:cNvCxnSpPr/>
          <p:nvPr/>
        </p:nvCxnSpPr>
        <p:spPr>
          <a:xfrm>
            <a:off x="6713842" y="5674907"/>
            <a:ext cx="20236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6767759" y="5674907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7057319" y="5674907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8287949" y="5674907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8535599" y="5674907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7476419" y="5674907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>
          <a:xfrm>
            <a:off x="6245790" y="5766001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aardvark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6723945" y="5766001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abandon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7968495" y="5766001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zythum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7309072" y="5766001"/>
            <a:ext cx="4133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cool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7671023" y="5735694"/>
            <a:ext cx="2609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/>
              <a:t>…</a:t>
            </a:r>
            <a:endParaRPr lang="en-US" sz="800"/>
          </a:p>
        </p:txBody>
      </p:sp>
      <p:sp>
        <p:nvSpPr>
          <p:cNvPr id="65" name="ZoneTexte 64"/>
          <p:cNvSpPr txBox="1"/>
          <p:nvPr/>
        </p:nvSpPr>
        <p:spPr>
          <a:xfrm>
            <a:off x="7164000" y="5743141"/>
            <a:ext cx="2609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/>
              <a:t>…</a:t>
            </a:r>
            <a:endParaRPr lang="en-US" sz="800"/>
          </a:p>
        </p:txBody>
      </p:sp>
      <p:cxnSp>
        <p:nvCxnSpPr>
          <p:cNvPr id="66" name="Connecteur droit avec flèche 65"/>
          <p:cNvCxnSpPr/>
          <p:nvPr/>
        </p:nvCxnSpPr>
        <p:spPr>
          <a:xfrm flipV="1">
            <a:off x="6713842" y="5216060"/>
            <a:ext cx="0" cy="45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orme libre 66"/>
          <p:cNvSpPr/>
          <p:nvPr/>
        </p:nvSpPr>
        <p:spPr>
          <a:xfrm>
            <a:off x="6777919" y="5252603"/>
            <a:ext cx="1818640" cy="425768"/>
          </a:xfrm>
          <a:custGeom>
            <a:avLst/>
            <a:gdLst>
              <a:gd name="connsiteX0" fmla="*/ 0 w 1818640"/>
              <a:gd name="connsiteY0" fmla="*/ 413068 h 425768"/>
              <a:gd name="connsiteX1" fmla="*/ 101600 w 1818640"/>
              <a:gd name="connsiteY1" fmla="*/ 380048 h 425768"/>
              <a:gd name="connsiteX2" fmla="*/ 248920 w 1818640"/>
              <a:gd name="connsiteY2" fmla="*/ 392748 h 425768"/>
              <a:gd name="connsiteX3" fmla="*/ 307340 w 1818640"/>
              <a:gd name="connsiteY3" fmla="*/ 359728 h 425768"/>
              <a:gd name="connsiteX4" fmla="*/ 558800 w 1818640"/>
              <a:gd name="connsiteY4" fmla="*/ 385128 h 425768"/>
              <a:gd name="connsiteX5" fmla="*/ 680720 w 1818640"/>
              <a:gd name="connsiteY5" fmla="*/ 42228 h 425768"/>
              <a:gd name="connsiteX6" fmla="*/ 721360 w 1818640"/>
              <a:gd name="connsiteY6" fmla="*/ 34608 h 425768"/>
              <a:gd name="connsiteX7" fmla="*/ 772160 w 1818640"/>
              <a:gd name="connsiteY7" fmla="*/ 306388 h 425768"/>
              <a:gd name="connsiteX8" fmla="*/ 822960 w 1818640"/>
              <a:gd name="connsiteY8" fmla="*/ 357188 h 425768"/>
              <a:gd name="connsiteX9" fmla="*/ 1013460 w 1818640"/>
              <a:gd name="connsiteY9" fmla="*/ 372428 h 425768"/>
              <a:gd name="connsiteX10" fmla="*/ 1076960 w 1818640"/>
              <a:gd name="connsiteY10" fmla="*/ 148908 h 425768"/>
              <a:gd name="connsiteX11" fmla="*/ 1143000 w 1818640"/>
              <a:gd name="connsiteY11" fmla="*/ 319088 h 425768"/>
              <a:gd name="connsiteX12" fmla="*/ 1290320 w 1818640"/>
              <a:gd name="connsiteY12" fmla="*/ 372428 h 425768"/>
              <a:gd name="connsiteX13" fmla="*/ 1447800 w 1818640"/>
              <a:gd name="connsiteY13" fmla="*/ 364808 h 425768"/>
              <a:gd name="connsiteX14" fmla="*/ 1503680 w 1818640"/>
              <a:gd name="connsiteY14" fmla="*/ 387668 h 425768"/>
              <a:gd name="connsiteX15" fmla="*/ 1785620 w 1818640"/>
              <a:gd name="connsiteY15" fmla="*/ 400368 h 425768"/>
              <a:gd name="connsiteX16" fmla="*/ 1785620 w 1818640"/>
              <a:gd name="connsiteY16" fmla="*/ 410528 h 425768"/>
              <a:gd name="connsiteX17" fmla="*/ 1818640 w 1818640"/>
              <a:gd name="connsiteY17" fmla="*/ 425768 h 425768"/>
              <a:gd name="connsiteX18" fmla="*/ 0 w 1818640"/>
              <a:gd name="connsiteY18" fmla="*/ 413068 h 42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18640" h="425768">
                <a:moveTo>
                  <a:pt x="0" y="413068"/>
                </a:moveTo>
                <a:cubicBezTo>
                  <a:pt x="30056" y="398251"/>
                  <a:pt x="60113" y="383435"/>
                  <a:pt x="101600" y="380048"/>
                </a:cubicBezTo>
                <a:cubicBezTo>
                  <a:pt x="143087" y="376661"/>
                  <a:pt x="214630" y="396135"/>
                  <a:pt x="248920" y="392748"/>
                </a:cubicBezTo>
                <a:cubicBezTo>
                  <a:pt x="283210" y="389361"/>
                  <a:pt x="255693" y="360998"/>
                  <a:pt x="307340" y="359728"/>
                </a:cubicBezTo>
                <a:cubicBezTo>
                  <a:pt x="358987" y="358458"/>
                  <a:pt x="496570" y="438045"/>
                  <a:pt x="558800" y="385128"/>
                </a:cubicBezTo>
                <a:cubicBezTo>
                  <a:pt x="621030" y="332211"/>
                  <a:pt x="653627" y="100648"/>
                  <a:pt x="680720" y="42228"/>
                </a:cubicBezTo>
                <a:cubicBezTo>
                  <a:pt x="707813" y="-16192"/>
                  <a:pt x="706120" y="-9419"/>
                  <a:pt x="721360" y="34608"/>
                </a:cubicBezTo>
                <a:cubicBezTo>
                  <a:pt x="736600" y="78635"/>
                  <a:pt x="755227" y="252625"/>
                  <a:pt x="772160" y="306388"/>
                </a:cubicBezTo>
                <a:cubicBezTo>
                  <a:pt x="789093" y="360151"/>
                  <a:pt x="782743" y="346181"/>
                  <a:pt x="822960" y="357188"/>
                </a:cubicBezTo>
                <a:cubicBezTo>
                  <a:pt x="863177" y="368195"/>
                  <a:pt x="971127" y="407141"/>
                  <a:pt x="1013460" y="372428"/>
                </a:cubicBezTo>
                <a:cubicBezTo>
                  <a:pt x="1055793" y="337715"/>
                  <a:pt x="1055370" y="157798"/>
                  <a:pt x="1076960" y="148908"/>
                </a:cubicBezTo>
                <a:cubicBezTo>
                  <a:pt x="1098550" y="140018"/>
                  <a:pt x="1107440" y="281835"/>
                  <a:pt x="1143000" y="319088"/>
                </a:cubicBezTo>
                <a:cubicBezTo>
                  <a:pt x="1178560" y="356341"/>
                  <a:pt x="1239520" y="364808"/>
                  <a:pt x="1290320" y="372428"/>
                </a:cubicBezTo>
                <a:cubicBezTo>
                  <a:pt x="1341120" y="380048"/>
                  <a:pt x="1412240" y="362268"/>
                  <a:pt x="1447800" y="364808"/>
                </a:cubicBezTo>
                <a:cubicBezTo>
                  <a:pt x="1483360" y="367348"/>
                  <a:pt x="1447377" y="381741"/>
                  <a:pt x="1503680" y="387668"/>
                </a:cubicBezTo>
                <a:cubicBezTo>
                  <a:pt x="1559983" y="393595"/>
                  <a:pt x="1785620" y="400368"/>
                  <a:pt x="1785620" y="400368"/>
                </a:cubicBezTo>
                <a:cubicBezTo>
                  <a:pt x="1832610" y="404178"/>
                  <a:pt x="1780117" y="406295"/>
                  <a:pt x="1785620" y="410528"/>
                </a:cubicBezTo>
                <a:cubicBezTo>
                  <a:pt x="1791123" y="414761"/>
                  <a:pt x="1818640" y="425768"/>
                  <a:pt x="1818640" y="425768"/>
                </a:cubicBezTo>
                <a:lnTo>
                  <a:pt x="0" y="41306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75" name="ZoneTexte 74"/>
          <p:cNvSpPr txBox="1"/>
          <p:nvPr/>
        </p:nvSpPr>
        <p:spPr>
          <a:xfrm>
            <a:off x="8402835" y="5766001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zyzzyva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76" name="Connecteur droit avec flèche 75"/>
          <p:cNvCxnSpPr/>
          <p:nvPr/>
        </p:nvCxnSpPr>
        <p:spPr>
          <a:xfrm>
            <a:off x="9526849" y="5713899"/>
            <a:ext cx="20236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>
            <a:off x="9580766" y="5713899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>
            <a:off x="9870326" y="5713899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11100956" y="5713899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11348606" y="5713899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0289426" y="5713899"/>
            <a:ext cx="0" cy="121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>
          <a:xfrm>
            <a:off x="9058797" y="5804993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aardvark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" name="ZoneTexte 82"/>
          <p:cNvSpPr txBox="1"/>
          <p:nvPr/>
        </p:nvSpPr>
        <p:spPr>
          <a:xfrm>
            <a:off x="9536952" y="5804993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abandon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4" name="ZoneTexte 83"/>
          <p:cNvSpPr txBox="1"/>
          <p:nvPr/>
        </p:nvSpPr>
        <p:spPr>
          <a:xfrm>
            <a:off x="10781502" y="5804993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zythum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5" name="ZoneTexte 84"/>
          <p:cNvSpPr txBox="1"/>
          <p:nvPr/>
        </p:nvSpPr>
        <p:spPr>
          <a:xfrm>
            <a:off x="10122079" y="5804993"/>
            <a:ext cx="4133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cool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6" name="ZoneTexte 85"/>
          <p:cNvSpPr txBox="1"/>
          <p:nvPr/>
        </p:nvSpPr>
        <p:spPr>
          <a:xfrm>
            <a:off x="10484030" y="5774686"/>
            <a:ext cx="2609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/>
              <a:t>…</a:t>
            </a:r>
            <a:endParaRPr lang="en-US" sz="800"/>
          </a:p>
        </p:txBody>
      </p:sp>
      <p:sp>
        <p:nvSpPr>
          <p:cNvPr id="87" name="ZoneTexte 86"/>
          <p:cNvSpPr txBox="1"/>
          <p:nvPr/>
        </p:nvSpPr>
        <p:spPr>
          <a:xfrm>
            <a:off x="9977007" y="5782133"/>
            <a:ext cx="2609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/>
              <a:t>…</a:t>
            </a:r>
            <a:endParaRPr lang="en-US" sz="800"/>
          </a:p>
        </p:txBody>
      </p:sp>
      <p:cxnSp>
        <p:nvCxnSpPr>
          <p:cNvPr id="88" name="Connecteur droit avec flèche 87"/>
          <p:cNvCxnSpPr/>
          <p:nvPr/>
        </p:nvCxnSpPr>
        <p:spPr>
          <a:xfrm flipV="1">
            <a:off x="9526849" y="5255052"/>
            <a:ext cx="0" cy="45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/>
          <p:cNvSpPr txBox="1"/>
          <p:nvPr/>
        </p:nvSpPr>
        <p:spPr>
          <a:xfrm>
            <a:off x="11215842" y="5804993"/>
            <a:ext cx="621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smtClean="0">
                <a:solidFill>
                  <a:schemeClr val="bg1">
                    <a:lumMod val="65000"/>
                  </a:schemeClr>
                </a:solidFill>
              </a:rPr>
              <a:t>zyzzyva</a:t>
            </a:r>
            <a:endParaRPr lang="en-US" sz="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0237992" y="5216060"/>
            <a:ext cx="114755" cy="4978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92" name="Connecteur droit avec flèche 91"/>
          <p:cNvCxnSpPr/>
          <p:nvPr/>
        </p:nvCxnSpPr>
        <p:spPr>
          <a:xfrm flipH="1">
            <a:off x="5967003" y="4968906"/>
            <a:ext cx="0" cy="368844"/>
          </a:xfrm>
          <a:prstGeom prst="straightConnector1">
            <a:avLst/>
          </a:prstGeom>
          <a:ln w="38100">
            <a:solidFill>
              <a:srgbClr val="F56A0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/>
          <p:cNvCxnSpPr/>
          <p:nvPr/>
        </p:nvCxnSpPr>
        <p:spPr>
          <a:xfrm flipH="1" flipV="1">
            <a:off x="5947047" y="4952744"/>
            <a:ext cx="3106558" cy="2279"/>
          </a:xfrm>
          <a:prstGeom prst="line">
            <a:avLst/>
          </a:prstGeom>
          <a:ln w="38100">
            <a:solidFill>
              <a:srgbClr val="F56A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 flipV="1">
            <a:off x="8707540" y="5484476"/>
            <a:ext cx="673237" cy="3896"/>
          </a:xfrm>
          <a:prstGeom prst="straightConnector1">
            <a:avLst/>
          </a:prstGeom>
          <a:ln w="38100">
            <a:solidFill>
              <a:srgbClr val="F56A0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9040203" y="4944305"/>
            <a:ext cx="0" cy="540171"/>
          </a:xfrm>
          <a:prstGeom prst="line">
            <a:avLst/>
          </a:prstGeom>
          <a:ln w="38100">
            <a:solidFill>
              <a:srgbClr val="F56A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6829690" y="4686269"/>
            <a:ext cx="113809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i="1" smtClean="0"/>
              <a:t>backprop</a:t>
            </a:r>
            <a:endParaRPr lang="fr-FR" sz="1100" i="1" baseline="30000"/>
          </a:p>
        </p:txBody>
      </p:sp>
      <p:sp>
        <p:nvSpPr>
          <p:cNvPr id="109" name="Rectangle 108"/>
          <p:cNvSpPr/>
          <p:nvPr/>
        </p:nvSpPr>
        <p:spPr>
          <a:xfrm>
            <a:off x="9802539" y="4688364"/>
            <a:ext cx="13629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i="1" smtClean="0"/>
              <a:t>ground truth </a:t>
            </a:r>
          </a:p>
          <a:p>
            <a:pPr algn="ctr"/>
            <a:r>
              <a:rPr lang="fr-FR" sz="1100" i="1" smtClean="0"/>
              <a:t>(self-supervised)</a:t>
            </a:r>
            <a:endParaRPr lang="fr-FR" sz="1100" i="1" baseline="30000"/>
          </a:p>
        </p:txBody>
      </p:sp>
      <p:pic>
        <p:nvPicPr>
          <p:cNvPr id="110" name="Image 10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8677635" y="2117054"/>
            <a:ext cx="1718634" cy="1077315"/>
          </a:xfrm>
          <a:prstGeom prst="rect">
            <a:avLst/>
          </a:prstGeom>
        </p:spPr>
      </p:pic>
      <p:sp>
        <p:nvSpPr>
          <p:cNvPr id="111" name="ZoneTexte 110"/>
          <p:cNvSpPr txBox="1"/>
          <p:nvPr/>
        </p:nvSpPr>
        <p:spPr>
          <a:xfrm>
            <a:off x="8879569" y="3362446"/>
            <a:ext cx="1155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(oryctérope)</a:t>
            </a:r>
            <a:endParaRPr lang="en-US" sz="1200" b="1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2" name="Image 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71997" y="2431954"/>
            <a:ext cx="846758" cy="723184"/>
          </a:xfrm>
          <a:prstGeom prst="rect">
            <a:avLst/>
          </a:prstGeom>
        </p:spPr>
      </p:pic>
      <p:sp>
        <p:nvSpPr>
          <p:cNvPr id="95" name="ZoneTexte 94"/>
          <p:cNvSpPr txBox="1"/>
          <p:nvPr/>
        </p:nvSpPr>
        <p:spPr>
          <a:xfrm>
            <a:off x="8879569" y="3184955"/>
            <a:ext cx="1155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aardvark</a:t>
            </a:r>
            <a:endParaRPr lang="en-US" sz="12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6" name="ZoneTexte 95"/>
          <p:cNvSpPr txBox="1"/>
          <p:nvPr/>
        </p:nvSpPr>
        <p:spPr>
          <a:xfrm>
            <a:off x="10417780" y="3174184"/>
            <a:ext cx="1155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zyzzyva</a:t>
            </a:r>
            <a:endParaRPr lang="en-US" sz="12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2" name="ZoneTexte 141"/>
          <p:cNvSpPr txBox="1"/>
          <p:nvPr/>
        </p:nvSpPr>
        <p:spPr>
          <a:xfrm>
            <a:off x="365388" y="785654"/>
            <a:ext cx="11009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smtClean="0">
                <a:sym typeface="Wingdings" panose="05000000000000000000" pitchFamily="2" charset="2"/>
              </a:rPr>
              <a:t> </a:t>
            </a:r>
            <a:r>
              <a:rPr lang="fr-FR" sz="1400" smtClean="0">
                <a:sym typeface="Wingdings" panose="05000000000000000000" pitchFamily="2" charset="2"/>
              </a:rPr>
              <a:t>Straightforward generic PT task :</a:t>
            </a:r>
            <a:endParaRPr lang="en-US" sz="1400" b="1"/>
          </a:p>
        </p:txBody>
      </p:sp>
      <p:sp>
        <p:nvSpPr>
          <p:cNvPr id="143" name="Rectangle 142"/>
          <p:cNvSpPr/>
          <p:nvPr/>
        </p:nvSpPr>
        <p:spPr>
          <a:xfrm>
            <a:off x="3764083" y="6088261"/>
            <a:ext cx="136298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smtClean="0">
                <a:solidFill>
                  <a:schemeClr val="bg1">
                    <a:lumMod val="65000"/>
                  </a:schemeClr>
                </a:solidFill>
              </a:rPr>
              <a:t>Easy to gather</a:t>
            </a:r>
            <a:endParaRPr lang="fr-FR" sz="1100" baseline="300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9" name="Connecteur droit avec flèche 88"/>
          <p:cNvCxnSpPr/>
          <p:nvPr/>
        </p:nvCxnSpPr>
        <p:spPr>
          <a:xfrm>
            <a:off x="5339061" y="5497241"/>
            <a:ext cx="12202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3922206" y="5310811"/>
            <a:ext cx="14587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 Dogs are cool »</a:t>
            </a:r>
            <a:endParaRPr lang="en-US" sz="1400"/>
          </a:p>
        </p:txBody>
      </p:sp>
      <p:sp>
        <p:nvSpPr>
          <p:cNvPr id="99" name="ZoneTexte 98"/>
          <p:cNvSpPr txBox="1"/>
          <p:nvPr/>
        </p:nvSpPr>
        <p:spPr>
          <a:xfrm>
            <a:off x="4295242" y="4968906"/>
            <a:ext cx="90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smtClean="0"/>
              <a:t>context</a:t>
            </a:r>
            <a:endParaRPr lang="en-US" sz="1200" i="1"/>
          </a:p>
        </p:txBody>
      </p:sp>
      <p:sp>
        <p:nvSpPr>
          <p:cNvPr id="100" name="Rectangle à coins arrondis 99"/>
          <p:cNvSpPr/>
          <p:nvPr/>
        </p:nvSpPr>
        <p:spPr>
          <a:xfrm>
            <a:off x="5461348" y="5348134"/>
            <a:ext cx="920816" cy="29821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chemeClr val="tx1"/>
                </a:solidFill>
              </a:rPr>
              <a:t>Network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cxnSp>
        <p:nvCxnSpPr>
          <p:cNvPr id="101" name="Connecteur droit 100"/>
          <p:cNvCxnSpPr/>
          <p:nvPr/>
        </p:nvCxnSpPr>
        <p:spPr>
          <a:xfrm>
            <a:off x="3190875" y="5951138"/>
            <a:ext cx="731330" cy="26792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/>
          <p:cNvCxnSpPr/>
          <p:nvPr/>
        </p:nvCxnSpPr>
        <p:spPr>
          <a:xfrm>
            <a:off x="3752831" y="2765882"/>
            <a:ext cx="2476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Image 101"/>
          <p:cNvPicPr>
            <a:picLocks noChangeAspect="1"/>
          </p:cNvPicPr>
          <p:nvPr/>
        </p:nvPicPr>
        <p:blipFill>
          <a:blip r:embed="rId4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</a:blip>
          <a:stretch>
            <a:fillRect/>
          </a:stretch>
        </p:blipFill>
        <p:spPr>
          <a:xfrm rot="19674530">
            <a:off x="4827530" y="5388245"/>
            <a:ext cx="304933" cy="17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8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8" grpId="0" animBg="1"/>
      <p:bldP spid="34" grpId="0"/>
      <p:bldP spid="35" grpId="0"/>
      <p:bldP spid="36" grpId="0"/>
      <p:bldP spid="37" grpId="0"/>
      <p:bldP spid="38" grpId="0"/>
      <p:bldP spid="39" grpId="0" animBg="1"/>
      <p:bldP spid="6" grpId="0" animBg="1"/>
      <p:bldP spid="45" grpId="0"/>
      <p:bldP spid="46" grpId="0"/>
      <p:bldP spid="47" grpId="0" animBg="1"/>
      <p:bldP spid="48" grpId="0"/>
      <p:bldP spid="50" grpId="0"/>
      <p:bldP spid="52" grpId="0"/>
      <p:bldP spid="53" grpId="0"/>
      <p:bldP spid="60" grpId="0"/>
      <p:bldP spid="61" grpId="0"/>
      <p:bldP spid="62" grpId="0"/>
      <p:bldP spid="63" grpId="0"/>
      <p:bldP spid="64" grpId="0"/>
      <p:bldP spid="65" grpId="0"/>
      <p:bldP spid="67" grpId="0" animBg="1"/>
      <p:bldP spid="75" grpId="0"/>
      <p:bldP spid="82" grpId="0"/>
      <p:bldP spid="83" grpId="0"/>
      <p:bldP spid="84" grpId="0"/>
      <p:bldP spid="85" grpId="0"/>
      <p:bldP spid="86" grpId="0"/>
      <p:bldP spid="87" grpId="0"/>
      <p:bldP spid="90" grpId="0"/>
      <p:bldP spid="91" grpId="0" animBg="1"/>
      <p:bldP spid="108" grpId="0"/>
      <p:bldP spid="109" grpId="0"/>
      <p:bldP spid="111" grpId="0"/>
      <p:bldP spid="95" grpId="0"/>
      <p:bldP spid="96" grpId="0"/>
      <p:bldP spid="143" grpId="0"/>
      <p:bldP spid="97" grpId="0"/>
      <p:bldP spid="99" grpId="0"/>
      <p:bldP spid="10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l="25413"/>
          <a:stretch/>
        </p:blipFill>
        <p:spPr>
          <a:xfrm>
            <a:off x="8626372" y="2477683"/>
            <a:ext cx="3001907" cy="10887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73712" y="3615503"/>
            <a:ext cx="1380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u="sng" smtClean="0"/>
              <a:t># images </a:t>
            </a:r>
            <a:r>
              <a:rPr lang="fr-FR" sz="1200" smtClean="0"/>
              <a:t>: 1M</a:t>
            </a:r>
          </a:p>
          <a:p>
            <a:r>
              <a:rPr lang="fr-FR" sz="1200" u="sng"/>
              <a:t>s</a:t>
            </a:r>
            <a:r>
              <a:rPr lang="fr-FR" sz="1200" u="sng" smtClean="0"/>
              <a:t>ource</a:t>
            </a:r>
            <a:r>
              <a:rPr lang="fr-FR" sz="1200" smtClean="0"/>
              <a:t> : internet </a:t>
            </a:r>
            <a:endParaRPr lang="fr-FR" sz="1200" u="sng" smtClean="0"/>
          </a:p>
          <a:p>
            <a:r>
              <a:rPr lang="fr-FR" sz="1200" u="sng" smtClean="0"/>
              <a:t>labeling</a:t>
            </a:r>
            <a:r>
              <a:rPr lang="fr-FR" sz="1200" smtClean="0"/>
              <a:t> : manual</a:t>
            </a:r>
            <a:endParaRPr lang="fr-FR" sz="1200" u="sng" smtClean="0"/>
          </a:p>
        </p:txBody>
      </p:sp>
      <p:sp>
        <p:nvSpPr>
          <p:cNvPr id="15" name="Rectangle 14"/>
          <p:cNvSpPr/>
          <p:nvPr/>
        </p:nvSpPr>
        <p:spPr>
          <a:xfrm>
            <a:off x="-2716" y="6431506"/>
            <a:ext cx="5048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Revisiting </a:t>
            </a:r>
            <a:r>
              <a:rPr lang="en-US" sz="1000" i="1"/>
              <a:t>Unreasonable Effectiveness of Data in </a:t>
            </a:r>
            <a:r>
              <a:rPr lang="en-US" sz="1000" i="1" smtClean="0"/>
              <a:t>DL Era</a:t>
            </a:r>
            <a:r>
              <a:rPr lang="en-US" sz="1000"/>
              <a:t>, Sun (2017</a:t>
            </a:r>
            <a:r>
              <a:rPr lang="en-US" sz="1000" smtClean="0"/>
              <a:t>)</a:t>
            </a:r>
            <a:endParaRPr lang="en-US" sz="1000"/>
          </a:p>
        </p:txBody>
      </p:sp>
      <p:sp>
        <p:nvSpPr>
          <p:cNvPr id="30" name="Rectangle 29"/>
          <p:cNvSpPr/>
          <p:nvPr/>
        </p:nvSpPr>
        <p:spPr>
          <a:xfrm>
            <a:off x="1286870" y="1869323"/>
            <a:ext cx="5934907" cy="7979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curious case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atasets : while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and model sizes have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increase[d] (…),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largest training dataset has surprisingly remained constant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3"/>
          <a:srcRect l="1112" r="1074"/>
          <a:stretch/>
        </p:blipFill>
        <p:spPr>
          <a:xfrm>
            <a:off x="482424" y="3468112"/>
            <a:ext cx="7486650" cy="12727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What of vision ?</a:t>
            </a: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-2716" y="6613447"/>
            <a:ext cx="42570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[2] </a:t>
            </a:r>
            <a:r>
              <a:rPr lang="fr-FR" sz="1000" i="1" smtClean="0"/>
              <a:t>ImageNet: A large-scale hierarchical image database</a:t>
            </a:r>
            <a:r>
              <a:rPr lang="fr-FR" sz="1000" smtClean="0"/>
              <a:t>, Deng (2009)</a:t>
            </a:r>
            <a:r>
              <a:rPr lang="en-US" sz="1000" smtClean="0"/>
              <a:t> </a:t>
            </a:r>
            <a:endParaRPr lang="en-US" sz="1000"/>
          </a:p>
        </p:txBody>
      </p:sp>
      <p:sp>
        <p:nvSpPr>
          <p:cNvPr id="29" name="ZoneTexte 28"/>
          <p:cNvSpPr txBox="1"/>
          <p:nvPr/>
        </p:nvSpPr>
        <p:spPr>
          <a:xfrm>
            <a:off x="9385901" y="2107531"/>
            <a:ext cx="148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1600" b="1" smtClean="0"/>
              <a:t>ImageNet</a:t>
            </a:r>
            <a:r>
              <a:rPr lang="fr-FR" sz="1600" b="1" baseline="30000" smtClean="0"/>
              <a:t>2</a:t>
            </a:r>
            <a:r>
              <a:rPr lang="fr-FR" sz="1600" b="1" smtClean="0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2252" y="1715307"/>
            <a:ext cx="370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smtClean="0"/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8811" y="3289420"/>
            <a:ext cx="370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192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30" grpId="0" animBg="1"/>
      <p:bldP spid="28" grpId="0"/>
      <p:bldP spid="29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How to scale CV datasets ?</a:t>
            </a:r>
            <a:endParaRPr lang="en-US"/>
          </a:p>
        </p:txBody>
      </p:sp>
      <p:pic>
        <p:nvPicPr>
          <p:cNvPr id="2" name="Image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333" y="1969313"/>
            <a:ext cx="1378397" cy="137839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>
            <a:clrChange>
              <a:clrFrom>
                <a:srgbClr val="7E7E7E"/>
              </a:clrFrom>
              <a:clrTo>
                <a:srgbClr val="7E7E7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83896" y="2833139"/>
            <a:ext cx="1645774" cy="1028869"/>
          </a:xfrm>
          <a:prstGeom prst="rect">
            <a:avLst/>
          </a:prstGeom>
        </p:spPr>
      </p:pic>
      <p:pic>
        <p:nvPicPr>
          <p:cNvPr id="17" name="Image 16"/>
          <p:cNvPicPr>
            <a:picLocks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4184">
            <a:off x="1915700" y="3229117"/>
            <a:ext cx="482113" cy="482113"/>
          </a:xfrm>
          <a:prstGeom prst="rect">
            <a:avLst/>
          </a:prstGeom>
        </p:spPr>
      </p:pic>
      <p:pic>
        <p:nvPicPr>
          <p:cNvPr id="19" name="Imag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089" y="1954502"/>
            <a:ext cx="1378397" cy="137839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clrChange>
              <a:clrFrom>
                <a:srgbClr val="7E7E7E"/>
              </a:clrFrom>
              <a:clrTo>
                <a:srgbClr val="7E7E7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786261" y="2862976"/>
            <a:ext cx="1645774" cy="1028869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 rot="1029497">
            <a:off x="5460642" y="3209339"/>
            <a:ext cx="870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smtClean="0"/>
              <a:t>dog</a:t>
            </a:r>
          </a:p>
        </p:txBody>
      </p:sp>
      <p:pic>
        <p:nvPicPr>
          <p:cNvPr id="20" name="Image 19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236" y="1969313"/>
            <a:ext cx="1378397" cy="137839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clrChange>
              <a:clrFrom>
                <a:srgbClr val="7E7E7E"/>
              </a:clrFrom>
              <a:clrTo>
                <a:srgbClr val="7E7E7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48538" y="2631889"/>
            <a:ext cx="2638314" cy="131609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 rot="916824">
            <a:off x="8793220" y="3038600"/>
            <a:ext cx="1361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/>
              <a:t>This is my dog Vodka, he is very cute !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80102" y="1218164"/>
            <a:ext cx="231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smtClean="0"/>
              <a:t>Self-supervise in image space</a:t>
            </a:r>
            <a:endParaRPr lang="en-US" b="1"/>
          </a:p>
        </p:txBody>
      </p:sp>
      <p:sp>
        <p:nvSpPr>
          <p:cNvPr id="22" name="ZoneTexte 21"/>
          <p:cNvSpPr txBox="1"/>
          <p:nvPr/>
        </p:nvSpPr>
        <p:spPr>
          <a:xfrm>
            <a:off x="4584477" y="1205464"/>
            <a:ext cx="231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smtClean="0"/>
              <a:t>Automatic labeling in « ML format »</a:t>
            </a:r>
            <a:endParaRPr lang="en-US" b="1"/>
          </a:p>
        </p:txBody>
      </p:sp>
      <p:sp>
        <p:nvSpPr>
          <p:cNvPr id="23" name="ZoneTexte 22"/>
          <p:cNvSpPr txBox="1"/>
          <p:nvPr/>
        </p:nvSpPr>
        <p:spPr>
          <a:xfrm>
            <a:off x="7532069" y="1223468"/>
            <a:ext cx="3955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smtClean="0"/>
              <a:t>Automatic labeling </a:t>
            </a:r>
          </a:p>
          <a:p>
            <a:pPr algn="ctr"/>
            <a:r>
              <a:rPr lang="fr-FR" b="1"/>
              <a:t> </a:t>
            </a:r>
            <a:r>
              <a:rPr lang="fr-FR" b="1" smtClean="0"/>
              <a:t>with natural language supervision</a:t>
            </a:r>
            <a:endParaRPr lang="en-US" b="1"/>
          </a:p>
        </p:txBody>
      </p:sp>
      <p:sp>
        <p:nvSpPr>
          <p:cNvPr id="24" name="Rectangle 23"/>
          <p:cNvSpPr/>
          <p:nvPr/>
        </p:nvSpPr>
        <p:spPr>
          <a:xfrm>
            <a:off x="-12220" y="6460030"/>
            <a:ext cx="51443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On the Opportunities and Risks of Foundation Models</a:t>
            </a:r>
            <a:r>
              <a:rPr lang="en-US" sz="1000" smtClean="0"/>
              <a:t>, Bommasani (Stanford) (2022)</a:t>
            </a:r>
            <a:endParaRPr lang="en-US" sz="1000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6"/>
          <a:srcRect l="66666"/>
          <a:stretch/>
        </p:blipFill>
        <p:spPr>
          <a:xfrm>
            <a:off x="1948832" y="4219398"/>
            <a:ext cx="1675692" cy="2018763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 rotWithShape="1">
          <a:blip r:embed="rId6"/>
          <a:srcRect r="66364"/>
          <a:stretch/>
        </p:blipFill>
        <p:spPr>
          <a:xfrm>
            <a:off x="281948" y="4219399"/>
            <a:ext cx="1690883" cy="2018763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>
          <a:xfrm>
            <a:off x="1067190" y="3924622"/>
            <a:ext cx="1686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/>
              <a:t>e.g.</a:t>
            </a:r>
            <a:r>
              <a:rPr lang="fr-FR" sz="1400" smtClean="0"/>
              <a:t> in-painting</a:t>
            </a:r>
            <a:r>
              <a:rPr lang="fr-FR" sz="1400" baseline="30000" smtClean="0"/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-15894" y="6611779"/>
            <a:ext cx="39709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Context encoders : feature learning by inpainting</a:t>
            </a:r>
            <a:r>
              <a:rPr lang="en-US" sz="1000" smtClean="0"/>
              <a:t>, Pathak (2016)</a:t>
            </a:r>
            <a:endParaRPr lang="en-US" sz="1000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 rotWithShape="1">
          <a:blip r:embed="rId7"/>
          <a:srcRect t="9658" b="12294"/>
          <a:stretch/>
        </p:blipFill>
        <p:spPr>
          <a:xfrm>
            <a:off x="5012114" y="4618855"/>
            <a:ext cx="1198657" cy="1149614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224" y="4452070"/>
            <a:ext cx="572002" cy="57200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183875" y="4586459"/>
            <a:ext cx="9685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mtClean="0"/>
              <a:t>Chilling !</a:t>
            </a:r>
          </a:p>
          <a:p>
            <a:r>
              <a:rPr lang="fr-FR" sz="1600" smtClean="0">
                <a:solidFill>
                  <a:schemeClr val="accent5">
                    <a:lumMod val="75000"/>
                  </a:schemeClr>
                </a:solidFill>
              </a:rPr>
              <a:t>#beach</a:t>
            </a:r>
            <a:endParaRPr lang="en-US" sz="16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3" name="Image 32"/>
          <p:cNvPicPr>
            <a:picLocks noChangeAspect="1"/>
          </p:cNvPicPr>
          <p:nvPr/>
        </p:nvPicPr>
        <p:blipFill>
          <a:blip r:embed="rId4">
            <a:clrChange>
              <a:clrFrom>
                <a:srgbClr val="7E7E7E"/>
              </a:clrFrom>
              <a:clrTo>
                <a:srgbClr val="7E7E7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5294811" y="5499558"/>
            <a:ext cx="1434194" cy="630369"/>
          </a:xfrm>
          <a:prstGeom prst="rect">
            <a:avLst/>
          </a:prstGeom>
          <a:ln>
            <a:noFill/>
          </a:ln>
        </p:spPr>
      </p:pic>
      <p:sp>
        <p:nvSpPr>
          <p:cNvPr id="34" name="Rectangle 33"/>
          <p:cNvSpPr/>
          <p:nvPr/>
        </p:nvSpPr>
        <p:spPr>
          <a:xfrm>
            <a:off x="5890471" y="5681834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smtClean="0"/>
              <a:t>beach </a:t>
            </a:r>
            <a:endParaRPr lang="en-US" sz="1600"/>
          </a:p>
        </p:txBody>
      </p:sp>
      <p:sp>
        <p:nvSpPr>
          <p:cNvPr id="36" name="Rectangle 35"/>
          <p:cNvSpPr/>
          <p:nvPr/>
        </p:nvSpPr>
        <p:spPr>
          <a:xfrm>
            <a:off x="5170475" y="6429703"/>
            <a:ext cx="44310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[3] </a:t>
            </a:r>
            <a:r>
              <a:rPr lang="en-US" sz="1000" i="1" smtClean="0"/>
              <a:t>Exploring </a:t>
            </a:r>
            <a:r>
              <a:rPr lang="en-US" sz="1000" i="1"/>
              <a:t>the Limits of Weakly Supervised </a:t>
            </a:r>
            <a:r>
              <a:rPr lang="en-US" sz="1000" i="1" smtClean="0"/>
              <a:t>Pretraining</a:t>
            </a:r>
            <a:r>
              <a:rPr lang="en-US" sz="1000" smtClean="0"/>
              <a:t>, Mahajan (2018)</a:t>
            </a:r>
            <a:endParaRPr lang="en-US" sz="1000"/>
          </a:p>
        </p:txBody>
      </p:sp>
      <p:sp>
        <p:nvSpPr>
          <p:cNvPr id="37" name="ZoneTexte 36"/>
          <p:cNvSpPr txBox="1"/>
          <p:nvPr/>
        </p:nvSpPr>
        <p:spPr>
          <a:xfrm>
            <a:off x="4711224" y="3979294"/>
            <a:ext cx="1936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/>
              <a:t>e.g.</a:t>
            </a:r>
            <a:r>
              <a:rPr lang="fr-FR" sz="1400" smtClean="0"/>
              <a:t> Instagram-3,5B</a:t>
            </a:r>
            <a:r>
              <a:rPr lang="fr-FR" sz="1400" baseline="30000" smtClean="0"/>
              <a:t>3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8329615" y="3972210"/>
            <a:ext cx="1936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/>
              <a:t>e.g.</a:t>
            </a:r>
            <a:r>
              <a:rPr lang="fr-FR" sz="1400" smtClean="0"/>
              <a:t> CLIP</a:t>
            </a:r>
            <a:r>
              <a:rPr lang="fr-FR" sz="1400" baseline="30000" smtClean="0"/>
              <a:t>4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4057650" y="1216117"/>
            <a:ext cx="0" cy="497673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7357411" y="1205464"/>
            <a:ext cx="0" cy="492446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170475" y="6611778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[4] </a:t>
            </a:r>
            <a:r>
              <a:rPr lang="en-US" sz="1000" i="1" smtClean="0"/>
              <a:t>Learning </a:t>
            </a:r>
            <a:r>
              <a:rPr lang="en-US" sz="1000" i="1"/>
              <a:t>Transferable Visual Models From Natural Language </a:t>
            </a:r>
            <a:r>
              <a:rPr lang="en-US" sz="1000" i="1" smtClean="0"/>
              <a:t>Supervision</a:t>
            </a:r>
            <a:r>
              <a:rPr lang="en-US" sz="1000" smtClean="0"/>
              <a:t>, Radford (OpenAI) (2021)</a:t>
            </a:r>
            <a:endParaRPr lang="en-US" sz="1000" i="1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490171" y="4127578"/>
            <a:ext cx="1679128" cy="20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  <p:bldP spid="22" grpId="0"/>
      <p:bldP spid="23" grpId="0"/>
      <p:bldP spid="28" grpId="0"/>
      <p:bldP spid="32" grpId="0"/>
      <p:bldP spid="34" grpId="0"/>
      <p:bldP spid="36" grpId="0"/>
      <p:bldP spid="37" grpId="0"/>
      <p:bldP spid="38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852021" y="0"/>
            <a:ext cx="2339979" cy="982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1734423" y="2881322"/>
            <a:ext cx="2219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u="sng" smtClean="0"/>
              <a:t># images</a:t>
            </a:r>
            <a:r>
              <a:rPr lang="fr-FR" sz="1200" smtClean="0"/>
              <a:t> : 90M</a:t>
            </a:r>
          </a:p>
          <a:p>
            <a:r>
              <a:rPr lang="fr-FR" sz="1200" u="sng" smtClean="0"/>
              <a:t>source</a:t>
            </a:r>
            <a:r>
              <a:rPr lang="fr-FR" sz="1200" smtClean="0"/>
              <a:t> : Flickr</a:t>
            </a:r>
            <a:endParaRPr lang="fr-FR" sz="1200" u="sng" smtClean="0"/>
          </a:p>
          <a:p>
            <a:r>
              <a:rPr lang="fr-FR" sz="1200" u="sng" smtClean="0"/>
              <a:t>labeling</a:t>
            </a:r>
            <a:r>
              <a:rPr lang="fr-FR" sz="1200" smtClean="0"/>
              <a:t> : uploader captions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8459"/>
          <a:stretch/>
        </p:blipFill>
        <p:spPr>
          <a:xfrm>
            <a:off x="1972541" y="2083428"/>
            <a:ext cx="1124664" cy="569412"/>
          </a:xfrm>
          <a:prstGeom prst="rect">
            <a:avLst/>
          </a:prstGeom>
        </p:spPr>
      </p:pic>
      <p:sp>
        <p:nvSpPr>
          <p:cNvPr id="7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fr-FR" smtClean="0"/>
              <a:t>NLS is easily scalable</a:t>
            </a:r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606" y="4373015"/>
            <a:ext cx="3717268" cy="18884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9664" y="800040"/>
            <a:ext cx="832792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smtClean="0">
                <a:sym typeface="Wingdings" panose="05000000000000000000" pitchFamily="2" charset="2"/>
              </a:rPr>
              <a:t>Most images on the web are associated with a natural language text rather than a « ML-format » label.</a:t>
            </a:r>
          </a:p>
          <a:p>
            <a:endParaRPr lang="fr-FR" sz="1400">
              <a:sym typeface="Wingdings" panose="05000000000000000000" pitchFamily="2" charset="2"/>
            </a:endParaRPr>
          </a:p>
          <a:p>
            <a:r>
              <a:rPr lang="fr-FR" sz="1400" smtClean="0">
                <a:sym typeface="Wingdings" panose="05000000000000000000" pitchFamily="2" charset="2"/>
              </a:rPr>
              <a:t> Easy to scale NLS datasets by simple web crawl. </a:t>
            </a:r>
            <a:endParaRPr lang="en-US" sz="1400"/>
          </a:p>
        </p:txBody>
      </p:sp>
      <p:sp>
        <p:nvSpPr>
          <p:cNvPr id="53" name="Rectangle 52"/>
          <p:cNvSpPr/>
          <p:nvPr/>
        </p:nvSpPr>
        <p:spPr>
          <a:xfrm>
            <a:off x="1483592" y="1624336"/>
            <a:ext cx="21729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v"/>
            </a:pPr>
            <a:r>
              <a:rPr lang="en-US" sz="1400" b="1"/>
              <a:t>Yahoo </a:t>
            </a:r>
            <a:r>
              <a:rPr lang="en-US" sz="1400" b="1" smtClean="0"/>
              <a:t>Flickr dataset</a:t>
            </a:r>
            <a:r>
              <a:rPr lang="en-US" sz="1400" b="1" baseline="30000" smtClean="0"/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68454" y="1608835"/>
            <a:ext cx="18191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smtClean="0"/>
              <a:t>WebImageText</a:t>
            </a:r>
            <a:r>
              <a:rPr lang="en-US" sz="1400" b="1" baseline="30000" smtClean="0"/>
              <a:t>2</a:t>
            </a:r>
            <a:endParaRPr lang="en-US" sz="1400" baseline="30000"/>
          </a:p>
        </p:txBody>
      </p:sp>
      <p:pic>
        <p:nvPicPr>
          <p:cNvPr id="58" name="Image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303525" y="1806629"/>
            <a:ext cx="949208" cy="1200177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4764016" y="2955055"/>
            <a:ext cx="2327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u="sng" smtClean="0"/>
              <a:t># images</a:t>
            </a:r>
            <a:r>
              <a:rPr lang="fr-FR" sz="1200" smtClean="0"/>
              <a:t> : 400M (~ GPT-2)</a:t>
            </a:r>
          </a:p>
          <a:p>
            <a:r>
              <a:rPr lang="fr-FR" sz="1200" u="sng" smtClean="0"/>
              <a:t>source</a:t>
            </a:r>
            <a:r>
              <a:rPr lang="fr-FR" sz="1200" smtClean="0"/>
              <a:t> : internet</a:t>
            </a:r>
            <a:endParaRPr lang="fr-FR" sz="1200" u="sng" smtClean="0"/>
          </a:p>
          <a:p>
            <a:r>
              <a:rPr lang="fr-FR" sz="1200" u="sng" smtClean="0"/>
              <a:t>labeling</a:t>
            </a:r>
            <a:r>
              <a:rPr lang="fr-FR" sz="1200" smtClean="0"/>
              <a:t> : « associated » text</a:t>
            </a:r>
            <a:endParaRPr lang="fr-FR" sz="1200" u="sng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6"/>
          <a:srcRect b="23958"/>
          <a:stretch/>
        </p:blipFill>
        <p:spPr>
          <a:xfrm>
            <a:off x="6016484" y="4440898"/>
            <a:ext cx="4781349" cy="18401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à coins arrondis 2"/>
          <p:cNvSpPr/>
          <p:nvPr/>
        </p:nvSpPr>
        <p:spPr>
          <a:xfrm>
            <a:off x="7699602" y="4554835"/>
            <a:ext cx="812800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0" name="Rectangle à coins arrondis 19"/>
          <p:cNvSpPr/>
          <p:nvPr/>
        </p:nvSpPr>
        <p:spPr>
          <a:xfrm>
            <a:off x="8573748" y="4554835"/>
            <a:ext cx="538093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1" name="Rectangle à coins arrondis 20"/>
          <p:cNvSpPr/>
          <p:nvPr/>
        </p:nvSpPr>
        <p:spPr>
          <a:xfrm>
            <a:off x="9152461" y="4554835"/>
            <a:ext cx="433904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2" name="Rectangle à coins arrondis 21"/>
          <p:cNvSpPr/>
          <p:nvPr/>
        </p:nvSpPr>
        <p:spPr>
          <a:xfrm>
            <a:off x="6119700" y="4852015"/>
            <a:ext cx="799663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3" name="Rectangle à coins arrondis 22"/>
          <p:cNvSpPr/>
          <p:nvPr/>
        </p:nvSpPr>
        <p:spPr>
          <a:xfrm>
            <a:off x="7706171" y="4852015"/>
            <a:ext cx="417154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4" name="Rectangle à coins arrondis 23"/>
          <p:cNvSpPr/>
          <p:nvPr/>
        </p:nvSpPr>
        <p:spPr>
          <a:xfrm>
            <a:off x="8156594" y="4852015"/>
            <a:ext cx="625860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5" name="Rectangle à coins arrondis 24"/>
          <p:cNvSpPr/>
          <p:nvPr/>
        </p:nvSpPr>
        <p:spPr>
          <a:xfrm>
            <a:off x="6119700" y="5432752"/>
            <a:ext cx="1153994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6" name="Rectangle à coins arrondis 25"/>
          <p:cNvSpPr/>
          <p:nvPr/>
        </p:nvSpPr>
        <p:spPr>
          <a:xfrm>
            <a:off x="6119700" y="5727800"/>
            <a:ext cx="1112084" cy="245366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7" name="Rectangle à coins arrondis 26"/>
          <p:cNvSpPr/>
          <p:nvPr/>
        </p:nvSpPr>
        <p:spPr>
          <a:xfrm>
            <a:off x="6119700" y="6022848"/>
            <a:ext cx="696794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8" name="Rectangle à coins arrondis 27"/>
          <p:cNvSpPr/>
          <p:nvPr/>
        </p:nvSpPr>
        <p:spPr>
          <a:xfrm>
            <a:off x="9689671" y="5138809"/>
            <a:ext cx="372944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9" name="Rectangle à coins arrondis 28"/>
          <p:cNvSpPr/>
          <p:nvPr/>
        </p:nvSpPr>
        <p:spPr>
          <a:xfrm>
            <a:off x="7886677" y="5432752"/>
            <a:ext cx="1139617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0" name="Rectangle à coins arrondis 29"/>
          <p:cNvSpPr/>
          <p:nvPr/>
        </p:nvSpPr>
        <p:spPr>
          <a:xfrm>
            <a:off x="6547574" y="4554834"/>
            <a:ext cx="1111407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1" name="Rectangle à coins arrondis 30"/>
          <p:cNvSpPr/>
          <p:nvPr/>
        </p:nvSpPr>
        <p:spPr>
          <a:xfrm>
            <a:off x="6976642" y="4848287"/>
            <a:ext cx="682339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2" name="Rectangle à coins arrondis 31"/>
          <p:cNvSpPr/>
          <p:nvPr/>
        </p:nvSpPr>
        <p:spPr>
          <a:xfrm>
            <a:off x="9626985" y="4554834"/>
            <a:ext cx="932111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3" name="Rectangle à coins arrondis 32"/>
          <p:cNvSpPr/>
          <p:nvPr/>
        </p:nvSpPr>
        <p:spPr>
          <a:xfrm>
            <a:off x="8832159" y="4848286"/>
            <a:ext cx="514175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4" name="Rectangle à coins arrondis 33"/>
          <p:cNvSpPr/>
          <p:nvPr/>
        </p:nvSpPr>
        <p:spPr>
          <a:xfrm>
            <a:off x="10230254" y="5437618"/>
            <a:ext cx="465049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5" name="Rectangle à coins arrondis 34"/>
          <p:cNvSpPr/>
          <p:nvPr/>
        </p:nvSpPr>
        <p:spPr>
          <a:xfrm>
            <a:off x="8744806" y="5138809"/>
            <a:ext cx="882179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6" name="Rectangle à coins arrondis 35"/>
          <p:cNvSpPr/>
          <p:nvPr/>
        </p:nvSpPr>
        <p:spPr>
          <a:xfrm>
            <a:off x="7630223" y="5145385"/>
            <a:ext cx="1051898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7" name="Rectangle à coins arrondis 36"/>
          <p:cNvSpPr/>
          <p:nvPr/>
        </p:nvSpPr>
        <p:spPr>
          <a:xfrm>
            <a:off x="6101688" y="5141740"/>
            <a:ext cx="1465849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38" name="Rectangle à coins arrondis 37"/>
          <p:cNvSpPr/>
          <p:nvPr/>
        </p:nvSpPr>
        <p:spPr>
          <a:xfrm>
            <a:off x="8120516" y="5725259"/>
            <a:ext cx="1506469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0" name="Rectangle à coins arrondis 39"/>
          <p:cNvSpPr/>
          <p:nvPr/>
        </p:nvSpPr>
        <p:spPr>
          <a:xfrm>
            <a:off x="9689670" y="5723208"/>
            <a:ext cx="715844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1" name="Rectangle à coins arrondis 40"/>
          <p:cNvSpPr/>
          <p:nvPr/>
        </p:nvSpPr>
        <p:spPr>
          <a:xfrm>
            <a:off x="6873862" y="6022848"/>
            <a:ext cx="693675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2" name="Rectangle à coins arrondis 41"/>
          <p:cNvSpPr/>
          <p:nvPr/>
        </p:nvSpPr>
        <p:spPr>
          <a:xfrm>
            <a:off x="7288071" y="5731345"/>
            <a:ext cx="769760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3" name="Rectangle à coins arrondis 42"/>
          <p:cNvSpPr/>
          <p:nvPr/>
        </p:nvSpPr>
        <p:spPr>
          <a:xfrm>
            <a:off x="7314722" y="5425129"/>
            <a:ext cx="522852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4" name="Rectangle à coins arrondis 43"/>
          <p:cNvSpPr/>
          <p:nvPr/>
        </p:nvSpPr>
        <p:spPr>
          <a:xfrm>
            <a:off x="9777300" y="5429230"/>
            <a:ext cx="411043" cy="231532"/>
          </a:xfrm>
          <a:prstGeom prst="roundRect">
            <a:avLst/>
          </a:prstGeom>
          <a:noFill/>
          <a:ln w="19050">
            <a:solidFill>
              <a:srgbClr val="0063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5" name="Rectangle à coins arrondis 44"/>
          <p:cNvSpPr/>
          <p:nvPr/>
        </p:nvSpPr>
        <p:spPr>
          <a:xfrm>
            <a:off x="9068205" y="5437617"/>
            <a:ext cx="667184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6" name="Rectangle à coins arrondis 45"/>
          <p:cNvSpPr/>
          <p:nvPr/>
        </p:nvSpPr>
        <p:spPr>
          <a:xfrm>
            <a:off x="7624904" y="6015190"/>
            <a:ext cx="790485" cy="235633"/>
          </a:xfrm>
          <a:prstGeom prst="roundRect">
            <a:avLst/>
          </a:prstGeom>
          <a:noFill/>
          <a:ln w="19050">
            <a:solidFill>
              <a:srgbClr val="FF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7" name="Rectangle 46"/>
          <p:cNvSpPr/>
          <p:nvPr/>
        </p:nvSpPr>
        <p:spPr>
          <a:xfrm>
            <a:off x="6413606" y="3939173"/>
            <a:ext cx="41454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smtClean="0">
                <a:sym typeface="Wingdings" panose="05000000000000000000" pitchFamily="2" charset="2"/>
              </a:rPr>
              <a:t>SotA : weight shift from </a:t>
            </a:r>
            <a:r>
              <a:rPr lang="fr-FR" sz="1400" smtClean="0">
                <a:solidFill>
                  <a:srgbClr val="0063DB"/>
                </a:solidFill>
                <a:sym typeface="Wingdings" panose="05000000000000000000" pitchFamily="2" charset="2"/>
              </a:rPr>
              <a:t>architecture </a:t>
            </a:r>
            <a:r>
              <a:rPr lang="fr-FR" sz="1400" smtClean="0">
                <a:sym typeface="Wingdings" panose="05000000000000000000" pitchFamily="2" charset="2"/>
              </a:rPr>
              <a:t>to </a:t>
            </a:r>
            <a:r>
              <a:rPr lang="fr-FR" sz="1400" smtClean="0">
                <a:solidFill>
                  <a:srgbClr val="FF0084"/>
                </a:solidFill>
                <a:sym typeface="Wingdings" panose="05000000000000000000" pitchFamily="2" charset="2"/>
              </a:rPr>
              <a:t>dataset</a:t>
            </a:r>
            <a:endParaRPr lang="fr-FR" sz="1400" smtClean="0">
              <a:solidFill>
                <a:srgbClr val="FF0084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43486" y="4165036"/>
            <a:ext cx="39243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i="1" smtClean="0">
                <a:sym typeface="Wingdings" panose="05000000000000000000" pitchFamily="2" charset="2"/>
              </a:rPr>
              <a:t>filters on IN classification leaderboard (paperswithcode)</a:t>
            </a:r>
            <a:endParaRPr lang="fr-FR" sz="1200" i="1" smtClean="0"/>
          </a:p>
        </p:txBody>
      </p:sp>
      <p:sp>
        <p:nvSpPr>
          <p:cNvPr id="13" name="Rectangle 12"/>
          <p:cNvSpPr/>
          <p:nvPr/>
        </p:nvSpPr>
        <p:spPr>
          <a:xfrm>
            <a:off x="282218" y="7391171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/>
              <a:t>FLAVA: A Foundational Language And Vision Alignment Model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714" y="4750638"/>
            <a:ext cx="4330125" cy="4897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our corpus can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up for its noise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leads to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SotA representations.</a:t>
            </a:r>
            <a:endParaRPr lang="en-US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952315" y="3829362"/>
            <a:ext cx="2771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sym typeface="Wingdings" panose="05000000000000000000" pitchFamily="2" charset="2"/>
              </a:rPr>
              <a:t>Noisy…</a:t>
            </a:r>
          </a:p>
          <a:p>
            <a:pPr algn="ctr"/>
            <a:r>
              <a:rPr lang="fr-FR" sz="1400" smtClean="0">
                <a:sym typeface="Wingdings" panose="05000000000000000000" pitchFamily="2" charset="2"/>
              </a:rPr>
              <a:t>but big is better than clean.</a:t>
            </a:r>
            <a:endParaRPr lang="fr-FR" sz="1400" smtClean="0"/>
          </a:p>
        </p:txBody>
      </p:sp>
      <p:pic>
        <p:nvPicPr>
          <p:cNvPr id="60" name="Image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921" y="1910124"/>
            <a:ext cx="1448891" cy="1124446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8346167" y="2955054"/>
            <a:ext cx="16079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u="sng" smtClean="0"/>
              <a:t># images</a:t>
            </a:r>
            <a:r>
              <a:rPr lang="fr-FR" sz="1200" smtClean="0"/>
              <a:t> : 1.8B</a:t>
            </a:r>
          </a:p>
          <a:p>
            <a:r>
              <a:rPr lang="fr-FR" sz="1200" u="sng"/>
              <a:t>source</a:t>
            </a:r>
            <a:r>
              <a:rPr lang="fr-FR" sz="1200"/>
              <a:t> : internet</a:t>
            </a:r>
            <a:endParaRPr lang="fr-FR" sz="1200" u="sng"/>
          </a:p>
          <a:p>
            <a:r>
              <a:rPr lang="fr-FR" sz="1200" u="sng" smtClean="0"/>
              <a:t>labeling</a:t>
            </a:r>
            <a:r>
              <a:rPr lang="fr-FR" sz="1200" smtClean="0"/>
              <a:t> : alt-text</a:t>
            </a:r>
            <a:endParaRPr lang="fr-FR" sz="1200" u="sng" smtClean="0"/>
          </a:p>
        </p:txBody>
      </p:sp>
      <p:sp>
        <p:nvSpPr>
          <p:cNvPr id="63" name="Rectangle 62"/>
          <p:cNvSpPr/>
          <p:nvPr/>
        </p:nvSpPr>
        <p:spPr>
          <a:xfrm>
            <a:off x="8056658" y="1624336"/>
            <a:ext cx="18053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smtClean="0"/>
              <a:t>ALIGN dataset</a:t>
            </a:r>
            <a:r>
              <a:rPr lang="en-US" sz="1400" b="1" baseline="30000" smtClean="0"/>
              <a:t>3</a:t>
            </a:r>
            <a:endParaRPr lang="en-US" sz="1400" baseline="30000"/>
          </a:p>
        </p:txBody>
      </p:sp>
      <p:sp>
        <p:nvSpPr>
          <p:cNvPr id="50" name="Rectangle 49"/>
          <p:cNvSpPr/>
          <p:nvPr/>
        </p:nvSpPr>
        <p:spPr>
          <a:xfrm>
            <a:off x="-47785" y="6475329"/>
            <a:ext cx="42643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YFCC100M</a:t>
            </a:r>
            <a:r>
              <a:rPr lang="en-US" sz="1000" i="1"/>
              <a:t>: The New Data in Multimedia </a:t>
            </a:r>
            <a:r>
              <a:rPr lang="en-US" sz="1000" i="1" smtClean="0"/>
              <a:t>Research, </a:t>
            </a:r>
            <a:r>
              <a:rPr lang="en-US" sz="1000" smtClean="0"/>
              <a:t>Thomee (2016) </a:t>
            </a:r>
            <a:endParaRPr lang="en-US" sz="1000"/>
          </a:p>
        </p:txBody>
      </p:sp>
      <p:sp>
        <p:nvSpPr>
          <p:cNvPr id="52" name="Rectangle 51"/>
          <p:cNvSpPr/>
          <p:nvPr/>
        </p:nvSpPr>
        <p:spPr>
          <a:xfrm>
            <a:off x="5554176" y="7709749"/>
            <a:ext cx="367542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[6] </a:t>
            </a:r>
            <a:r>
              <a:rPr lang="en-US" sz="1000" i="1" smtClean="0"/>
              <a:t>Scaling </a:t>
            </a:r>
            <a:r>
              <a:rPr lang="en-US" sz="1000" i="1"/>
              <a:t>Up </a:t>
            </a:r>
            <a:r>
              <a:rPr lang="en-US" sz="1000" i="1" smtClean="0"/>
              <a:t>(…) with </a:t>
            </a:r>
            <a:r>
              <a:rPr lang="en-US" sz="1000" i="1"/>
              <a:t>Noisy Text </a:t>
            </a:r>
            <a:r>
              <a:rPr lang="en-US" sz="1000" i="1" smtClean="0"/>
              <a:t>Supervision</a:t>
            </a:r>
            <a:r>
              <a:rPr lang="en-US" sz="1000" smtClean="0"/>
              <a:t>, Jia (2021)</a:t>
            </a:r>
            <a:endParaRPr lang="en-US" sz="1000"/>
          </a:p>
        </p:txBody>
      </p:sp>
      <p:sp>
        <p:nvSpPr>
          <p:cNvPr id="56" name="Rectangle 55"/>
          <p:cNvSpPr/>
          <p:nvPr/>
        </p:nvSpPr>
        <p:spPr>
          <a:xfrm>
            <a:off x="5549533" y="7540952"/>
            <a:ext cx="418427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[5] </a:t>
            </a:r>
            <a:r>
              <a:rPr lang="en-US" sz="1000" i="1" smtClean="0"/>
              <a:t>Learning (…) </a:t>
            </a:r>
            <a:r>
              <a:rPr lang="en-US" sz="1000" i="1"/>
              <a:t>Visual Models From </a:t>
            </a:r>
            <a:r>
              <a:rPr lang="en-US" sz="1000" i="1" smtClean="0"/>
              <a:t>Language (…)</a:t>
            </a:r>
            <a:r>
              <a:rPr lang="en-US" sz="1000" smtClean="0"/>
              <a:t>, Radford (2021)</a:t>
            </a:r>
            <a:endParaRPr lang="en-US" sz="1000"/>
          </a:p>
        </p:txBody>
      </p:sp>
      <p:sp>
        <p:nvSpPr>
          <p:cNvPr id="4" name="Rectangle 3"/>
          <p:cNvSpPr/>
          <p:nvPr/>
        </p:nvSpPr>
        <p:spPr>
          <a:xfrm>
            <a:off x="-47785" y="6644160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Learning </a:t>
            </a:r>
            <a:r>
              <a:rPr lang="en-US" sz="1000" i="1"/>
              <a:t>Transferable Visual Models From Natural Language </a:t>
            </a:r>
            <a:r>
              <a:rPr lang="en-US" sz="1000" i="1" smtClean="0"/>
              <a:t>Supervision</a:t>
            </a:r>
            <a:r>
              <a:rPr lang="en-US" sz="1000" smtClean="0"/>
              <a:t>, Radford (OpenAI) (2021)</a:t>
            </a:r>
            <a:endParaRPr lang="en-US" sz="1000" i="1"/>
          </a:p>
        </p:txBody>
      </p:sp>
      <p:sp>
        <p:nvSpPr>
          <p:cNvPr id="8" name="Rectangle 7"/>
          <p:cNvSpPr/>
          <p:nvPr/>
        </p:nvSpPr>
        <p:spPr>
          <a:xfrm>
            <a:off x="6048215" y="6487748"/>
            <a:ext cx="56153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[3] </a:t>
            </a:r>
            <a:r>
              <a:rPr lang="en-US" sz="1000" i="1" smtClean="0"/>
              <a:t>Scaling </a:t>
            </a:r>
            <a:r>
              <a:rPr lang="en-US" sz="1000" i="1"/>
              <a:t>Up Visual and Vision-Language Representation Learning </a:t>
            </a:r>
            <a:r>
              <a:rPr lang="en-US" sz="1000" i="1" smtClean="0"/>
              <a:t>(…)</a:t>
            </a:r>
            <a:r>
              <a:rPr lang="en-US" sz="1000" smtClean="0"/>
              <a:t>, Jia (Google) (2021)</a:t>
            </a:r>
            <a:endParaRPr lang="en-US" sz="1000"/>
          </a:p>
        </p:txBody>
      </p:sp>
      <p:sp>
        <p:nvSpPr>
          <p:cNvPr id="57" name="Rectangle 56"/>
          <p:cNvSpPr/>
          <p:nvPr/>
        </p:nvSpPr>
        <p:spPr>
          <a:xfrm>
            <a:off x="4459661" y="4484145"/>
            <a:ext cx="37607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smtClean="0"/>
              <a:t>3</a:t>
            </a:r>
          </a:p>
        </p:txBody>
      </p:sp>
      <p:pic>
        <p:nvPicPr>
          <p:cNvPr id="59" name="Image 5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1217397" y="148725"/>
            <a:ext cx="720000" cy="7200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10974417" y="839276"/>
            <a:ext cx="1168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dog Rex :  he’s so cute !</a:t>
            </a:r>
            <a:endParaRPr lang="en-US" sz="1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Image 64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0150663" y="160166"/>
            <a:ext cx="720000" cy="72000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9991478" y="850717"/>
            <a:ext cx="10383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endParaRPr lang="en-US" sz="14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992441" y="4239534"/>
            <a:ext cx="37607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0265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3" grpId="0"/>
      <p:bldP spid="54" grpId="0"/>
      <p:bldP spid="69" grpId="0"/>
      <p:bldP spid="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51" grpId="0" animBg="1"/>
      <p:bldP spid="62" grpId="0"/>
      <p:bldP spid="63" grpId="0"/>
      <p:bldP spid="50" grpId="0"/>
      <p:bldP spid="4" grpId="0"/>
      <p:bldP spid="8" grpId="0"/>
      <p:bldP spid="57" grpId="0"/>
      <p:bldP spid="61" grpId="0"/>
      <p:bldP spid="66" grpId="0"/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Self-supervision with NLS : generative methods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72" y="1320477"/>
            <a:ext cx="47007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smtClean="0"/>
              <a:t>Simple Vision-Language Model (SimVLM)</a:t>
            </a:r>
            <a:r>
              <a:rPr lang="en-US" sz="1400" b="1" baseline="30000" smtClean="0"/>
              <a:t>1</a:t>
            </a:r>
            <a:endParaRPr lang="en-US" sz="1400" baseline="30000" smtClean="0"/>
          </a:p>
        </p:txBody>
      </p:sp>
      <p:sp>
        <p:nvSpPr>
          <p:cNvPr id="11" name="Rectangle à coins arrondis 10"/>
          <p:cNvSpPr/>
          <p:nvPr/>
        </p:nvSpPr>
        <p:spPr>
          <a:xfrm>
            <a:off x="4484057" y="2592500"/>
            <a:ext cx="5270976" cy="261244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fr-FR" sz="1400" smtClean="0">
                <a:solidFill>
                  <a:sysClr val="windowText" lastClr="000000"/>
                </a:solidFill>
              </a:rPr>
              <a:t>Encoder (Transformer)</a:t>
            </a:r>
            <a:endParaRPr lang="en-US" sz="1400" i="1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14" name="Image 13"/>
          <p:cNvPicPr>
            <a:picLocks/>
          </p:cNvPicPr>
          <p:nvPr/>
        </p:nvPicPr>
        <p:blipFill rotWithShape="1">
          <a:blip r:embed="rId2"/>
          <a:srcRect l="6395" r="12372"/>
          <a:stretch/>
        </p:blipFill>
        <p:spPr>
          <a:xfrm>
            <a:off x="2444697" y="2271120"/>
            <a:ext cx="1129847" cy="1129847"/>
          </a:xfrm>
          <a:prstGeom prst="rect">
            <a:avLst/>
          </a:prstGeom>
        </p:spPr>
      </p:pic>
      <p:pic>
        <p:nvPicPr>
          <p:cNvPr id="22" name="Image 2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25978" y="3487696"/>
            <a:ext cx="360000" cy="360000"/>
          </a:xfrm>
          <a:prstGeom prst="rect">
            <a:avLst/>
          </a:prstGeom>
        </p:spPr>
      </p:pic>
      <p:pic>
        <p:nvPicPr>
          <p:cNvPr id="23" name="Image 22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808105" y="3487696"/>
            <a:ext cx="360000" cy="360000"/>
          </a:xfrm>
          <a:prstGeom prst="rect">
            <a:avLst/>
          </a:prstGeom>
        </p:spPr>
      </p:pic>
      <p:pic>
        <p:nvPicPr>
          <p:cNvPr id="24" name="Image 23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190534" y="3487696"/>
            <a:ext cx="360000" cy="360000"/>
          </a:xfrm>
          <a:prstGeom prst="rect">
            <a:avLst/>
          </a:prstGeom>
        </p:spPr>
      </p:pic>
      <p:pic>
        <p:nvPicPr>
          <p:cNvPr id="25" name="Image 24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572963" y="3487696"/>
            <a:ext cx="360000" cy="360000"/>
          </a:xfrm>
          <a:prstGeom prst="rect">
            <a:avLst/>
          </a:prstGeom>
        </p:spPr>
      </p:pic>
      <p:pic>
        <p:nvPicPr>
          <p:cNvPr id="26" name="Image 25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955392" y="3487696"/>
            <a:ext cx="360000" cy="360000"/>
          </a:xfrm>
          <a:prstGeom prst="rect">
            <a:avLst/>
          </a:prstGeom>
        </p:spPr>
      </p:pic>
      <p:pic>
        <p:nvPicPr>
          <p:cNvPr id="27" name="Image 26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337821" y="3488494"/>
            <a:ext cx="360000" cy="360000"/>
          </a:xfrm>
          <a:prstGeom prst="rect">
            <a:avLst/>
          </a:prstGeom>
        </p:spPr>
      </p:pic>
      <p:pic>
        <p:nvPicPr>
          <p:cNvPr id="28" name="Image 27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719948" y="3487696"/>
            <a:ext cx="360000" cy="360000"/>
          </a:xfrm>
          <a:prstGeom prst="rect">
            <a:avLst/>
          </a:prstGeom>
        </p:spPr>
      </p:pic>
      <p:pic>
        <p:nvPicPr>
          <p:cNvPr id="30" name="Image 29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492504" y="3487696"/>
            <a:ext cx="360000" cy="360000"/>
          </a:xfrm>
          <a:prstGeom prst="rect">
            <a:avLst/>
          </a:prstGeom>
        </p:spPr>
      </p:pic>
      <p:pic>
        <p:nvPicPr>
          <p:cNvPr id="31" name="Image 30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106226" y="3487696"/>
            <a:ext cx="360000" cy="3600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862477" y="3400658"/>
            <a:ext cx="22942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brown dog and a white dog are running on the beach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9225" y="3513807"/>
            <a:ext cx="22942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brown dog and a white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186235" y="1699281"/>
            <a:ext cx="23673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 are running on the beach.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Connecteur droit avec flèche 65"/>
          <p:cNvCxnSpPr/>
          <p:nvPr/>
        </p:nvCxnSpPr>
        <p:spPr>
          <a:xfrm flipV="1">
            <a:off x="7153870" y="2016191"/>
            <a:ext cx="0" cy="576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29470" y="4415168"/>
            <a:ext cx="85530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smtClean="0"/>
              <a:t>« Prefix LM » : add image as prefix to LM task </a:t>
            </a:r>
            <a:r>
              <a:rPr lang="fr-FR" sz="1400" smtClean="0">
                <a:sym typeface="Wingdings" panose="05000000000000000000" pitchFamily="2" charset="2"/>
              </a:rPr>
              <a:t> many other fusion implementations are possible</a:t>
            </a:r>
            <a:r>
              <a:rPr lang="fr-FR" sz="1400" baseline="30000" smtClean="0">
                <a:sym typeface="Wingdings" panose="05000000000000000000" pitchFamily="2" charset="2"/>
              </a:rPr>
              <a:t>2</a:t>
            </a:r>
            <a:endParaRPr lang="fr-FR" sz="1400" baseline="30000" smtClean="0"/>
          </a:p>
        </p:txBody>
      </p:sp>
      <p:sp>
        <p:nvSpPr>
          <p:cNvPr id="70" name="Rectangle 69"/>
          <p:cNvSpPr/>
          <p:nvPr/>
        </p:nvSpPr>
        <p:spPr>
          <a:xfrm>
            <a:off x="249577" y="812174"/>
            <a:ext cx="50273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smtClean="0"/>
              <a:t>Learn a joint visual and text representation through masking. </a:t>
            </a:r>
            <a:endParaRPr lang="en-US" sz="1400"/>
          </a:p>
        </p:txBody>
      </p:sp>
      <p:sp>
        <p:nvSpPr>
          <p:cNvPr id="71" name="Rectangle 70"/>
          <p:cNvSpPr/>
          <p:nvPr/>
        </p:nvSpPr>
        <p:spPr>
          <a:xfrm>
            <a:off x="-12700" y="6460106"/>
            <a:ext cx="6096000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[1]</a:t>
            </a:r>
            <a:r>
              <a:rPr lang="en-US" sz="1000" i="1" smtClean="0"/>
              <a:t> SimVLM : Simple visual language model pretraining with weak supervision</a:t>
            </a:r>
            <a:r>
              <a:rPr lang="en-US" sz="1000" smtClean="0"/>
              <a:t>, Wang (Google) (2022)</a:t>
            </a:r>
            <a:endParaRPr lang="en-US" sz="1000"/>
          </a:p>
        </p:txBody>
      </p:sp>
      <p:sp>
        <p:nvSpPr>
          <p:cNvPr id="55" name="Rectangle à coins arrondis 54"/>
          <p:cNvSpPr/>
          <p:nvPr/>
        </p:nvSpPr>
        <p:spPr>
          <a:xfrm>
            <a:off x="4484057" y="2192791"/>
            <a:ext cx="5284517" cy="261244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Decoder (Transformer)</a:t>
            </a:r>
            <a:endParaRPr lang="en-US" sz="1400" i="1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58" name="Connecteur droit avec flèche 57"/>
          <p:cNvCxnSpPr/>
          <p:nvPr/>
        </p:nvCxnSpPr>
        <p:spPr>
          <a:xfrm flipV="1">
            <a:off x="8852896" y="2806976"/>
            <a:ext cx="0" cy="732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à coins arrondis 35"/>
          <p:cNvSpPr/>
          <p:nvPr/>
        </p:nvSpPr>
        <p:spPr>
          <a:xfrm>
            <a:off x="8039771" y="3039699"/>
            <a:ext cx="1715262" cy="26124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Embedding</a:t>
            </a:r>
            <a:endParaRPr lang="en-US" sz="1400" i="1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60" name="Connecteur droit avec flèche 59"/>
          <p:cNvCxnSpPr/>
          <p:nvPr/>
        </p:nvCxnSpPr>
        <p:spPr>
          <a:xfrm flipV="1">
            <a:off x="6160216" y="2853745"/>
            <a:ext cx="0" cy="6339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à coins arrondis 34"/>
          <p:cNvSpPr/>
          <p:nvPr/>
        </p:nvSpPr>
        <p:spPr>
          <a:xfrm>
            <a:off x="4484057" y="3039699"/>
            <a:ext cx="3426526" cy="26124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Embedding</a:t>
            </a:r>
            <a:endParaRPr lang="en-US" sz="1400" i="1" dirty="0" smtClean="0">
              <a:solidFill>
                <a:sysClr val="windowText" lastClr="0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31494" y="6622415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[3] </a:t>
            </a:r>
            <a:r>
              <a:rPr lang="en-US" sz="1000" i="1" smtClean="0"/>
              <a:t>Learning </a:t>
            </a:r>
            <a:r>
              <a:rPr lang="en-US" sz="1000" i="1"/>
              <a:t>Transferable Visual Models From Natural Language </a:t>
            </a:r>
            <a:r>
              <a:rPr lang="en-US" sz="1000" i="1" smtClean="0"/>
              <a:t>Supervision</a:t>
            </a:r>
            <a:r>
              <a:rPr lang="en-US" sz="1000" smtClean="0"/>
              <a:t>, Radford (OpenAI) (2021)</a:t>
            </a:r>
            <a:endParaRPr lang="en-US" sz="1000" i="1"/>
          </a:p>
        </p:txBody>
      </p:sp>
      <p:sp>
        <p:nvSpPr>
          <p:cNvPr id="38" name="Rectangle 37"/>
          <p:cNvSpPr/>
          <p:nvPr/>
        </p:nvSpPr>
        <p:spPr>
          <a:xfrm>
            <a:off x="-12700" y="6619231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FLAVA</a:t>
            </a:r>
            <a:r>
              <a:rPr lang="en-US" sz="1000" i="1"/>
              <a:t>: A Foundational Language And Vision Alignment </a:t>
            </a:r>
            <a:r>
              <a:rPr lang="en-US" sz="1000" i="1" smtClean="0"/>
              <a:t>Model, </a:t>
            </a:r>
            <a:r>
              <a:rPr lang="en-US" sz="1000" smtClean="0"/>
              <a:t>Singh (Meta) (2022)</a:t>
            </a:r>
            <a:r>
              <a:rPr lang="en-US" sz="1000" i="1" smtClean="0"/>
              <a:t> </a:t>
            </a:r>
            <a:endParaRPr lang="en-US" sz="1000" i="1"/>
          </a:p>
        </p:txBody>
      </p:sp>
    </p:spTree>
    <p:extLst>
      <p:ext uri="{BB962C8B-B14F-4D97-AF65-F5344CB8AC3E}">
        <p14:creationId xmlns:p14="http://schemas.microsoft.com/office/powerpoint/2010/main" val="69069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33" grpId="0"/>
      <p:bldP spid="34" grpId="0"/>
      <p:bldP spid="63" grpId="0"/>
      <p:bldP spid="71" grpId="0"/>
      <p:bldP spid="55" grpId="0" animBg="1"/>
      <p:bldP spid="36" grpId="0" animBg="1"/>
      <p:bldP spid="35" grpId="0" animBg="1"/>
      <p:bldP spid="32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89664" y="829859"/>
            <a:ext cx="46762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/>
              <a:t>Contrastive Language-Image </a:t>
            </a:r>
            <a:r>
              <a:rPr lang="en-US" sz="1400" b="1" smtClean="0"/>
              <a:t>Pre-training (CLIP)</a:t>
            </a:r>
            <a:r>
              <a:rPr lang="en-US" sz="1400" baseline="30000" smtClean="0"/>
              <a:t>1</a:t>
            </a:r>
            <a:endParaRPr lang="en-US" sz="140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669" y="944708"/>
            <a:ext cx="4388416" cy="18449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97" y="3464678"/>
            <a:ext cx="3785747" cy="23043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2081" y="6437506"/>
            <a:ext cx="26597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[4] </a:t>
            </a:r>
            <a:r>
              <a:rPr lang="en-US" sz="1000" i="1" smtClean="0"/>
              <a:t>Segment Anything</a:t>
            </a:r>
            <a:r>
              <a:rPr lang="en-US" sz="1000" smtClean="0"/>
              <a:t>, Kirillov (Meta) (2023)</a:t>
            </a:r>
            <a:endParaRPr lang="en-US" sz="100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370386"/>
            <a:ext cx="3990262" cy="23986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683981" y="6611779"/>
            <a:ext cx="55883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/>
              <a:t> </a:t>
            </a:r>
            <a:r>
              <a:rPr lang="en-US" sz="1000" smtClean="0"/>
              <a:t>[5] </a:t>
            </a:r>
            <a:r>
              <a:rPr lang="en-US" sz="1000" i="1" smtClean="0"/>
              <a:t>Hierarchical Text-Conditional Image Generation with CLIP latents</a:t>
            </a:r>
            <a:r>
              <a:rPr lang="en-US" sz="1000" smtClean="0"/>
              <a:t>, Ramesh (OpenAI) (2021)</a:t>
            </a:r>
            <a:endParaRPr lang="en-US" sz="1000">
              <a:hlinkClick r:id="rId6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8401" y="1321857"/>
            <a:ext cx="59223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smtClean="0"/>
              <a:t>FM using NLS and </a:t>
            </a:r>
            <a:r>
              <a:rPr lang="fr-FR" sz="1400" b="1"/>
              <a:t>contrastive </a:t>
            </a:r>
            <a:r>
              <a:rPr lang="fr-FR" sz="1400" b="1" smtClean="0"/>
              <a:t>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smtClean="0"/>
              <a:t>3rd most cited AI paper in 2021 </a:t>
            </a:r>
            <a:r>
              <a:rPr lang="fr-FR" sz="1400" smtClean="0">
                <a:solidFill>
                  <a:schemeClr val="bg1">
                    <a:lumMod val="65000"/>
                  </a:schemeClr>
                </a:solidFill>
              </a:rPr>
              <a:t>(after AlphaFold</a:t>
            </a:r>
            <a:r>
              <a:rPr lang="fr-FR" sz="1400" baseline="3000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fr-FR" sz="1400" smtClean="0">
                <a:solidFill>
                  <a:schemeClr val="bg1">
                    <a:lumMod val="65000"/>
                  </a:schemeClr>
                </a:solidFill>
              </a:rPr>
              <a:t> and Swin</a:t>
            </a:r>
            <a:r>
              <a:rPr lang="fr-FR" sz="1400" baseline="30000" smtClean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fr-FR" sz="1400" smtClean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fr-FR" sz="140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Building block of </a:t>
            </a:r>
            <a:r>
              <a:rPr lang="fr-FR" sz="1400" smtClean="0"/>
              <a:t>further widely-used FMs.</a:t>
            </a:r>
            <a:endParaRPr lang="en-US" sz="1400"/>
          </a:p>
        </p:txBody>
      </p:sp>
      <p:sp>
        <p:nvSpPr>
          <p:cNvPr id="6" name="Rectangle 5"/>
          <p:cNvSpPr/>
          <p:nvPr/>
        </p:nvSpPr>
        <p:spPr>
          <a:xfrm>
            <a:off x="0" y="6442006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Highly accurate protein structure prediction with AlphaFold</a:t>
            </a:r>
            <a:r>
              <a:rPr lang="en-US" sz="1000" smtClean="0"/>
              <a:t>, Jumper (DeepMind) (2021)</a:t>
            </a:r>
            <a:endParaRPr lang="en-US" sz="1000"/>
          </a:p>
        </p:txBody>
      </p:sp>
      <p:sp>
        <p:nvSpPr>
          <p:cNvPr id="19" name="Rectangle 18"/>
          <p:cNvSpPr/>
          <p:nvPr/>
        </p:nvSpPr>
        <p:spPr>
          <a:xfrm>
            <a:off x="0" y="6607948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[3] </a:t>
            </a:r>
            <a:r>
              <a:rPr lang="en-US" sz="1000" i="1" smtClean="0"/>
              <a:t>Swin </a:t>
            </a:r>
            <a:r>
              <a:rPr lang="en-US" sz="1000" i="1"/>
              <a:t>Transformer: Hierarchical Vision Transformer using Shifted </a:t>
            </a:r>
            <a:r>
              <a:rPr lang="en-US" sz="1000" i="1" smtClean="0"/>
              <a:t>Windows</a:t>
            </a:r>
            <a:r>
              <a:rPr lang="en-US" sz="1000" smtClean="0"/>
              <a:t>, Liu (Microsoft) </a:t>
            </a:r>
            <a:r>
              <a:rPr lang="en-US" sz="1000"/>
              <a:t>(2021)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78529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Learning </a:t>
            </a:r>
            <a:r>
              <a:rPr lang="en-US" sz="1000" i="1"/>
              <a:t>Transferable Visual Models From Natural Language </a:t>
            </a:r>
            <a:r>
              <a:rPr lang="en-US" sz="1000" i="1" smtClean="0"/>
              <a:t>Supervision</a:t>
            </a:r>
            <a:r>
              <a:rPr lang="en-US" sz="1000" smtClean="0"/>
              <a:t>, Radford (OpenAI) (2021)</a:t>
            </a:r>
            <a:endParaRPr lang="en-US" sz="1000" i="1"/>
          </a:p>
        </p:txBody>
      </p:sp>
      <p:sp>
        <p:nvSpPr>
          <p:cNvPr id="21" name="Rectangle 20"/>
          <p:cNvSpPr/>
          <p:nvPr/>
        </p:nvSpPr>
        <p:spPr>
          <a:xfrm>
            <a:off x="4842721" y="3325929"/>
            <a:ext cx="3999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/>
              <a:t>4</a:t>
            </a:r>
            <a:endParaRPr lang="en-US" sz="1100"/>
          </a:p>
        </p:txBody>
      </p:sp>
      <p:sp>
        <p:nvSpPr>
          <p:cNvPr id="22" name="Rectangle 21"/>
          <p:cNvSpPr/>
          <p:nvPr/>
        </p:nvSpPr>
        <p:spPr>
          <a:xfrm>
            <a:off x="10391062" y="3299539"/>
            <a:ext cx="3999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smtClean="0"/>
              <a:t>5</a:t>
            </a:r>
            <a:endParaRPr lang="en-US" sz="1100"/>
          </a:p>
        </p:txBody>
      </p:sp>
      <p:sp>
        <p:nvSpPr>
          <p:cNvPr id="18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Self-supervision with NLS : contrastive methods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9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16" grpId="0"/>
      <p:bldP spid="6" grpId="0"/>
      <p:bldP spid="19" grpId="0"/>
      <p:bldP spid="20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rme libre 78"/>
          <p:cNvSpPr/>
          <p:nvPr/>
        </p:nvSpPr>
        <p:spPr>
          <a:xfrm>
            <a:off x="4385945" y="2849880"/>
            <a:ext cx="767080" cy="878840"/>
          </a:xfrm>
          <a:custGeom>
            <a:avLst/>
            <a:gdLst>
              <a:gd name="connsiteX0" fmla="*/ 66040 w 767080"/>
              <a:gd name="connsiteY0" fmla="*/ 878840 h 878840"/>
              <a:gd name="connsiteX1" fmla="*/ 0 w 767080"/>
              <a:gd name="connsiteY1" fmla="*/ 365760 h 878840"/>
              <a:gd name="connsiteX2" fmla="*/ 762000 w 767080"/>
              <a:gd name="connsiteY2" fmla="*/ 0 h 878840"/>
              <a:gd name="connsiteX3" fmla="*/ 767080 w 767080"/>
              <a:gd name="connsiteY3" fmla="*/ 868680 h 878840"/>
              <a:gd name="connsiteX4" fmla="*/ 66040 w 767080"/>
              <a:gd name="connsiteY4" fmla="*/ 878840 h 87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080" h="878840">
                <a:moveTo>
                  <a:pt x="66040" y="878840"/>
                </a:moveTo>
                <a:lnTo>
                  <a:pt x="0" y="365760"/>
                </a:lnTo>
                <a:lnTo>
                  <a:pt x="762000" y="0"/>
                </a:lnTo>
                <a:cubicBezTo>
                  <a:pt x="763693" y="289560"/>
                  <a:pt x="765387" y="579120"/>
                  <a:pt x="767080" y="868680"/>
                </a:cubicBezTo>
                <a:lnTo>
                  <a:pt x="66040" y="87884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Contrastive loss</a:t>
            </a:r>
            <a:endParaRPr lang="en-US"/>
          </a:p>
        </p:txBody>
      </p:sp>
      <p:sp>
        <p:nvSpPr>
          <p:cNvPr id="5" name="ZoneTexte 4"/>
          <p:cNvSpPr txBox="1"/>
          <p:nvPr/>
        </p:nvSpPr>
        <p:spPr>
          <a:xfrm>
            <a:off x="198970" y="1158679"/>
            <a:ext cx="11301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1400" b="1" smtClean="0">
                <a:sym typeface="Wingdings" panose="05000000000000000000" pitchFamily="2" charset="2"/>
              </a:rPr>
              <a:t>Metric Learning </a:t>
            </a:r>
            <a:r>
              <a:rPr lang="fr-FR" sz="1400">
                <a:sym typeface="Wingdings" panose="05000000000000000000" pitchFamily="2" charset="2"/>
              </a:rPr>
              <a:t>: </a:t>
            </a:r>
            <a:r>
              <a:rPr lang="fr-FR" sz="1400" smtClean="0">
                <a:sym typeface="Wingdings" panose="05000000000000000000" pitchFamily="2" charset="2"/>
              </a:rPr>
              <a:t>compute feature space </a:t>
            </a:r>
            <a:r>
              <a:rPr lang="fr-FR" sz="1400">
                <a:sym typeface="Wingdings" panose="05000000000000000000" pitchFamily="2" charset="2"/>
              </a:rPr>
              <a:t>where distance </a:t>
            </a:r>
            <a:r>
              <a:rPr lang="fr-FR" sz="1400" smtClean="0">
                <a:sym typeface="Wingdings" panose="05000000000000000000" pitchFamily="2" charset="2"/>
              </a:rPr>
              <a:t>is </a:t>
            </a:r>
            <a:r>
              <a:rPr lang="fr-FR" sz="1400">
                <a:sym typeface="Wingdings" panose="05000000000000000000" pitchFamily="2" charset="2"/>
              </a:rPr>
              <a:t>correlated to some semantic distance in input </a:t>
            </a:r>
            <a:r>
              <a:rPr lang="fr-FR" sz="1400" smtClean="0">
                <a:sym typeface="Wingdings" panose="05000000000000000000" pitchFamily="2" charset="2"/>
              </a:rPr>
              <a:t>space</a:t>
            </a:r>
            <a:r>
              <a:rPr lang="en-US" sz="1400" b="1">
                <a:sym typeface="Wingdings" panose="05000000000000000000" pitchFamily="2" charset="2"/>
              </a:rPr>
              <a:t>.</a:t>
            </a:r>
            <a:endParaRPr lang="en-US" sz="1400"/>
          </a:p>
        </p:txBody>
      </p:sp>
      <p:sp>
        <p:nvSpPr>
          <p:cNvPr id="7" name="Ellipse 6"/>
          <p:cNvSpPr/>
          <p:nvPr/>
        </p:nvSpPr>
        <p:spPr>
          <a:xfrm>
            <a:off x="1247102" y="3410224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8" name="Ellipse 7"/>
          <p:cNvSpPr/>
          <p:nvPr/>
        </p:nvSpPr>
        <p:spPr>
          <a:xfrm>
            <a:off x="2080293" y="3867424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9" name="Ellipse 8"/>
          <p:cNvSpPr/>
          <p:nvPr/>
        </p:nvSpPr>
        <p:spPr>
          <a:xfrm>
            <a:off x="1318222" y="4245705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0" name="Ellipse 9"/>
          <p:cNvSpPr/>
          <p:nvPr/>
        </p:nvSpPr>
        <p:spPr>
          <a:xfrm>
            <a:off x="1795742" y="3471184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" name="Ellipse 10"/>
          <p:cNvSpPr/>
          <p:nvPr/>
        </p:nvSpPr>
        <p:spPr>
          <a:xfrm>
            <a:off x="1216622" y="3707245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2" name="Ellipse 11"/>
          <p:cNvSpPr/>
          <p:nvPr/>
        </p:nvSpPr>
        <p:spPr>
          <a:xfrm>
            <a:off x="1612933" y="3996487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3" name="Ellipse 12"/>
          <p:cNvSpPr/>
          <p:nvPr/>
        </p:nvSpPr>
        <p:spPr>
          <a:xfrm>
            <a:off x="1724693" y="4245705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4" name="Ellipse 13"/>
          <p:cNvSpPr/>
          <p:nvPr/>
        </p:nvSpPr>
        <p:spPr>
          <a:xfrm>
            <a:off x="1795742" y="3808845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5" name="Ellipse 14"/>
          <p:cNvSpPr/>
          <p:nvPr/>
        </p:nvSpPr>
        <p:spPr>
          <a:xfrm>
            <a:off x="2100542" y="3543834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6" name="Ellipse 15"/>
          <p:cNvSpPr/>
          <p:nvPr/>
        </p:nvSpPr>
        <p:spPr>
          <a:xfrm>
            <a:off x="1115022" y="4044906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7" name="Ellipse 16"/>
          <p:cNvSpPr/>
          <p:nvPr/>
        </p:nvSpPr>
        <p:spPr>
          <a:xfrm>
            <a:off x="1409733" y="3765824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8" name="Ellipse 17"/>
          <p:cNvSpPr/>
          <p:nvPr/>
        </p:nvSpPr>
        <p:spPr>
          <a:xfrm>
            <a:off x="1115022" y="4352703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9" name="Ellipse 18"/>
          <p:cNvSpPr/>
          <p:nvPr/>
        </p:nvSpPr>
        <p:spPr>
          <a:xfrm>
            <a:off x="1592542" y="3578182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0" name="ZoneTexte 19"/>
          <p:cNvSpPr txBox="1"/>
          <p:nvPr/>
        </p:nvSpPr>
        <p:spPr>
          <a:xfrm>
            <a:off x="1115022" y="2999762"/>
            <a:ext cx="127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smtClean="0">
                <a:sym typeface="Wingdings" panose="05000000000000000000" pitchFamily="2" charset="2"/>
              </a:rPr>
              <a:t>input space</a:t>
            </a:r>
            <a:endParaRPr lang="en-US" sz="1400" i="1"/>
          </a:p>
        </p:txBody>
      </p:sp>
      <p:sp>
        <p:nvSpPr>
          <p:cNvPr id="21" name="Rectangle 20"/>
          <p:cNvSpPr/>
          <p:nvPr/>
        </p:nvSpPr>
        <p:spPr>
          <a:xfrm>
            <a:off x="932142" y="3338316"/>
            <a:ext cx="1544320" cy="13122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2" name="ZoneTexte 21"/>
          <p:cNvSpPr txBox="1"/>
          <p:nvPr/>
        </p:nvSpPr>
        <p:spPr>
          <a:xfrm>
            <a:off x="3699546" y="5270330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>
                <a:sym typeface="Wingdings" panose="05000000000000000000" pitchFamily="2" charset="2"/>
              </a:rPr>
              <a:t>metric space</a:t>
            </a:r>
            <a:endParaRPr lang="en-US" sz="1400" i="1"/>
          </a:p>
        </p:txBody>
      </p:sp>
      <p:sp>
        <p:nvSpPr>
          <p:cNvPr id="23" name="Ellipse 22"/>
          <p:cNvSpPr/>
          <p:nvPr/>
        </p:nvSpPr>
        <p:spPr>
          <a:xfrm>
            <a:off x="4765389" y="4886623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4" name="Ellipse 23"/>
          <p:cNvSpPr/>
          <p:nvPr/>
        </p:nvSpPr>
        <p:spPr>
          <a:xfrm>
            <a:off x="4810235" y="4731911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5" name="Ellipse 24"/>
          <p:cNvSpPr/>
          <p:nvPr/>
        </p:nvSpPr>
        <p:spPr>
          <a:xfrm>
            <a:off x="4627320" y="4757669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6" name="Ellipse 25"/>
          <p:cNvSpPr/>
          <p:nvPr/>
        </p:nvSpPr>
        <p:spPr>
          <a:xfrm>
            <a:off x="4617124" y="4935111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7" name="Ellipse 26"/>
          <p:cNvSpPr/>
          <p:nvPr/>
        </p:nvSpPr>
        <p:spPr>
          <a:xfrm>
            <a:off x="3677171" y="4217545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8" name="Ellipse 27"/>
          <p:cNvSpPr/>
          <p:nvPr/>
        </p:nvSpPr>
        <p:spPr>
          <a:xfrm>
            <a:off x="3707901" y="4049161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29" name="Ellipse 28"/>
          <p:cNvSpPr/>
          <p:nvPr/>
        </p:nvSpPr>
        <p:spPr>
          <a:xfrm>
            <a:off x="3859213" y="4166733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0" name="Ellipse 29"/>
          <p:cNvSpPr/>
          <p:nvPr/>
        </p:nvSpPr>
        <p:spPr>
          <a:xfrm>
            <a:off x="3889943" y="3995184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1" name="Ellipse 30"/>
          <p:cNvSpPr/>
          <p:nvPr/>
        </p:nvSpPr>
        <p:spPr>
          <a:xfrm>
            <a:off x="3992496" y="4516138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2" name="Ellipse 31"/>
          <p:cNvSpPr/>
          <p:nvPr/>
        </p:nvSpPr>
        <p:spPr>
          <a:xfrm>
            <a:off x="3951855" y="4703235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3" name="Ellipse 32"/>
          <p:cNvSpPr/>
          <p:nvPr/>
        </p:nvSpPr>
        <p:spPr>
          <a:xfrm>
            <a:off x="4136838" y="4725489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4" name="Ellipse 33"/>
          <p:cNvSpPr/>
          <p:nvPr/>
        </p:nvSpPr>
        <p:spPr>
          <a:xfrm>
            <a:off x="4018769" y="4856251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5" name="Ellipse 34"/>
          <p:cNvSpPr/>
          <p:nvPr/>
        </p:nvSpPr>
        <p:spPr>
          <a:xfrm>
            <a:off x="4130565" y="4540324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3617238" y="3965930"/>
            <a:ext cx="1544320" cy="13122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7" name="ZoneTexte 36"/>
          <p:cNvSpPr txBox="1"/>
          <p:nvPr/>
        </p:nvSpPr>
        <p:spPr>
          <a:xfrm>
            <a:off x="3624877" y="2142777"/>
            <a:ext cx="1626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>
                <a:sym typeface="Wingdings" panose="05000000000000000000" pitchFamily="2" charset="2"/>
              </a:rPr>
              <a:t>feature space</a:t>
            </a:r>
            <a:endParaRPr lang="en-US" sz="1400" i="1"/>
          </a:p>
        </p:txBody>
      </p:sp>
      <p:sp>
        <p:nvSpPr>
          <p:cNvPr id="38" name="Ellipse 37"/>
          <p:cNvSpPr/>
          <p:nvPr/>
        </p:nvSpPr>
        <p:spPr>
          <a:xfrm>
            <a:off x="4762346" y="3253605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39" name="Ellipse 38"/>
          <p:cNvSpPr/>
          <p:nvPr/>
        </p:nvSpPr>
        <p:spPr>
          <a:xfrm>
            <a:off x="4855394" y="2982653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0" name="Ellipse 39"/>
          <p:cNvSpPr/>
          <p:nvPr/>
        </p:nvSpPr>
        <p:spPr>
          <a:xfrm>
            <a:off x="4527333" y="3158966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1" name="Ellipse 40"/>
          <p:cNvSpPr/>
          <p:nvPr/>
        </p:nvSpPr>
        <p:spPr>
          <a:xfrm>
            <a:off x="4438067" y="3405839"/>
            <a:ext cx="203200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2" name="Ellipse 41"/>
          <p:cNvSpPr/>
          <p:nvPr/>
        </p:nvSpPr>
        <p:spPr>
          <a:xfrm>
            <a:off x="4281254" y="2879772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3" name="Ellipse 42"/>
          <p:cNvSpPr/>
          <p:nvPr/>
        </p:nvSpPr>
        <p:spPr>
          <a:xfrm>
            <a:off x="4251577" y="2598152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4" name="Ellipse 43"/>
          <p:cNvSpPr/>
          <p:nvPr/>
        </p:nvSpPr>
        <p:spPr>
          <a:xfrm>
            <a:off x="4527332" y="2806770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5" name="Ellipse 44"/>
          <p:cNvSpPr/>
          <p:nvPr/>
        </p:nvSpPr>
        <p:spPr>
          <a:xfrm>
            <a:off x="4573582" y="2595402"/>
            <a:ext cx="203200" cy="20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6" name="Ellipse 45"/>
          <p:cNvSpPr/>
          <p:nvPr/>
        </p:nvSpPr>
        <p:spPr>
          <a:xfrm>
            <a:off x="3877058" y="2964693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7" name="Ellipse 46"/>
          <p:cNvSpPr/>
          <p:nvPr/>
        </p:nvSpPr>
        <p:spPr>
          <a:xfrm>
            <a:off x="3820478" y="3206408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8" name="Ellipse 47"/>
          <p:cNvSpPr/>
          <p:nvPr/>
        </p:nvSpPr>
        <p:spPr>
          <a:xfrm>
            <a:off x="4149977" y="3332293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9" name="Ellipse 48"/>
          <p:cNvSpPr/>
          <p:nvPr/>
        </p:nvSpPr>
        <p:spPr>
          <a:xfrm>
            <a:off x="3822016" y="3467932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0" name="Ellipse 49"/>
          <p:cNvSpPr/>
          <p:nvPr/>
        </p:nvSpPr>
        <p:spPr>
          <a:xfrm>
            <a:off x="4080258" y="3104808"/>
            <a:ext cx="203200" cy="2032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1" name="Rectangle 50"/>
          <p:cNvSpPr/>
          <p:nvPr/>
        </p:nvSpPr>
        <p:spPr>
          <a:xfrm>
            <a:off x="3639136" y="2453545"/>
            <a:ext cx="1544320" cy="13122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53" name="Connecteur droit 52"/>
          <p:cNvCxnSpPr/>
          <p:nvPr/>
        </p:nvCxnSpPr>
        <p:spPr>
          <a:xfrm>
            <a:off x="3900254" y="2526854"/>
            <a:ext cx="461551" cy="70629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 flipV="1">
            <a:off x="4340038" y="2879772"/>
            <a:ext cx="678072" cy="32663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 flipH="1" flipV="1">
            <a:off x="4353178" y="3206408"/>
            <a:ext cx="65207" cy="50177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/>
          <p:cNvCxnSpPr/>
          <p:nvPr/>
        </p:nvCxnSpPr>
        <p:spPr>
          <a:xfrm flipV="1">
            <a:off x="2595868" y="3158966"/>
            <a:ext cx="923168" cy="4438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/>
          <p:cNvCxnSpPr/>
          <p:nvPr/>
        </p:nvCxnSpPr>
        <p:spPr>
          <a:xfrm>
            <a:off x="2583248" y="4178994"/>
            <a:ext cx="935788" cy="3769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/>
          <p:cNvSpPr txBox="1"/>
          <p:nvPr/>
        </p:nvSpPr>
        <p:spPr>
          <a:xfrm rot="20101144">
            <a:off x="2346600" y="2943666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>
                <a:sym typeface="Wingdings" panose="05000000000000000000" pitchFamily="2" charset="2"/>
              </a:rPr>
              <a:t>classification</a:t>
            </a:r>
            <a:endParaRPr lang="en-US" sz="1400" i="1"/>
          </a:p>
        </p:txBody>
      </p:sp>
      <p:sp>
        <p:nvSpPr>
          <p:cNvPr id="72" name="ZoneTexte 71"/>
          <p:cNvSpPr txBox="1"/>
          <p:nvPr/>
        </p:nvSpPr>
        <p:spPr>
          <a:xfrm rot="1400071">
            <a:off x="2388907" y="4419764"/>
            <a:ext cx="1105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>
                <a:sym typeface="Wingdings" panose="05000000000000000000" pitchFamily="2" charset="2"/>
              </a:rPr>
              <a:t>metric learning</a:t>
            </a:r>
            <a:endParaRPr lang="en-US" sz="1400" i="1"/>
          </a:p>
        </p:txBody>
      </p:sp>
      <p:sp>
        <p:nvSpPr>
          <p:cNvPr id="73" name="Ellipse 72"/>
          <p:cNvSpPr/>
          <p:nvPr/>
        </p:nvSpPr>
        <p:spPr>
          <a:xfrm>
            <a:off x="4936629" y="3472538"/>
            <a:ext cx="203200" cy="2032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?</a:t>
            </a:r>
            <a:endParaRPr lang="en-US" sz="1400" dirty="0" smtClean="0"/>
          </a:p>
        </p:txBody>
      </p:sp>
      <p:sp>
        <p:nvSpPr>
          <p:cNvPr id="74" name="Rectangle à coins arrondis 73"/>
          <p:cNvSpPr/>
          <p:nvPr/>
        </p:nvSpPr>
        <p:spPr>
          <a:xfrm>
            <a:off x="3828768" y="1724400"/>
            <a:ext cx="1066800" cy="2456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600" smtClean="0"/>
              <a:t>Training</a:t>
            </a:r>
            <a:endParaRPr lang="en-US" sz="1600" dirty="0" smtClean="0"/>
          </a:p>
        </p:txBody>
      </p:sp>
      <p:sp>
        <p:nvSpPr>
          <p:cNvPr id="75" name="Rectangle à coins arrondis 74"/>
          <p:cNvSpPr/>
          <p:nvPr/>
        </p:nvSpPr>
        <p:spPr>
          <a:xfrm>
            <a:off x="6483733" y="1722899"/>
            <a:ext cx="1174180" cy="25905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600" smtClean="0"/>
              <a:t>Inference</a:t>
            </a:r>
            <a:endParaRPr lang="en-US" sz="1600" dirty="0" smtClean="0"/>
          </a:p>
        </p:txBody>
      </p:sp>
      <p:sp>
        <p:nvSpPr>
          <p:cNvPr id="76" name="ZoneTexte 75"/>
          <p:cNvSpPr txBox="1"/>
          <p:nvPr/>
        </p:nvSpPr>
        <p:spPr>
          <a:xfrm>
            <a:off x="5764918" y="2621633"/>
            <a:ext cx="5446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smtClean="0">
                <a:sym typeface="Wingdings" panose="05000000000000000000" pitchFamily="2" charset="2"/>
              </a:rPr>
              <a:t>In which section of the feature space does this point lie ?</a:t>
            </a:r>
          </a:p>
          <a:p>
            <a:r>
              <a:rPr lang="fr-FR" sz="1400" smtClean="0">
                <a:sym typeface="Wingdings" panose="05000000000000000000" pitchFamily="2" charset="2"/>
              </a:rPr>
              <a:t> class</a:t>
            </a:r>
            <a:endParaRPr lang="en-US" sz="1400"/>
          </a:p>
        </p:txBody>
      </p:sp>
      <p:sp>
        <p:nvSpPr>
          <p:cNvPr id="78" name="Ellipse 77"/>
          <p:cNvSpPr/>
          <p:nvPr/>
        </p:nvSpPr>
        <p:spPr>
          <a:xfrm>
            <a:off x="4925870" y="4383620"/>
            <a:ext cx="203200" cy="2032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?</a:t>
            </a:r>
            <a:endParaRPr lang="en-US" sz="1400" dirty="0" smtClean="0"/>
          </a:p>
        </p:txBody>
      </p:sp>
      <p:sp>
        <p:nvSpPr>
          <p:cNvPr id="77" name="ZoneTexte 76"/>
          <p:cNvSpPr txBox="1"/>
          <p:nvPr/>
        </p:nvSpPr>
        <p:spPr>
          <a:xfrm>
            <a:off x="5803660" y="4139438"/>
            <a:ext cx="5693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smtClean="0">
                <a:sym typeface="Wingdings" panose="05000000000000000000" pitchFamily="2" charset="2"/>
              </a:rPr>
              <a:t>Which cluster is this point closest to, and what is its distance to it 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1400">
                <a:sym typeface="Wingdings" panose="05000000000000000000" pitchFamily="2" charset="2"/>
              </a:rPr>
              <a:t>c</a:t>
            </a:r>
            <a:r>
              <a:rPr lang="fr-FR" sz="1400" smtClean="0">
                <a:sym typeface="Wingdings" panose="05000000000000000000" pitchFamily="2" charset="2"/>
              </a:rPr>
              <a:t>lass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1400">
                <a:sym typeface="Wingdings" panose="05000000000000000000" pitchFamily="2" charset="2"/>
              </a:rPr>
              <a:t>distance to class </a:t>
            </a:r>
            <a:endParaRPr lang="fr-FR" sz="140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1400" smtClean="0">
                <a:sym typeface="Wingdings" panose="05000000000000000000" pitchFamily="2" charset="2"/>
              </a:rPr>
              <a:t>in or out-of-distribution</a:t>
            </a:r>
            <a:r>
              <a:rPr lang="fr-FR" sz="1400" baseline="30000" smtClean="0">
                <a:sym typeface="Wingdings" panose="05000000000000000000" pitchFamily="2" charset="2"/>
              </a:rPr>
              <a:t>1</a:t>
            </a:r>
          </a:p>
        </p:txBody>
      </p:sp>
      <p:cxnSp>
        <p:nvCxnSpPr>
          <p:cNvPr id="81" name="Connecteur droit avec flèche 80"/>
          <p:cNvCxnSpPr/>
          <p:nvPr/>
        </p:nvCxnSpPr>
        <p:spPr>
          <a:xfrm flipV="1">
            <a:off x="4943649" y="4563170"/>
            <a:ext cx="43793" cy="174849"/>
          </a:xfrm>
          <a:prstGeom prst="straightConnector1">
            <a:avLst/>
          </a:prstGeom>
          <a:ln w="19050">
            <a:solidFill>
              <a:srgbClr val="E593C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>
          <a:xfrm>
            <a:off x="452433" y="5828417"/>
            <a:ext cx="9418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smtClean="0">
                <a:sym typeface="Wingdings" panose="05000000000000000000" pitchFamily="2" charset="2"/>
              </a:rPr>
              <a:t>Applications : many classes, few points per class, important to know if in/out distribution, </a:t>
            </a:r>
            <a:r>
              <a:rPr lang="fr-FR" sz="1400" i="1" smtClean="0">
                <a:sym typeface="Wingdings" panose="05000000000000000000" pitchFamily="2" charset="2"/>
              </a:rPr>
              <a:t>e.g. </a:t>
            </a:r>
            <a:r>
              <a:rPr lang="fr-FR" sz="1400" smtClean="0">
                <a:sym typeface="Wingdings" panose="05000000000000000000" pitchFamily="2" charset="2"/>
              </a:rPr>
              <a:t>face recognition</a:t>
            </a:r>
            <a:r>
              <a:rPr lang="fr-FR" sz="1400" baseline="30000" smtClean="0">
                <a:sym typeface="Wingdings" panose="05000000000000000000" pitchFamily="2" charset="2"/>
              </a:rPr>
              <a:t>2</a:t>
            </a:r>
            <a:r>
              <a:rPr lang="fr-FR" sz="1400" smtClean="0">
                <a:sym typeface="Wingdings" panose="05000000000000000000" pitchFamily="2" charset="2"/>
              </a:rPr>
              <a:t>.</a:t>
            </a:r>
            <a:endParaRPr lang="fr-FR" sz="1400" baseline="30000" smtClean="0">
              <a:sym typeface="Wingdings" panose="05000000000000000000" pitchFamily="2" charset="2"/>
            </a:endParaRPr>
          </a:p>
        </p:txBody>
      </p:sp>
      <p:sp>
        <p:nvSpPr>
          <p:cNvPr id="66" name="ZoneTexte 65"/>
          <p:cNvSpPr txBox="1"/>
          <p:nvPr/>
        </p:nvSpPr>
        <p:spPr>
          <a:xfrm>
            <a:off x="185673" y="775883"/>
            <a:ext cx="292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smtClean="0"/>
              <a:t>Born in the field of metric learning.</a:t>
            </a:r>
            <a:endParaRPr lang="en-US" sz="1400"/>
          </a:p>
        </p:txBody>
      </p:sp>
      <p:cxnSp>
        <p:nvCxnSpPr>
          <p:cNvPr id="3" name="Connecteur droit 2"/>
          <p:cNvCxnSpPr/>
          <p:nvPr/>
        </p:nvCxnSpPr>
        <p:spPr>
          <a:xfrm>
            <a:off x="2667000" y="3857899"/>
            <a:ext cx="81534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9869" y="6628913"/>
            <a:ext cx="50599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FaceNet</a:t>
            </a:r>
            <a:r>
              <a:rPr lang="en-US" sz="1000" i="1"/>
              <a:t>: A Unified Embedding for Face Recognition and </a:t>
            </a:r>
            <a:r>
              <a:rPr lang="en-US" sz="1000" i="1" smtClean="0"/>
              <a:t>Clustering</a:t>
            </a:r>
            <a:r>
              <a:rPr lang="en-US" sz="1000" smtClean="0"/>
              <a:t>, Schroff (2015) </a:t>
            </a:r>
            <a:endParaRPr lang="en-US" sz="1000"/>
          </a:p>
        </p:txBody>
      </p:sp>
      <p:sp>
        <p:nvSpPr>
          <p:cNvPr id="71" name="Rectangle 70"/>
          <p:cNvSpPr/>
          <p:nvPr/>
        </p:nvSpPr>
        <p:spPr>
          <a:xfrm>
            <a:off x="19868" y="6441224"/>
            <a:ext cx="50599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Out-of-distribution detection based on distance metric learning</a:t>
            </a:r>
            <a:r>
              <a:rPr lang="en-US" sz="1000" smtClean="0"/>
              <a:t>, Yang (2020) 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15679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9" grpId="0"/>
      <p:bldP spid="72" grpId="0"/>
      <p:bldP spid="73" grpId="0" animBg="1"/>
      <p:bldP spid="74" grpId="0" animBg="1"/>
      <p:bldP spid="75" grpId="0" animBg="1"/>
      <p:bldP spid="76" grpId="0"/>
      <p:bldP spid="78" grpId="0" animBg="1"/>
      <p:bldP spid="77" grpId="0"/>
      <p:bldP spid="66" grpId="0"/>
      <p:bldP spid="70" grpId="0"/>
      <p:bldP spid="7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Contrastive loss</a:t>
            </a:r>
            <a:endParaRPr lang="en-US"/>
          </a:p>
        </p:txBody>
      </p:sp>
      <p:sp>
        <p:nvSpPr>
          <p:cNvPr id="5" name="ZoneTexte 4"/>
          <p:cNvSpPr txBox="1"/>
          <p:nvPr/>
        </p:nvSpPr>
        <p:spPr>
          <a:xfrm>
            <a:off x="260784" y="810703"/>
            <a:ext cx="1077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smtClean="0">
                <a:sym typeface="Wingdings" panose="05000000000000000000" pitchFamily="2" charset="2"/>
              </a:rPr>
              <a:t>Classification loss has no incentive to create « metric space » (« only » focused on class partionning)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-1" y="6253066"/>
            <a:ext cx="63341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Learning </a:t>
            </a:r>
            <a:r>
              <a:rPr lang="en-US" sz="1000" i="1"/>
              <a:t>a similarity metric discriminatively, with application to face </a:t>
            </a:r>
            <a:r>
              <a:rPr lang="en-US" sz="1000" i="1" smtClean="0"/>
              <a:t>verification</a:t>
            </a:r>
            <a:r>
              <a:rPr lang="en-US" sz="1000" smtClean="0"/>
              <a:t>, Shopra, LeCun (2005)</a:t>
            </a:r>
            <a:endParaRPr lang="en-US" sz="1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558551" y="1912940"/>
                <a:ext cx="7286738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/>
                        <m:t>𝟙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/>
                        <m:t>𝟙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551" y="1912940"/>
                <a:ext cx="7286738" cy="414537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à coins arrondis 7"/>
          <p:cNvSpPr/>
          <p:nvPr/>
        </p:nvSpPr>
        <p:spPr>
          <a:xfrm>
            <a:off x="2974966" y="1912940"/>
            <a:ext cx="2752734" cy="457933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9" name="Rectangle à coins arrondis 8"/>
          <p:cNvSpPr/>
          <p:nvPr/>
        </p:nvSpPr>
        <p:spPr>
          <a:xfrm>
            <a:off x="5759450" y="1912940"/>
            <a:ext cx="3001636" cy="457933"/>
          </a:xfrm>
          <a:prstGeom prst="roundRect">
            <a:avLst/>
          </a:prstGeom>
          <a:noFill/>
          <a:ln w="28575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3007905" y="2385230"/>
                <a:ext cx="2936953" cy="291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mtClean="0">
                    <a:solidFill>
                      <a:schemeClr val="accent6">
                        <a:lumMod val="75000"/>
                      </a:schemeClr>
                    </a:solidFill>
                  </a:rPr>
                  <a:t>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smtClean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smtClean="0">
                    <a:solidFill>
                      <a:schemeClr val="accent6">
                        <a:lumMod val="75000"/>
                      </a:schemeClr>
                    </a:solidFill>
                  </a:rPr>
                  <a:t> are same “class”</a:t>
                </a:r>
                <a:endParaRPr lang="en-US" sz="120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905" y="2385230"/>
                <a:ext cx="2936953" cy="291875"/>
              </a:xfrm>
              <a:prstGeom prst="rect">
                <a:avLst/>
              </a:prstGeom>
              <a:blipFill>
                <a:blip r:embed="rId3"/>
                <a:stretch>
                  <a:fillRect t="-208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5792188" y="2385230"/>
                <a:ext cx="2983213" cy="291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mtClean="0">
                    <a:solidFill>
                      <a:srgbClr val="D11325"/>
                    </a:solidFill>
                  </a:rPr>
                  <a:t>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D1132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rgbClr val="D1132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 smtClean="0">
                            <a:solidFill>
                              <a:srgbClr val="D1132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smtClean="0">
                    <a:solidFill>
                      <a:srgbClr val="D11325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D1132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rgbClr val="D1132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 smtClean="0">
                            <a:solidFill>
                              <a:srgbClr val="D11325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smtClean="0">
                    <a:solidFill>
                      <a:srgbClr val="D11325"/>
                    </a:solidFill>
                  </a:rPr>
                  <a:t> are different “class”</a:t>
                </a:r>
                <a:endParaRPr lang="en-US" sz="1200">
                  <a:solidFill>
                    <a:srgbClr val="D11325"/>
                  </a:solidFill>
                </a:endParaRPr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188" y="2385230"/>
                <a:ext cx="2983213" cy="291875"/>
              </a:xfrm>
              <a:prstGeom prst="rect">
                <a:avLst/>
              </a:prstGeom>
              <a:blipFill>
                <a:blip r:embed="rId4"/>
                <a:stretch>
                  <a:fillRect t="-208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lipse 11"/>
          <p:cNvSpPr/>
          <p:nvPr/>
        </p:nvSpPr>
        <p:spPr>
          <a:xfrm>
            <a:off x="9716976" y="1859451"/>
            <a:ext cx="203200" cy="2032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3" name="Ellipse 12"/>
          <p:cNvSpPr/>
          <p:nvPr/>
        </p:nvSpPr>
        <p:spPr>
          <a:xfrm>
            <a:off x="10311336" y="2062651"/>
            <a:ext cx="203200" cy="2032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4" name="Ellipse 13"/>
          <p:cNvSpPr/>
          <p:nvPr/>
        </p:nvSpPr>
        <p:spPr>
          <a:xfrm>
            <a:off x="9883607" y="2348708"/>
            <a:ext cx="203200" cy="203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18" name="Connecteur droit avec flèche 17"/>
          <p:cNvCxnSpPr/>
          <p:nvPr/>
        </p:nvCxnSpPr>
        <p:spPr>
          <a:xfrm>
            <a:off x="9902413" y="2003341"/>
            <a:ext cx="175378" cy="5436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10153721" y="2070640"/>
            <a:ext cx="166349" cy="6678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>
            <a:off x="10016489" y="2547872"/>
            <a:ext cx="61302" cy="18148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H="1" flipV="1">
            <a:off x="9724596" y="1690874"/>
            <a:ext cx="51356" cy="17238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 flipV="1">
            <a:off x="10485305" y="1990644"/>
            <a:ext cx="154755" cy="11338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 flipH="1">
            <a:off x="9750274" y="2515845"/>
            <a:ext cx="156106" cy="11437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lipse 44"/>
          <p:cNvSpPr/>
          <p:nvPr/>
        </p:nvSpPr>
        <p:spPr>
          <a:xfrm>
            <a:off x="3853941" y="5164411"/>
            <a:ext cx="203200" cy="203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7" name="Ellipse 46"/>
          <p:cNvSpPr/>
          <p:nvPr/>
        </p:nvSpPr>
        <p:spPr>
          <a:xfrm>
            <a:off x="4176076" y="4136964"/>
            <a:ext cx="203200" cy="203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rgbClr val="5482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8" name="Ellipse 47"/>
          <p:cNvSpPr/>
          <p:nvPr/>
        </p:nvSpPr>
        <p:spPr>
          <a:xfrm>
            <a:off x="3559230" y="4418343"/>
            <a:ext cx="203200" cy="203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49" name="Ellipse 48"/>
          <p:cNvSpPr/>
          <p:nvPr/>
        </p:nvSpPr>
        <p:spPr>
          <a:xfrm>
            <a:off x="3955541" y="4707585"/>
            <a:ext cx="203200" cy="203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0" name="Ellipse 49"/>
          <p:cNvSpPr/>
          <p:nvPr/>
        </p:nvSpPr>
        <p:spPr>
          <a:xfrm>
            <a:off x="4067301" y="4956803"/>
            <a:ext cx="203200" cy="203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1" name="Ellipse 50"/>
          <p:cNvSpPr/>
          <p:nvPr/>
        </p:nvSpPr>
        <p:spPr>
          <a:xfrm>
            <a:off x="4138350" y="4519943"/>
            <a:ext cx="203200" cy="203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2" name="Ellipse 51"/>
          <p:cNvSpPr/>
          <p:nvPr/>
        </p:nvSpPr>
        <p:spPr>
          <a:xfrm>
            <a:off x="4393601" y="4345142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3" name="Ellipse 52"/>
          <p:cNvSpPr/>
          <p:nvPr/>
        </p:nvSpPr>
        <p:spPr>
          <a:xfrm>
            <a:off x="3457630" y="4756004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4" name="Ellipse 53"/>
          <p:cNvSpPr/>
          <p:nvPr/>
        </p:nvSpPr>
        <p:spPr>
          <a:xfrm>
            <a:off x="3752341" y="4476922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5" name="Ellipse 54"/>
          <p:cNvSpPr/>
          <p:nvPr/>
        </p:nvSpPr>
        <p:spPr>
          <a:xfrm>
            <a:off x="3457630" y="5063801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6" name="Ellipse 55"/>
          <p:cNvSpPr/>
          <p:nvPr/>
        </p:nvSpPr>
        <p:spPr>
          <a:xfrm>
            <a:off x="3935150" y="4289280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D11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7" name="Rectangle 56"/>
          <p:cNvSpPr/>
          <p:nvPr/>
        </p:nvSpPr>
        <p:spPr>
          <a:xfrm>
            <a:off x="251305" y="3373739"/>
            <a:ext cx="6790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smtClean="0">
                <a:sym typeface="Wingdings" panose="05000000000000000000" pitchFamily="2" charset="2"/>
              </a:rPr>
              <a:t>Efficient implementation : multi-class N-pair loss</a:t>
            </a:r>
            <a:r>
              <a:rPr lang="fr-FR" sz="1400" baseline="30000" smtClean="0">
                <a:sym typeface="Wingdings" panose="05000000000000000000" pitchFamily="2" charset="2"/>
              </a:rPr>
              <a:t>2,3</a:t>
            </a:r>
            <a:r>
              <a:rPr lang="fr-FR" sz="1400" smtClean="0">
                <a:sym typeface="Wingdings" panose="05000000000000000000" pitchFamily="2" charset="2"/>
              </a:rPr>
              <a:t> </a:t>
            </a:r>
            <a:r>
              <a:rPr lang="fr-FR" sz="1400" smtClean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fr-FR" sz="1400" i="1" smtClean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a.k.a.</a:t>
            </a:r>
            <a:r>
              <a:rPr lang="fr-FR" sz="1400" smtClean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 InfoNCE loss, NT-Xent…)</a:t>
            </a:r>
            <a:endParaRPr lang="en-US"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0" y="6430951"/>
            <a:ext cx="514349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Improved </a:t>
            </a:r>
            <a:r>
              <a:rPr lang="en-US" sz="1000" i="1"/>
              <a:t>Deep Metric Learning with Multi-class N-pair Loss </a:t>
            </a:r>
            <a:r>
              <a:rPr lang="en-US" sz="1000" i="1" smtClean="0"/>
              <a:t>Objective</a:t>
            </a:r>
            <a:r>
              <a:rPr lang="en-US" sz="1000" smtClean="0"/>
              <a:t>, Sohn (2016)</a:t>
            </a:r>
            <a:endParaRPr lang="en-US" sz="1000"/>
          </a:p>
        </p:txBody>
      </p:sp>
      <p:sp>
        <p:nvSpPr>
          <p:cNvPr id="59" name="Rectangle 58"/>
          <p:cNvSpPr/>
          <p:nvPr/>
        </p:nvSpPr>
        <p:spPr>
          <a:xfrm>
            <a:off x="-9526" y="6611839"/>
            <a:ext cx="559117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[3] </a:t>
            </a:r>
            <a:r>
              <a:rPr lang="en-US" sz="1000" i="1" smtClean="0"/>
              <a:t>Representation </a:t>
            </a:r>
            <a:r>
              <a:rPr lang="en-US" sz="1000" i="1"/>
              <a:t>Learning with Contrastive Predictive </a:t>
            </a:r>
            <a:r>
              <a:rPr lang="en-US" sz="1000" i="1" smtClean="0"/>
              <a:t>Coding</a:t>
            </a:r>
            <a:r>
              <a:rPr lang="en-US" sz="1000" smtClean="0"/>
              <a:t>, van </a:t>
            </a:r>
            <a:r>
              <a:rPr lang="en-US" sz="1000"/>
              <a:t>dan </a:t>
            </a:r>
            <a:r>
              <a:rPr lang="en-US" sz="1000" smtClean="0"/>
              <a:t>Oord (Google) </a:t>
            </a:r>
            <a:r>
              <a:rPr lang="en-US" sz="1000"/>
              <a:t>(</a:t>
            </a:r>
            <a:r>
              <a:rPr lang="en-US" sz="1000" smtClean="0"/>
              <a:t>2019</a:t>
            </a:r>
            <a:r>
              <a:rPr lang="en-US" sz="100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/>
              <p:cNvSpPr txBox="1"/>
              <p:nvPr/>
            </p:nvSpPr>
            <p:spPr>
              <a:xfrm>
                <a:off x="4832454" y="4144055"/>
                <a:ext cx="5157438" cy="647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54823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54823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54823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b="0" i="1" smtClean="0">
                                  <a:solidFill>
                                    <a:srgbClr val="D1132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D1132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D1132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D1132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fr-FR" b="0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fr-FR" b="0" i="1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+∑</m:t>
                                  </m:r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fr-FR" b="0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fr-FR" b="0" i="1" smtClean="0">
                                                  <a:solidFill>
                                                    <a:srgbClr val="D11325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rgbClr val="D11325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rgbClr val="D11325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ZoneTexte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454" y="4144055"/>
                <a:ext cx="5157438" cy="6474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02695" y="1109625"/>
            <a:ext cx="28857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>
                <a:sym typeface="Wingdings" panose="05000000000000000000" pitchFamily="2" charset="2"/>
              </a:rPr>
              <a:t> need new « contrastive » </a:t>
            </a:r>
            <a:r>
              <a:rPr lang="fr-FR" sz="1400" smtClean="0">
                <a:sym typeface="Wingdings" panose="05000000000000000000" pitchFamily="2" charset="2"/>
              </a:rPr>
              <a:t>loss</a:t>
            </a:r>
            <a:r>
              <a:rPr lang="fr-FR" sz="1400" baseline="30000" smtClean="0">
                <a:sym typeface="Wingdings" panose="05000000000000000000" pitchFamily="2" charset="2"/>
              </a:rPr>
              <a:t>1</a:t>
            </a:r>
            <a:r>
              <a:rPr lang="fr-FR" sz="1400" smtClean="0">
                <a:sym typeface="Wingdings" panose="05000000000000000000" pitchFamily="2" charset="2"/>
              </a:rPr>
              <a:t>.</a:t>
            </a:r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2874937" y="2760938"/>
            <a:ext cx="59703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smtClean="0">
                <a:sym typeface="Wingdings" panose="05000000000000000000" pitchFamily="2" charset="2"/>
              </a:rPr>
              <a:t> minimal when </a:t>
            </a:r>
            <a:r>
              <a:rPr lang="fr-FR" sz="1200" smtClean="0">
                <a:solidFill>
                  <a:srgbClr val="548235"/>
                </a:solidFill>
                <a:sym typeface="Wingdings" panose="05000000000000000000" pitchFamily="2" charset="2"/>
              </a:rPr>
              <a:t>« same » points </a:t>
            </a:r>
            <a:r>
              <a:rPr lang="fr-FR" sz="1200" smtClean="0">
                <a:sym typeface="Wingdings" panose="05000000000000000000" pitchFamily="2" charset="2"/>
              </a:rPr>
              <a:t>are projected </a:t>
            </a:r>
            <a:r>
              <a:rPr lang="fr-FR" sz="1200" smtClean="0">
                <a:solidFill>
                  <a:srgbClr val="548235"/>
                </a:solidFill>
                <a:sym typeface="Wingdings" panose="05000000000000000000" pitchFamily="2" charset="2"/>
              </a:rPr>
              <a:t>close</a:t>
            </a:r>
            <a:r>
              <a:rPr lang="fr-FR" sz="1200" smtClean="0">
                <a:sym typeface="Wingdings" panose="05000000000000000000" pitchFamily="2" charset="2"/>
              </a:rPr>
              <a:t> and </a:t>
            </a:r>
            <a:r>
              <a:rPr lang="fr-FR" sz="1200" smtClean="0">
                <a:solidFill>
                  <a:srgbClr val="D11325"/>
                </a:solidFill>
                <a:sym typeface="Wingdings" panose="05000000000000000000" pitchFamily="2" charset="2"/>
              </a:rPr>
              <a:t>« different » ones far away </a:t>
            </a:r>
            <a:endParaRPr lang="en-US" sz="1200">
              <a:solidFill>
                <a:srgbClr val="D1132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4674244" y="4981238"/>
                <a:ext cx="499361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smtClean="0">
                    <a:sym typeface="Wingdings" panose="05000000000000000000" pitchFamily="2" charset="2"/>
                  </a:rPr>
                  <a:t> minimal when </a:t>
                </a:r>
                <a:r>
                  <a:rPr lang="fr-FR" sz="1200" smtClean="0">
                    <a:solidFill>
                      <a:srgbClr val="548235"/>
                    </a:solidFill>
                    <a:sym typeface="Wingdings" panose="05000000000000000000" pitchFamily="2" charset="2"/>
                  </a:rPr>
                  <a:t>paired </a:t>
                </a:r>
                <a:r>
                  <a:rPr lang="fr-FR" sz="1200" smtClean="0">
                    <a:solidFill>
                      <a:srgbClr val="2E75B6"/>
                    </a:solidFill>
                    <a:sym typeface="Wingdings" panose="05000000000000000000" pitchFamily="2" charset="2"/>
                  </a:rPr>
                  <a:t>points</a:t>
                </a:r>
                <a:r>
                  <a:rPr lang="fr-FR" sz="1200" smtClean="0">
                    <a:solidFill>
                      <a:srgbClr val="548235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fr-FR" sz="1200" smtClean="0">
                    <a:sym typeface="Wingdings" panose="05000000000000000000" pitchFamily="2" charset="2"/>
                  </a:rPr>
                  <a:t>have similar projection (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200" smtClean="0">
                    <a:sym typeface="Wingdings" panose="05000000000000000000" pitchFamily="2" charset="2"/>
                  </a:rPr>
                  <a:t> high)</a:t>
                </a:r>
                <a:endParaRPr lang="en-US" sz="1200">
                  <a:solidFill>
                    <a:srgbClr val="D11325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44" y="4981238"/>
                <a:ext cx="4993611" cy="276999"/>
              </a:xfrm>
              <a:prstGeom prst="rect">
                <a:avLst/>
              </a:prstGeom>
              <a:blipFill>
                <a:blip r:embed="rId6"/>
                <a:stretch>
                  <a:fillRect l="-122" t="-217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5318700" y="5185203"/>
                <a:ext cx="431438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smtClean="0">
                    <a:sym typeface="Wingdings" panose="05000000000000000000" pitchFamily="2" charset="2"/>
                  </a:rPr>
                  <a:t>and </a:t>
                </a:r>
                <a:r>
                  <a:rPr lang="fr-FR" sz="1200" smtClean="0">
                    <a:solidFill>
                      <a:srgbClr val="D11325"/>
                    </a:solidFill>
                    <a:sym typeface="Wingdings" panose="05000000000000000000" pitchFamily="2" charset="2"/>
                  </a:rPr>
                  <a:t>unpaired</a:t>
                </a:r>
                <a:r>
                  <a:rPr lang="fr-FR" sz="1200" smtClean="0">
                    <a:sym typeface="Wingdings" panose="05000000000000000000" pitchFamily="2" charset="2"/>
                  </a:rPr>
                  <a:t> </a:t>
                </a:r>
                <a:r>
                  <a:rPr lang="fr-FR" sz="1200" smtClean="0">
                    <a:solidFill>
                      <a:srgbClr val="2E75B6"/>
                    </a:solidFill>
                    <a:sym typeface="Wingdings" panose="05000000000000000000" pitchFamily="2" charset="2"/>
                  </a:rPr>
                  <a:t>points</a:t>
                </a:r>
                <a:r>
                  <a:rPr lang="fr-FR" sz="1200" smtClean="0">
                    <a:solidFill>
                      <a:srgbClr val="548235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fr-FR" sz="1200" smtClean="0">
                    <a:sym typeface="Wingdings" panose="05000000000000000000" pitchFamily="2" charset="2"/>
                  </a:rPr>
                  <a:t>have different projection (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D1132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D1132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D1132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200" smtClean="0">
                    <a:sym typeface="Wingdings" panose="05000000000000000000" pitchFamily="2" charset="2"/>
                  </a:rPr>
                  <a:t> low)</a:t>
                </a:r>
                <a:endParaRPr lang="en-US" sz="1200">
                  <a:solidFill>
                    <a:srgbClr val="D11325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00" y="5185203"/>
                <a:ext cx="4314386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Rectangle 104"/>
          <p:cNvSpPr/>
          <p:nvPr/>
        </p:nvSpPr>
        <p:spPr>
          <a:xfrm>
            <a:off x="611003" y="1610483"/>
            <a:ext cx="18830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smtClean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two points in input space</a:t>
            </a:r>
            <a:endParaRPr 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/>
              <p:cNvSpPr/>
              <p:nvPr/>
            </p:nvSpPr>
            <p:spPr>
              <a:xfrm>
                <a:off x="998119" y="2406627"/>
                <a:ext cx="184505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>
                    <a:solidFill>
                      <a:schemeClr val="bg1">
                        <a:lumMod val="65000"/>
                      </a:schemeClr>
                    </a:solidFill>
                    <a:sym typeface="Wingdings" panose="05000000000000000000" pitchFamily="2" charset="2"/>
                  </a:rPr>
                  <a:t>p</a:t>
                </a:r>
                <a:r>
                  <a:rPr lang="fr-FR" sz="1200" smtClean="0">
                    <a:solidFill>
                      <a:schemeClr val="bg1">
                        <a:lumMod val="65000"/>
                      </a:schemeClr>
                    </a:solidFill>
                    <a:sym typeface="Wingdings" panose="05000000000000000000" pitchFamily="2" charset="2"/>
                  </a:rPr>
                  <a:t>arameters of network </a:t>
                </a:r>
                <a14:m>
                  <m:oMath xmlns:m="http://schemas.openxmlformats.org/officeDocument/2006/math">
                    <m:r>
                      <a:rPr lang="fr-FR" sz="120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</m:oMath>
                </a14:m>
                <a:endParaRPr lang="en-US" sz="120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6" name="Rectangle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119" y="2406627"/>
                <a:ext cx="1845057" cy="276999"/>
              </a:xfrm>
              <a:prstGeom prst="rect">
                <a:avLst/>
              </a:prstGeom>
              <a:blipFill>
                <a:blip r:embed="rId15"/>
                <a:stretch>
                  <a:fillRect l="-331"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avec flèche 35"/>
          <p:cNvCxnSpPr/>
          <p:nvPr/>
        </p:nvCxnSpPr>
        <p:spPr>
          <a:xfrm flipV="1">
            <a:off x="2436384" y="2217854"/>
            <a:ext cx="77699" cy="23003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/>
          <p:cNvCxnSpPr/>
          <p:nvPr/>
        </p:nvCxnSpPr>
        <p:spPr>
          <a:xfrm>
            <a:off x="2033032" y="1881488"/>
            <a:ext cx="5318" cy="205025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/>
          <p:cNvCxnSpPr/>
          <p:nvPr/>
        </p:nvCxnSpPr>
        <p:spPr>
          <a:xfrm>
            <a:off x="2067441" y="1888131"/>
            <a:ext cx="171843" cy="18250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956284" y="1676722"/>
            <a:ext cx="6142684" cy="984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93" name="ZoneTexte 92"/>
          <p:cNvSpPr txBox="1"/>
          <p:nvPr/>
        </p:nvSpPr>
        <p:spPr>
          <a:xfrm>
            <a:off x="9410121" y="2870372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>
                <a:sym typeface="Wingdings" panose="05000000000000000000" pitchFamily="2" charset="2"/>
              </a:rPr>
              <a:t>metric space</a:t>
            </a:r>
            <a:endParaRPr lang="en-US" sz="1400" i="1"/>
          </a:p>
        </p:txBody>
      </p:sp>
      <p:sp>
        <p:nvSpPr>
          <p:cNvPr id="96" name="Rectangle 95"/>
          <p:cNvSpPr/>
          <p:nvPr/>
        </p:nvSpPr>
        <p:spPr>
          <a:xfrm>
            <a:off x="9327813" y="1565972"/>
            <a:ext cx="1544320" cy="13122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09" name="Ellipse 108"/>
          <p:cNvSpPr/>
          <p:nvPr/>
        </p:nvSpPr>
        <p:spPr>
          <a:xfrm>
            <a:off x="3640452" y="4056283"/>
            <a:ext cx="203200" cy="2032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0" name="Ellipse 109"/>
          <p:cNvSpPr/>
          <p:nvPr/>
        </p:nvSpPr>
        <p:spPr>
          <a:xfrm>
            <a:off x="3856395" y="5162770"/>
            <a:ext cx="203200" cy="203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1" name="Ellipse 110"/>
          <p:cNvSpPr/>
          <p:nvPr/>
        </p:nvSpPr>
        <p:spPr>
          <a:xfrm>
            <a:off x="3711572" y="4891764"/>
            <a:ext cx="203200" cy="2032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2" name="Ellipse 111"/>
          <p:cNvSpPr/>
          <p:nvPr/>
        </p:nvSpPr>
        <p:spPr>
          <a:xfrm>
            <a:off x="4178530" y="4135323"/>
            <a:ext cx="203200" cy="203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3" name="Ellipse 112"/>
          <p:cNvSpPr/>
          <p:nvPr/>
        </p:nvSpPr>
        <p:spPr>
          <a:xfrm>
            <a:off x="3561684" y="4416702"/>
            <a:ext cx="203200" cy="203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4" name="Ellipse 113"/>
          <p:cNvSpPr/>
          <p:nvPr/>
        </p:nvSpPr>
        <p:spPr>
          <a:xfrm>
            <a:off x="3957995" y="4705944"/>
            <a:ext cx="203200" cy="203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5" name="Ellipse 114"/>
          <p:cNvSpPr/>
          <p:nvPr/>
        </p:nvSpPr>
        <p:spPr>
          <a:xfrm>
            <a:off x="4069755" y="4955162"/>
            <a:ext cx="203200" cy="203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6" name="Ellipse 115"/>
          <p:cNvSpPr/>
          <p:nvPr/>
        </p:nvSpPr>
        <p:spPr>
          <a:xfrm>
            <a:off x="4140804" y="4518302"/>
            <a:ext cx="203200" cy="203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7" name="Ellipse 116"/>
          <p:cNvSpPr/>
          <p:nvPr/>
        </p:nvSpPr>
        <p:spPr>
          <a:xfrm>
            <a:off x="4396055" y="4343501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8" name="Ellipse 117"/>
          <p:cNvSpPr/>
          <p:nvPr/>
        </p:nvSpPr>
        <p:spPr>
          <a:xfrm>
            <a:off x="3460084" y="4754363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9" name="Ellipse 118"/>
          <p:cNvSpPr/>
          <p:nvPr/>
        </p:nvSpPr>
        <p:spPr>
          <a:xfrm>
            <a:off x="3754795" y="4475281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20" name="Ellipse 119"/>
          <p:cNvSpPr/>
          <p:nvPr/>
        </p:nvSpPr>
        <p:spPr>
          <a:xfrm>
            <a:off x="3460084" y="5062160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21" name="Ellipse 120"/>
          <p:cNvSpPr/>
          <p:nvPr/>
        </p:nvSpPr>
        <p:spPr>
          <a:xfrm>
            <a:off x="3937604" y="4287639"/>
            <a:ext cx="203200" cy="203200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22" name="ZoneTexte 121"/>
          <p:cNvSpPr txBox="1"/>
          <p:nvPr/>
        </p:nvSpPr>
        <p:spPr>
          <a:xfrm>
            <a:off x="3184604" y="5453180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smtClean="0">
                <a:sym typeface="Wingdings" panose="05000000000000000000" pitchFamily="2" charset="2"/>
              </a:rPr>
              <a:t>batch</a:t>
            </a:r>
            <a:endParaRPr lang="en-US" sz="1400" i="1"/>
          </a:p>
        </p:txBody>
      </p:sp>
      <p:sp>
        <p:nvSpPr>
          <p:cNvPr id="123" name="Rectangle 122"/>
          <p:cNvSpPr/>
          <p:nvPr/>
        </p:nvSpPr>
        <p:spPr>
          <a:xfrm>
            <a:off x="6748438" y="3924513"/>
            <a:ext cx="3153975" cy="984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004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0" grpId="0"/>
      <p:bldP spid="2" grpId="0"/>
      <p:bldP spid="39" grpId="0"/>
      <p:bldP spid="40" grpId="0"/>
      <p:bldP spid="41" grpId="0"/>
      <p:bldP spid="105" grpId="0"/>
      <p:bldP spid="106" grpId="0"/>
      <p:bldP spid="15" grpId="0" animBg="1"/>
      <p:bldP spid="93" grpId="0"/>
      <p:bldP spid="96" grpId="0" animBg="1"/>
      <p:bldP spid="109" grpId="0" animBg="1"/>
      <p:bldP spid="110" grpId="0" animBg="1"/>
      <p:bldP spid="110" grpId="1" animBg="1"/>
      <p:bldP spid="111" grpId="0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/>
      <p:bldP spid="1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Connecteur droit 93"/>
          <p:cNvCxnSpPr/>
          <p:nvPr/>
        </p:nvCxnSpPr>
        <p:spPr>
          <a:xfrm>
            <a:off x="9476977" y="1694775"/>
            <a:ext cx="0" cy="2461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/>
          <p:cNvCxnSpPr/>
          <p:nvPr/>
        </p:nvCxnSpPr>
        <p:spPr>
          <a:xfrm>
            <a:off x="10310362" y="1678010"/>
            <a:ext cx="0" cy="24985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8663915" y="3341383"/>
            <a:ext cx="24939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8684761" y="2489377"/>
            <a:ext cx="24939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531578" y="0"/>
            <a:ext cx="2660422" cy="1115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19" name="Rectangle 118"/>
          <p:cNvSpPr/>
          <p:nvPr/>
        </p:nvSpPr>
        <p:spPr>
          <a:xfrm>
            <a:off x="10315445" y="1657909"/>
            <a:ext cx="844489" cy="8157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20" name="Rectangle 119"/>
          <p:cNvSpPr/>
          <p:nvPr/>
        </p:nvSpPr>
        <p:spPr>
          <a:xfrm>
            <a:off x="10350653" y="2471597"/>
            <a:ext cx="809281" cy="8226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21" name="Rectangle 120"/>
          <p:cNvSpPr/>
          <p:nvPr/>
        </p:nvSpPr>
        <p:spPr>
          <a:xfrm>
            <a:off x="10318546" y="3331223"/>
            <a:ext cx="845366" cy="82731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16" name="Rectangle 115"/>
          <p:cNvSpPr/>
          <p:nvPr/>
        </p:nvSpPr>
        <p:spPr>
          <a:xfrm>
            <a:off x="9509424" y="1658471"/>
            <a:ext cx="809121" cy="8131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17" name="Rectangle 116"/>
          <p:cNvSpPr/>
          <p:nvPr/>
        </p:nvSpPr>
        <p:spPr>
          <a:xfrm>
            <a:off x="9504376" y="2509063"/>
            <a:ext cx="808289" cy="82216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18" name="Rectangle 117"/>
          <p:cNvSpPr/>
          <p:nvPr/>
        </p:nvSpPr>
        <p:spPr>
          <a:xfrm>
            <a:off x="9480637" y="3366590"/>
            <a:ext cx="804483" cy="7916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13" name="Rectangle 112"/>
          <p:cNvSpPr/>
          <p:nvPr/>
        </p:nvSpPr>
        <p:spPr>
          <a:xfrm>
            <a:off x="8670145" y="1657013"/>
            <a:ext cx="810910" cy="84953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14" name="Rectangle 113"/>
          <p:cNvSpPr/>
          <p:nvPr/>
        </p:nvSpPr>
        <p:spPr>
          <a:xfrm>
            <a:off x="8670199" y="2546067"/>
            <a:ext cx="806778" cy="8178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15" name="Rectangle 114"/>
          <p:cNvSpPr/>
          <p:nvPr/>
        </p:nvSpPr>
        <p:spPr>
          <a:xfrm>
            <a:off x="8663915" y="3363889"/>
            <a:ext cx="813062" cy="79261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CLIP : training</a:t>
            </a:r>
            <a:endParaRPr lang="en-US"/>
          </a:p>
        </p:txBody>
      </p:sp>
      <p:pic>
        <p:nvPicPr>
          <p:cNvPr id="5" name="Image 4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59" y="2043869"/>
            <a:ext cx="720000" cy="7200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139" y="2043869"/>
            <a:ext cx="700224" cy="7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966774" y="2734420"/>
            <a:ext cx="10383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dog Rex :  he’s so cute !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61299" y="2777213"/>
            <a:ext cx="15053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Pikachu is an electric type Pokemon.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66206" y="2782138"/>
            <a:ext cx="11145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 living here.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655729" y="2043869"/>
            <a:ext cx="720000" cy="720000"/>
          </a:xfrm>
          <a:prstGeom prst="rect">
            <a:avLst/>
          </a:prstGeom>
        </p:spPr>
      </p:pic>
      <p:pic>
        <p:nvPicPr>
          <p:cNvPr id="12" name="Image 1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947776" y="3378825"/>
            <a:ext cx="720000" cy="720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776" y="2551890"/>
            <a:ext cx="700224" cy="7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 13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947776" y="1724954"/>
            <a:ext cx="720000" cy="72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450434" y="248460"/>
            <a:ext cx="1314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dog Rex :  he’s so cute !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73512" y="261184"/>
            <a:ext cx="1578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Pikachu is an electric type Pokemon.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44629" y="440966"/>
            <a:ext cx="15575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 living here.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à coins arrondis 19"/>
              <p:cNvSpPr/>
              <p:nvPr/>
            </p:nvSpPr>
            <p:spPr>
              <a:xfrm>
                <a:off x="8266113" y="1933398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0" name="Rectangle à coins arrondis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113" y="1933398"/>
                <a:ext cx="312119" cy="320094"/>
              </a:xfrm>
              <a:prstGeom prst="roundRect">
                <a:avLst/>
              </a:prstGeom>
              <a:blipFill>
                <a:blip r:embed="rId6"/>
                <a:stretch>
                  <a:fillRect l="-15686" b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à coins arrondis 20"/>
              <p:cNvSpPr/>
              <p:nvPr/>
            </p:nvSpPr>
            <p:spPr>
              <a:xfrm>
                <a:off x="8266113" y="2759226"/>
                <a:ext cx="312119" cy="316956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1" name="Rectangle à coins arrondis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113" y="2759226"/>
                <a:ext cx="312119" cy="316956"/>
              </a:xfrm>
              <a:prstGeom prst="roundRect">
                <a:avLst/>
              </a:prstGeom>
              <a:blipFill>
                <a:blip r:embed="rId7"/>
                <a:stretch>
                  <a:fillRect l="-13725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à coins arrondis 21"/>
              <p:cNvSpPr/>
              <p:nvPr/>
            </p:nvSpPr>
            <p:spPr>
              <a:xfrm>
                <a:off x="8266113" y="3588936"/>
                <a:ext cx="312119" cy="305691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2" name="Rectangle à coins arrondis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113" y="3588936"/>
                <a:ext cx="312119" cy="305691"/>
              </a:xfrm>
              <a:prstGeom prst="roundRect">
                <a:avLst/>
              </a:prstGeom>
              <a:blipFill>
                <a:blip r:embed="rId8"/>
                <a:stretch>
                  <a:fillRect l="-15686" b="-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eur droit avec flèche 22"/>
          <p:cNvCxnSpPr>
            <a:stCxn id="14" idx="3"/>
            <a:endCxn id="20" idx="1"/>
          </p:cNvCxnSpPr>
          <p:nvPr/>
        </p:nvCxnSpPr>
        <p:spPr>
          <a:xfrm>
            <a:off x="7667776" y="2084954"/>
            <a:ext cx="59833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>
            <a:stCxn id="13" idx="3"/>
            <a:endCxn id="21" idx="1"/>
          </p:cNvCxnSpPr>
          <p:nvPr/>
        </p:nvCxnSpPr>
        <p:spPr>
          <a:xfrm>
            <a:off x="7648000" y="2911890"/>
            <a:ext cx="6181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>
            <a:stCxn id="12" idx="3"/>
            <a:endCxn id="22" idx="1"/>
          </p:cNvCxnSpPr>
          <p:nvPr/>
        </p:nvCxnSpPr>
        <p:spPr>
          <a:xfrm>
            <a:off x="7667776" y="3738825"/>
            <a:ext cx="59833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à coins arrondis 14"/>
          <p:cNvSpPr/>
          <p:nvPr/>
        </p:nvSpPr>
        <p:spPr>
          <a:xfrm rot="16200000">
            <a:off x="6707162" y="2781148"/>
            <a:ext cx="2500948" cy="254468"/>
          </a:xfrm>
          <a:prstGeom prst="roundRect">
            <a:avLst/>
          </a:prstGeom>
          <a:solidFill>
            <a:srgbClr val="5C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600" smtClean="0">
                <a:solidFill>
                  <a:schemeClr val="bg1"/>
                </a:solidFill>
              </a:rPr>
              <a:t>Image encoder </a:t>
            </a:r>
            <a:r>
              <a:rPr lang="en-US" sz="1100" i="1" smtClean="0">
                <a:solidFill>
                  <a:schemeClr val="bg1"/>
                </a:solidFill>
              </a:rPr>
              <a:t>(ViT)</a:t>
            </a:r>
            <a:endParaRPr lang="en-US" sz="1600" i="1" dirty="0" smtClean="0">
              <a:solidFill>
                <a:schemeClr val="bg1"/>
              </a:solidFill>
            </a:endParaRPr>
          </a:p>
        </p:txBody>
      </p:sp>
      <p:cxnSp>
        <p:nvCxnSpPr>
          <p:cNvPr id="44" name="Connecteur droit avec flèche 43"/>
          <p:cNvCxnSpPr/>
          <p:nvPr/>
        </p:nvCxnSpPr>
        <p:spPr>
          <a:xfrm>
            <a:off x="10764336" y="781041"/>
            <a:ext cx="0" cy="462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 flipH="1">
            <a:off x="9911451" y="756317"/>
            <a:ext cx="0" cy="4875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>
            <a:off x="9064486" y="768849"/>
            <a:ext cx="0" cy="4750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à coins arrondis 15"/>
          <p:cNvSpPr/>
          <p:nvPr/>
        </p:nvSpPr>
        <p:spPr>
          <a:xfrm>
            <a:off x="8663915" y="861040"/>
            <a:ext cx="2500948" cy="254468"/>
          </a:xfrm>
          <a:prstGeom prst="roundRect">
            <a:avLst/>
          </a:prstGeom>
          <a:solidFill>
            <a:srgbClr val="FC6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600" smtClean="0">
                <a:solidFill>
                  <a:sysClr val="windowText" lastClr="000000"/>
                </a:solidFill>
              </a:rPr>
              <a:t>Text encoder </a:t>
            </a:r>
            <a:r>
              <a:rPr lang="en-US" sz="1100" i="1" smtClean="0">
                <a:solidFill>
                  <a:sysClr val="windowText" lastClr="000000"/>
                </a:solidFill>
              </a:rPr>
              <a:t>(Transformer)</a:t>
            </a:r>
            <a:endParaRPr lang="en-US" sz="1600" i="1" dirty="0" smtClea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à coins arrondis 48"/>
              <p:cNvSpPr/>
              <p:nvPr/>
            </p:nvSpPr>
            <p:spPr>
              <a:xfrm>
                <a:off x="8915722" y="1276061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49" name="Rectangle à coins arrondis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722" y="1276061"/>
                <a:ext cx="312119" cy="320094"/>
              </a:xfrm>
              <a:prstGeom prst="roundRect">
                <a:avLst/>
              </a:prstGeom>
              <a:blipFill>
                <a:blip r:embed="rId9"/>
                <a:stretch>
                  <a:fillRect l="-21569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à coins arrondis 49"/>
              <p:cNvSpPr/>
              <p:nvPr/>
            </p:nvSpPr>
            <p:spPr>
              <a:xfrm>
                <a:off x="9755392" y="1272088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50" name="Rectangle à coins arrondis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392" y="1272088"/>
                <a:ext cx="312119" cy="320094"/>
              </a:xfrm>
              <a:prstGeom prst="roundRect">
                <a:avLst/>
              </a:prstGeom>
              <a:blipFill>
                <a:blip r:embed="rId10"/>
                <a:stretch>
                  <a:fillRect l="-19608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à coins arrondis 50"/>
              <p:cNvSpPr/>
              <p:nvPr/>
            </p:nvSpPr>
            <p:spPr>
              <a:xfrm>
                <a:off x="10606116" y="1278880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51" name="Rectangle à coins arrondis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116" y="1278880"/>
                <a:ext cx="312119" cy="320094"/>
              </a:xfrm>
              <a:prstGeom prst="roundRect">
                <a:avLst/>
              </a:prstGeom>
              <a:blipFill>
                <a:blip r:embed="rId11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à coins arrondis 64"/>
              <p:cNvSpPr/>
              <p:nvPr/>
            </p:nvSpPr>
            <p:spPr>
              <a:xfrm>
                <a:off x="8698515" y="1939748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65" name="Rectangle à coins arrondis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515" y="1939748"/>
                <a:ext cx="312119" cy="320094"/>
              </a:xfrm>
              <a:prstGeom prst="roundRect">
                <a:avLst/>
              </a:prstGeom>
              <a:blipFill>
                <a:blip r:embed="rId12"/>
                <a:stretch>
                  <a:fillRect l="-15686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à coins arrondis 67"/>
              <p:cNvSpPr/>
              <p:nvPr/>
            </p:nvSpPr>
            <p:spPr>
              <a:xfrm>
                <a:off x="9131003" y="1939748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68" name="Rectangle à coins arrondis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003" y="1939748"/>
                <a:ext cx="312119" cy="320094"/>
              </a:xfrm>
              <a:prstGeom prst="roundRect">
                <a:avLst/>
              </a:prstGeom>
              <a:blipFill>
                <a:blip r:embed="rId13"/>
                <a:stretch>
                  <a:fillRect l="-21569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8868997" y="1758820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à coins arrondis 74"/>
              <p:cNvSpPr/>
              <p:nvPr/>
            </p:nvSpPr>
            <p:spPr>
              <a:xfrm>
                <a:off x="9519931" y="1945240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75" name="Rectangle à coins arrondis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9931" y="1945240"/>
                <a:ext cx="312119" cy="320094"/>
              </a:xfrm>
              <a:prstGeom prst="roundRect">
                <a:avLst/>
              </a:prstGeom>
              <a:blipFill>
                <a:blip r:embed="rId14"/>
                <a:stretch>
                  <a:fillRect l="-15686" b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à coins arrondis 75"/>
              <p:cNvSpPr/>
              <p:nvPr/>
            </p:nvSpPr>
            <p:spPr>
              <a:xfrm>
                <a:off x="9952419" y="1945240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76" name="Rectangle à coins arrondis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419" y="1945240"/>
                <a:ext cx="312119" cy="320094"/>
              </a:xfrm>
              <a:prstGeom prst="roundRect">
                <a:avLst/>
              </a:prstGeom>
              <a:blipFill>
                <a:blip r:embed="rId15"/>
                <a:stretch>
                  <a:fillRect l="-21569" b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/>
          <p:cNvSpPr/>
          <p:nvPr/>
        </p:nvSpPr>
        <p:spPr>
          <a:xfrm>
            <a:off x="9690413" y="1764312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à coins arrondis 77"/>
              <p:cNvSpPr/>
              <p:nvPr/>
            </p:nvSpPr>
            <p:spPr>
              <a:xfrm>
                <a:off x="10362328" y="1939748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78" name="Rectangle à coins arrondis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328" y="1939748"/>
                <a:ext cx="312119" cy="320094"/>
              </a:xfrm>
              <a:prstGeom prst="roundRect">
                <a:avLst/>
              </a:prstGeom>
              <a:blipFill>
                <a:blip r:embed="rId16"/>
                <a:stretch>
                  <a:fillRect l="-15686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à coins arrondis 78"/>
              <p:cNvSpPr/>
              <p:nvPr/>
            </p:nvSpPr>
            <p:spPr>
              <a:xfrm>
                <a:off x="10794816" y="1939748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79" name="Rectangle à coins arrondis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816" y="1939748"/>
                <a:ext cx="312119" cy="320094"/>
              </a:xfrm>
              <a:prstGeom prst="roundRect">
                <a:avLst/>
              </a:prstGeom>
              <a:blipFill>
                <a:blip r:embed="rId17"/>
                <a:stretch>
                  <a:fillRect l="-21569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10532810" y="1758820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à coins arrondis 80"/>
              <p:cNvSpPr/>
              <p:nvPr/>
            </p:nvSpPr>
            <p:spPr>
              <a:xfrm>
                <a:off x="8710161" y="2772704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1" name="Rectangle à coins arrondis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161" y="2772704"/>
                <a:ext cx="312119" cy="320094"/>
              </a:xfrm>
              <a:prstGeom prst="roundRect">
                <a:avLst/>
              </a:prstGeom>
              <a:blipFill>
                <a:blip r:embed="rId18"/>
                <a:stretch>
                  <a:fillRect l="-15686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à coins arrondis 81"/>
              <p:cNvSpPr/>
              <p:nvPr/>
            </p:nvSpPr>
            <p:spPr>
              <a:xfrm>
                <a:off x="9142649" y="2772704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2" name="Rectangle à coins arrondis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649" y="2772704"/>
                <a:ext cx="312119" cy="320094"/>
              </a:xfrm>
              <a:prstGeom prst="roundRect">
                <a:avLst/>
              </a:prstGeom>
              <a:blipFill>
                <a:blip r:embed="rId19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/>
          <p:cNvSpPr/>
          <p:nvPr/>
        </p:nvSpPr>
        <p:spPr>
          <a:xfrm>
            <a:off x="8880643" y="2591776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à coins arrondis 83"/>
              <p:cNvSpPr/>
              <p:nvPr/>
            </p:nvSpPr>
            <p:spPr>
              <a:xfrm>
                <a:off x="9531577" y="2778196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4" name="Rectangle à coins arrondis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577" y="2778196"/>
                <a:ext cx="312119" cy="320094"/>
              </a:xfrm>
              <a:prstGeom prst="roundRect">
                <a:avLst/>
              </a:prstGeom>
              <a:blipFill>
                <a:blip r:embed="rId20"/>
                <a:stretch>
                  <a:fillRect l="-15686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à coins arrondis 84"/>
              <p:cNvSpPr/>
              <p:nvPr/>
            </p:nvSpPr>
            <p:spPr>
              <a:xfrm>
                <a:off x="9964065" y="2778196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5" name="Rectangle à coins arrondis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65" y="2778196"/>
                <a:ext cx="312119" cy="320094"/>
              </a:xfrm>
              <a:prstGeom prst="roundRect">
                <a:avLst/>
              </a:prstGeom>
              <a:blipFill>
                <a:blip r:embed="rId21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/>
          <p:cNvSpPr/>
          <p:nvPr/>
        </p:nvSpPr>
        <p:spPr>
          <a:xfrm>
            <a:off x="9702059" y="2597268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à coins arrondis 86"/>
              <p:cNvSpPr/>
              <p:nvPr/>
            </p:nvSpPr>
            <p:spPr>
              <a:xfrm>
                <a:off x="10373974" y="2772704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7" name="Rectangle à coins arrondis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974" y="2772704"/>
                <a:ext cx="312119" cy="320094"/>
              </a:xfrm>
              <a:prstGeom prst="roundRect">
                <a:avLst/>
              </a:prstGeom>
              <a:blipFill>
                <a:blip r:embed="rId22"/>
                <a:stretch>
                  <a:fillRect l="-15686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à coins arrondis 87"/>
              <p:cNvSpPr/>
              <p:nvPr/>
            </p:nvSpPr>
            <p:spPr>
              <a:xfrm>
                <a:off x="10806462" y="2772704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8" name="Rectangle à coins arrondis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462" y="2772704"/>
                <a:ext cx="312119" cy="320094"/>
              </a:xfrm>
              <a:prstGeom prst="roundRect">
                <a:avLst/>
              </a:prstGeom>
              <a:blipFill>
                <a:blip r:embed="rId23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/>
          <p:cNvSpPr/>
          <p:nvPr/>
        </p:nvSpPr>
        <p:spPr>
          <a:xfrm>
            <a:off x="10544456" y="2591776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à coins arrondis 102"/>
              <p:cNvSpPr/>
              <p:nvPr/>
            </p:nvSpPr>
            <p:spPr>
              <a:xfrm>
                <a:off x="8710161" y="3567591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03" name="Rectangle à coins arrondis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161" y="3567591"/>
                <a:ext cx="312119" cy="320094"/>
              </a:xfrm>
              <a:prstGeom prst="roundRect">
                <a:avLst/>
              </a:prstGeom>
              <a:blipFill>
                <a:blip r:embed="rId24"/>
                <a:stretch>
                  <a:fillRect l="-15686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à coins arrondis 103"/>
              <p:cNvSpPr/>
              <p:nvPr/>
            </p:nvSpPr>
            <p:spPr>
              <a:xfrm>
                <a:off x="9142649" y="3567591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04" name="Rectangle à coins arrondis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649" y="3567591"/>
                <a:ext cx="312119" cy="320094"/>
              </a:xfrm>
              <a:prstGeom prst="roundRect">
                <a:avLst/>
              </a:prstGeom>
              <a:blipFill>
                <a:blip r:embed="rId25"/>
                <a:stretch>
                  <a:fillRect l="-21569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Rectangle 104"/>
          <p:cNvSpPr/>
          <p:nvPr/>
        </p:nvSpPr>
        <p:spPr>
          <a:xfrm>
            <a:off x="8880643" y="3386663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à coins arrondis 105"/>
              <p:cNvSpPr/>
              <p:nvPr/>
            </p:nvSpPr>
            <p:spPr>
              <a:xfrm>
                <a:off x="9531577" y="3573083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06" name="Rectangle à coins arrondis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577" y="3573083"/>
                <a:ext cx="312119" cy="320094"/>
              </a:xfrm>
              <a:prstGeom prst="roundRect">
                <a:avLst/>
              </a:prstGeom>
              <a:blipFill>
                <a:blip r:embed="rId26"/>
                <a:stretch>
                  <a:fillRect l="-15686" b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à coins arrondis 106"/>
              <p:cNvSpPr/>
              <p:nvPr/>
            </p:nvSpPr>
            <p:spPr>
              <a:xfrm>
                <a:off x="9964065" y="3573083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07" name="Rectangle à coins arrondis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65" y="3573083"/>
                <a:ext cx="312119" cy="320094"/>
              </a:xfrm>
              <a:prstGeom prst="roundRect">
                <a:avLst/>
              </a:prstGeom>
              <a:blipFill>
                <a:blip r:embed="rId27"/>
                <a:stretch>
                  <a:fillRect l="-21569" b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/>
          <p:cNvSpPr/>
          <p:nvPr/>
        </p:nvSpPr>
        <p:spPr>
          <a:xfrm>
            <a:off x="9702059" y="3392155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à coins arrondis 108"/>
              <p:cNvSpPr/>
              <p:nvPr/>
            </p:nvSpPr>
            <p:spPr>
              <a:xfrm>
                <a:off x="10373974" y="3567591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09" name="Rectangle à coins arrondis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974" y="3567591"/>
                <a:ext cx="312119" cy="320094"/>
              </a:xfrm>
              <a:prstGeom prst="roundRect">
                <a:avLst/>
              </a:prstGeom>
              <a:blipFill>
                <a:blip r:embed="rId28"/>
                <a:stretch>
                  <a:fillRect l="-15686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à coins arrondis 109"/>
              <p:cNvSpPr/>
              <p:nvPr/>
            </p:nvSpPr>
            <p:spPr>
              <a:xfrm>
                <a:off x="10806462" y="3567591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10" name="Rectangle à coins arrondis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462" y="3567591"/>
                <a:ext cx="312119" cy="320094"/>
              </a:xfrm>
              <a:prstGeom prst="roundRect">
                <a:avLst/>
              </a:prstGeom>
              <a:blipFill>
                <a:blip r:embed="rId29"/>
                <a:stretch>
                  <a:fillRect l="-21569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ectangle 110"/>
          <p:cNvSpPr/>
          <p:nvPr/>
        </p:nvSpPr>
        <p:spPr>
          <a:xfrm>
            <a:off x="10544456" y="3386663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ZoneTexte 111"/>
              <p:cNvSpPr txBox="1"/>
              <p:nvPr/>
            </p:nvSpPr>
            <p:spPr>
              <a:xfrm>
                <a:off x="1388319" y="3872679"/>
                <a:ext cx="4781181" cy="7365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r-FR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fr-F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fr-F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fr-FR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fr-FR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nary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r-FR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r-FR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fr-FR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fr-FR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2" name="ZoneTexte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319" y="3872679"/>
                <a:ext cx="4781181" cy="73654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Ellipse 121"/>
          <p:cNvSpPr/>
          <p:nvPr/>
        </p:nvSpPr>
        <p:spPr>
          <a:xfrm>
            <a:off x="2931691" y="3876744"/>
            <a:ext cx="596901" cy="314272"/>
          </a:xfrm>
          <a:prstGeom prst="ellipse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23" name="Ellipse 122"/>
          <p:cNvSpPr/>
          <p:nvPr/>
        </p:nvSpPr>
        <p:spPr>
          <a:xfrm>
            <a:off x="2480045" y="4263051"/>
            <a:ext cx="578647" cy="314272"/>
          </a:xfrm>
          <a:prstGeom prst="ellipse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2398558" y="3459974"/>
                <a:ext cx="3465905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400" smtClean="0">
                    <a:solidFill>
                      <a:srgbClr val="70AD47"/>
                    </a:solidFill>
                  </a:rPr>
                  <a:t>correct image-text pair for image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rgbClr val="70AD4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fr-FR" sz="1400" smtClean="0">
                  <a:solidFill>
                    <a:srgbClr val="70AD47"/>
                  </a:solidFill>
                </a:endParaRPr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558" y="3459974"/>
                <a:ext cx="3465905" cy="307777"/>
              </a:xfrm>
              <a:prstGeom prst="rect">
                <a:avLst/>
              </a:prstGeom>
              <a:blipFill>
                <a:blip r:embed="rId31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1860111" y="4940265"/>
                <a:ext cx="3931263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400" smtClean="0">
                    <a:solidFill>
                      <a:srgbClr val="C00000"/>
                    </a:solidFill>
                  </a:rPr>
                  <a:t>all other incorrect image-text pairs for image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fr-FR" sz="1400" smtClean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111" y="4940265"/>
                <a:ext cx="3931263" cy="307777"/>
              </a:xfrm>
              <a:prstGeom prst="rect">
                <a:avLst/>
              </a:prstGeom>
              <a:blipFill>
                <a:blip r:embed="rId32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Connecteur droit avec flèche 127"/>
          <p:cNvCxnSpPr/>
          <p:nvPr/>
        </p:nvCxnSpPr>
        <p:spPr>
          <a:xfrm flipH="1">
            <a:off x="3415011" y="3804709"/>
            <a:ext cx="159104" cy="107622"/>
          </a:xfrm>
          <a:prstGeom prst="straightConnector1">
            <a:avLst/>
          </a:prstGeom>
          <a:ln w="38100">
            <a:solidFill>
              <a:srgbClr val="70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/>
          <p:cNvCxnSpPr/>
          <p:nvPr/>
        </p:nvCxnSpPr>
        <p:spPr>
          <a:xfrm flipV="1">
            <a:off x="3259004" y="4657346"/>
            <a:ext cx="190321" cy="2388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à coins arrondis 1"/>
          <p:cNvSpPr/>
          <p:nvPr/>
        </p:nvSpPr>
        <p:spPr>
          <a:xfrm>
            <a:off x="2006831" y="1953384"/>
            <a:ext cx="3637825" cy="1295344"/>
          </a:xfrm>
          <a:prstGeom prst="roundRect">
            <a:avLst>
              <a:gd name="adj" fmla="val 9536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93" name="Rectangle 92"/>
          <p:cNvSpPr/>
          <p:nvPr/>
        </p:nvSpPr>
        <p:spPr>
          <a:xfrm>
            <a:off x="19858" y="4101624"/>
            <a:ext cx="17304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i="1" smtClean="0"/>
              <a:t>Loss </a:t>
            </a:r>
            <a:r>
              <a:rPr lang="fr-FR" sz="1400" i="1" smtClean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4366" y="5366041"/>
            <a:ext cx="11360548" cy="12331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initial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(…) jointly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an image CNN and text transformer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caption of an image. However, we encountered difficulties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: Try[ing]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the exact words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text accompanying each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[is]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task due to the wide variety of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descriptions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co-occur with images. </a:t>
            </a:r>
            <a:endParaRPr lang="en-US" sz="1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has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that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contrastive objectives can learn better representations than their equivalent </a:t>
            </a:r>
            <a:r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[generative] objective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290880" y="2403392"/>
            <a:ext cx="17304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i="1" smtClean="0"/>
              <a:t>Training batch </a:t>
            </a:r>
            <a:r>
              <a:rPr lang="fr-FR" sz="1400" i="1" smtClean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91" name="Image 90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750405" y="1484494"/>
            <a:ext cx="238862" cy="238396"/>
          </a:xfrm>
          <a:prstGeom prst="rect">
            <a:avLst/>
          </a:prstGeom>
        </p:spPr>
      </p:pic>
      <p:pic>
        <p:nvPicPr>
          <p:cNvPr id="92" name="Image 91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8590730" y="724667"/>
            <a:ext cx="238862" cy="238396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2177258" y="794770"/>
            <a:ext cx="11400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smtClean="0"/>
              <a:t>WebImageText</a:t>
            </a:r>
            <a:endParaRPr lang="en-US" sz="1100" i="1" baseline="30000"/>
          </a:p>
        </p:txBody>
      </p:sp>
      <p:pic>
        <p:nvPicPr>
          <p:cNvPr id="100" name="Image 99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5400000">
            <a:off x="2421991" y="951082"/>
            <a:ext cx="658726" cy="832892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3317314" y="1005852"/>
            <a:ext cx="2327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u="sng" smtClean="0"/>
              <a:t># images</a:t>
            </a:r>
            <a:r>
              <a:rPr lang="fr-FR" sz="1200" smtClean="0"/>
              <a:t> : 400M (~ GPT-2)</a:t>
            </a:r>
          </a:p>
          <a:p>
            <a:r>
              <a:rPr lang="fr-FR" sz="1200" u="sng" smtClean="0"/>
              <a:t>source</a:t>
            </a:r>
            <a:r>
              <a:rPr lang="fr-FR" sz="1200" smtClean="0"/>
              <a:t> : internet</a:t>
            </a:r>
            <a:endParaRPr lang="fr-FR" sz="1200" u="sng" smtClean="0"/>
          </a:p>
          <a:p>
            <a:r>
              <a:rPr lang="fr-FR" sz="1200" u="sng" smtClean="0"/>
              <a:t>labeling</a:t>
            </a:r>
            <a:r>
              <a:rPr lang="fr-FR" sz="1200" smtClean="0"/>
              <a:t> : « associated » text</a:t>
            </a:r>
            <a:endParaRPr lang="fr-FR" sz="1200" u="sng" smtClean="0"/>
          </a:p>
        </p:txBody>
      </p:sp>
      <p:sp>
        <p:nvSpPr>
          <p:cNvPr id="102" name="Rectangle 101"/>
          <p:cNvSpPr/>
          <p:nvPr/>
        </p:nvSpPr>
        <p:spPr>
          <a:xfrm>
            <a:off x="59072" y="1119832"/>
            <a:ext cx="17304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i="1" smtClean="0"/>
              <a:t>Dataset :</a:t>
            </a:r>
            <a:endParaRPr lang="fr-FR" sz="1400" i="1" smtClean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5803" y="3804709"/>
            <a:ext cx="1985528" cy="972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25" name="Ellipse 124"/>
          <p:cNvSpPr/>
          <p:nvPr/>
        </p:nvSpPr>
        <p:spPr>
          <a:xfrm>
            <a:off x="3109736" y="4203717"/>
            <a:ext cx="928759" cy="42227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307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1" grpId="0" animBg="1"/>
      <p:bldP spid="116" grpId="0" animBg="1"/>
      <p:bldP spid="117" grpId="0" animBg="1"/>
      <p:bldP spid="118" grpId="0" animBg="1"/>
      <p:bldP spid="113" grpId="0" animBg="1"/>
      <p:bldP spid="114" grpId="0" animBg="1"/>
      <p:bldP spid="115" grpId="0" animBg="1"/>
      <p:bldP spid="8" grpId="0"/>
      <p:bldP spid="9" grpId="0"/>
      <p:bldP spid="10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15" grpId="0" animBg="1"/>
      <p:bldP spid="16" grpId="0" animBg="1"/>
      <p:bldP spid="49" grpId="0" animBg="1"/>
      <p:bldP spid="50" grpId="0" animBg="1"/>
      <p:bldP spid="51" grpId="0" animBg="1"/>
      <p:bldP spid="65" grpId="0" animBg="1"/>
      <p:bldP spid="68" grpId="0" animBg="1"/>
      <p:bldP spid="70" grpId="0"/>
      <p:bldP spid="75" grpId="0" animBg="1"/>
      <p:bldP spid="76" grpId="0" animBg="1"/>
      <p:bldP spid="77" grpId="0"/>
      <p:bldP spid="78" grpId="0" animBg="1"/>
      <p:bldP spid="79" grpId="0" animBg="1"/>
      <p:bldP spid="80" grpId="0"/>
      <p:bldP spid="81" grpId="0" animBg="1"/>
      <p:bldP spid="82" grpId="0" animBg="1"/>
      <p:bldP spid="83" grpId="0"/>
      <p:bldP spid="84" grpId="0" animBg="1"/>
      <p:bldP spid="85" grpId="0" animBg="1"/>
      <p:bldP spid="86" grpId="0"/>
      <p:bldP spid="87" grpId="0" animBg="1"/>
      <p:bldP spid="88" grpId="0" animBg="1"/>
      <p:bldP spid="89" grpId="0"/>
      <p:bldP spid="103" grpId="0" animBg="1"/>
      <p:bldP spid="104" grpId="0" animBg="1"/>
      <p:bldP spid="105" grpId="0"/>
      <p:bldP spid="106" grpId="0" animBg="1"/>
      <p:bldP spid="107" grpId="0" animBg="1"/>
      <p:bldP spid="108" grpId="0"/>
      <p:bldP spid="109" grpId="0" animBg="1"/>
      <p:bldP spid="110" grpId="0" animBg="1"/>
      <p:bldP spid="111" grpId="0"/>
      <p:bldP spid="112" grpId="0"/>
      <p:bldP spid="122" grpId="0" animBg="1"/>
      <p:bldP spid="123" grpId="0" animBg="1"/>
      <p:bldP spid="126" grpId="0"/>
      <p:bldP spid="127" grpId="0"/>
      <p:bldP spid="2" grpId="0" animBg="1"/>
      <p:bldP spid="93" grpId="0"/>
      <p:bldP spid="97" grpId="0" animBg="1"/>
      <p:bldP spid="90" grpId="0"/>
      <p:bldP spid="96" grpId="0"/>
      <p:bldP spid="101" grpId="0"/>
      <p:bldP spid="102" grpId="0"/>
      <p:bldP spid="7" grpId="0" animBg="1"/>
      <p:bldP spid="1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/>
          <p:cNvCxnSpPr/>
          <p:nvPr/>
        </p:nvCxnSpPr>
        <p:spPr>
          <a:xfrm>
            <a:off x="1160565" y="3090163"/>
            <a:ext cx="7096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CLIP : inference</a:t>
            </a:r>
            <a:endParaRPr lang="en-US"/>
          </a:p>
        </p:txBody>
      </p:sp>
      <p:pic>
        <p:nvPicPr>
          <p:cNvPr id="5" name="Image 4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89837" y="2701047"/>
            <a:ext cx="720000" cy="720000"/>
          </a:xfrm>
          <a:prstGeom prst="rect">
            <a:avLst/>
          </a:prstGeom>
        </p:spPr>
      </p:pic>
      <p:sp>
        <p:nvSpPr>
          <p:cNvPr id="6" name="Rectangle à coins arrondis 5"/>
          <p:cNvSpPr/>
          <p:nvPr/>
        </p:nvSpPr>
        <p:spPr>
          <a:xfrm rot="16200000">
            <a:off x="640399" y="2983977"/>
            <a:ext cx="1769912" cy="321197"/>
          </a:xfrm>
          <a:prstGeom prst="roundRect">
            <a:avLst/>
          </a:prstGeom>
          <a:solidFill>
            <a:srgbClr val="5C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chemeClr val="bg1"/>
                </a:solidFill>
              </a:rPr>
              <a:t>Image encoder</a:t>
            </a:r>
            <a:endParaRPr lang="en-US" sz="1400" dirty="0" smtClean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à coins arrondis 8"/>
              <p:cNvSpPr/>
              <p:nvPr/>
            </p:nvSpPr>
            <p:spPr>
              <a:xfrm>
                <a:off x="1876028" y="2930116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9" name="Rectangle à coins arrondis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028" y="2930116"/>
                <a:ext cx="312119" cy="320094"/>
              </a:xfrm>
              <a:prstGeom prst="roundRect">
                <a:avLst/>
              </a:prstGeom>
              <a:blipFill>
                <a:blip r:embed="rId4"/>
                <a:stretch>
                  <a:fillRect l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416700" y="1496310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365795" y="1496937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740793" y="1484745"/>
            <a:ext cx="49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zoo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698998" y="1484745"/>
            <a:ext cx="53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stCxn id="11" idx="2"/>
          </p:cNvCxnSpPr>
          <p:nvPr/>
        </p:nvCxnSpPr>
        <p:spPr>
          <a:xfrm flipH="1">
            <a:off x="2774280" y="1804087"/>
            <a:ext cx="0" cy="495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3710940" y="1792522"/>
            <a:ext cx="0" cy="495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>
            <a:off x="4968240" y="1792522"/>
            <a:ext cx="0" cy="495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>
            <a:off x="5986272" y="1792522"/>
            <a:ext cx="0" cy="495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à coins arrondis 9"/>
          <p:cNvSpPr/>
          <p:nvPr/>
        </p:nvSpPr>
        <p:spPr>
          <a:xfrm>
            <a:off x="2293620" y="1905897"/>
            <a:ext cx="3992880" cy="248478"/>
          </a:xfrm>
          <a:prstGeom prst="roundRect">
            <a:avLst/>
          </a:prstGeom>
          <a:solidFill>
            <a:srgbClr val="FC6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Text encoder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3954852" y="1459267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5096759" y="1451762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à coins arrondis 22"/>
              <p:cNvSpPr/>
              <p:nvPr/>
            </p:nvSpPr>
            <p:spPr>
              <a:xfrm>
                <a:off x="2618220" y="2355142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3" name="Rectangle à coins arrondis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220" y="2355142"/>
                <a:ext cx="312119" cy="320094"/>
              </a:xfrm>
              <a:prstGeom prst="roundRect">
                <a:avLst/>
              </a:prstGeom>
              <a:blipFill>
                <a:blip r:embed="rId5"/>
                <a:stretch>
                  <a:fillRect l="-21154" b="-37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à coins arrondis 23"/>
              <p:cNvSpPr/>
              <p:nvPr/>
            </p:nvSpPr>
            <p:spPr>
              <a:xfrm>
                <a:off x="3554880" y="2352023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4" name="Rectangle à coins arrondis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880" y="2352023"/>
                <a:ext cx="312119" cy="320094"/>
              </a:xfrm>
              <a:prstGeom prst="roundRect">
                <a:avLst/>
              </a:prstGeom>
              <a:blipFill>
                <a:blip r:embed="rId6"/>
                <a:stretch>
                  <a:fillRect l="-19608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à coins arrondis 24"/>
              <p:cNvSpPr/>
              <p:nvPr/>
            </p:nvSpPr>
            <p:spPr>
              <a:xfrm>
                <a:off x="4796070" y="2352023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5" name="Rectangle à coins arrondis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070" y="2352023"/>
                <a:ext cx="312119" cy="320094"/>
              </a:xfrm>
              <a:prstGeom prst="roundRect">
                <a:avLst/>
              </a:prstGeom>
              <a:blipFill>
                <a:blip r:embed="rId7"/>
                <a:stretch>
                  <a:fillRect l="-17647" b="-57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à coins arrondis 25"/>
              <p:cNvSpPr/>
              <p:nvPr/>
            </p:nvSpPr>
            <p:spPr>
              <a:xfrm>
                <a:off x="5830211" y="2346396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6" name="Rectangle à coins arrondis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211" y="2346396"/>
                <a:ext cx="312119" cy="320094"/>
              </a:xfrm>
              <a:prstGeom prst="roundRect">
                <a:avLst/>
              </a:prstGeom>
              <a:blipFill>
                <a:blip r:embed="rId8"/>
                <a:stretch>
                  <a:fillRect l="-21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3961189" y="2324646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5112075" y="2324645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à coins arrondis 28"/>
              <p:cNvSpPr/>
              <p:nvPr/>
            </p:nvSpPr>
            <p:spPr>
              <a:xfrm>
                <a:off x="2795618" y="2930116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9" name="Rectangle à coins arrondis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18" y="2930116"/>
                <a:ext cx="312119" cy="320094"/>
              </a:xfrm>
              <a:prstGeom prst="roundRect">
                <a:avLst/>
              </a:prstGeom>
              <a:blipFill>
                <a:blip r:embed="rId9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à coins arrondis 29"/>
              <p:cNvSpPr/>
              <p:nvPr/>
            </p:nvSpPr>
            <p:spPr>
              <a:xfrm>
                <a:off x="2396233" y="2930116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0" name="Rectangle à coins arrondis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233" y="2930116"/>
                <a:ext cx="312119" cy="320094"/>
              </a:xfrm>
              <a:prstGeom prst="roundRect">
                <a:avLst/>
              </a:prstGeom>
              <a:blipFill>
                <a:blip r:embed="rId10"/>
                <a:stretch>
                  <a:fillRect l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552265" y="2730164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à coins arrondis 31"/>
              <p:cNvSpPr/>
              <p:nvPr/>
            </p:nvSpPr>
            <p:spPr>
              <a:xfrm>
                <a:off x="3746067" y="2930116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2" name="Rectangle à coins arrondis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067" y="2930116"/>
                <a:ext cx="312119" cy="320094"/>
              </a:xfrm>
              <a:prstGeom prst="roundRect">
                <a:avLst/>
              </a:prstGeom>
              <a:blipFill>
                <a:blip r:embed="rId11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à coins arrondis 32"/>
              <p:cNvSpPr/>
              <p:nvPr/>
            </p:nvSpPr>
            <p:spPr>
              <a:xfrm>
                <a:off x="3346682" y="2930116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3" name="Rectangle à coins arrondis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682" y="2930116"/>
                <a:ext cx="312119" cy="320094"/>
              </a:xfrm>
              <a:prstGeom prst="roundRect">
                <a:avLst/>
              </a:prstGeom>
              <a:blipFill>
                <a:blip r:embed="rId12"/>
                <a:stretch>
                  <a:fillRect l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3500447" y="2730164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à coins arrondis 34"/>
              <p:cNvSpPr/>
              <p:nvPr/>
            </p:nvSpPr>
            <p:spPr>
              <a:xfrm>
                <a:off x="4985079" y="2930116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5" name="Rectangle à coins arrondis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079" y="2930116"/>
                <a:ext cx="312119" cy="320094"/>
              </a:xfrm>
              <a:prstGeom prst="roundRect">
                <a:avLst/>
              </a:prstGeom>
              <a:blipFill>
                <a:blip r:embed="rId13"/>
                <a:stretch>
                  <a:fillRect l="-17647" b="-57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à coins arrondis 35"/>
              <p:cNvSpPr/>
              <p:nvPr/>
            </p:nvSpPr>
            <p:spPr>
              <a:xfrm>
                <a:off x="4585694" y="2930116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6" name="Rectangle à coins arrondis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694" y="2930116"/>
                <a:ext cx="312119" cy="320094"/>
              </a:xfrm>
              <a:prstGeom prst="roundRect">
                <a:avLst/>
              </a:prstGeom>
              <a:blipFill>
                <a:blip r:embed="rId14"/>
                <a:stretch>
                  <a:fillRect l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4739459" y="2737612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à coins arrondis 37"/>
              <p:cNvSpPr/>
              <p:nvPr/>
            </p:nvSpPr>
            <p:spPr>
              <a:xfrm>
                <a:off x="6030446" y="2926270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8" name="Rectangle à coins arrondis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446" y="2926270"/>
                <a:ext cx="312119" cy="320094"/>
              </a:xfrm>
              <a:prstGeom prst="roundRect">
                <a:avLst/>
              </a:prstGeom>
              <a:blipFill>
                <a:blip r:embed="rId15"/>
                <a:stretch>
                  <a:fillRect l="-215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à coins arrondis 38"/>
              <p:cNvSpPr/>
              <p:nvPr/>
            </p:nvSpPr>
            <p:spPr>
              <a:xfrm>
                <a:off x="5631061" y="2926270"/>
                <a:ext cx="312119" cy="320094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9" name="Rectangle à coins arrondis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061" y="2926270"/>
                <a:ext cx="312119" cy="320094"/>
              </a:xfrm>
              <a:prstGeom prst="roundRect">
                <a:avLst/>
              </a:prstGeom>
              <a:blipFill>
                <a:blip r:embed="rId16"/>
                <a:stretch>
                  <a:fillRect l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5784826" y="2733766"/>
            <a:ext cx="403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smtClean="0">
                <a:cs typeface="Times New Roman" panose="02020603050405020304" pitchFamily="18" charset="0"/>
              </a:rPr>
              <a:t>.</a:t>
            </a:r>
            <a:endParaRPr lang="en-US" sz="2800">
              <a:cs typeface="Times New Roman" panose="02020603050405020304" pitchFamily="18" charset="0"/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3971367" y="2868193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5096759" y="2868193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necteur droit avec flèche 43"/>
          <p:cNvCxnSpPr/>
          <p:nvPr/>
        </p:nvCxnSpPr>
        <p:spPr>
          <a:xfrm flipH="1">
            <a:off x="2767910" y="3277695"/>
            <a:ext cx="0" cy="495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 flipH="1">
            <a:off x="3717908" y="3264836"/>
            <a:ext cx="0" cy="495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/>
        </p:nvCxnSpPr>
        <p:spPr>
          <a:xfrm>
            <a:off x="4942893" y="3215805"/>
            <a:ext cx="0" cy="5570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5986270" y="3215805"/>
            <a:ext cx="0" cy="5570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/>
          <p:nvPr/>
        </p:nvCxnSpPr>
        <p:spPr>
          <a:xfrm>
            <a:off x="2416699" y="4316767"/>
            <a:ext cx="39178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/>
          <p:nvPr/>
        </p:nvCxnSpPr>
        <p:spPr>
          <a:xfrm flipV="1">
            <a:off x="2416700" y="3747347"/>
            <a:ext cx="0" cy="569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à coins arrondis 42"/>
          <p:cNvSpPr/>
          <p:nvPr/>
        </p:nvSpPr>
        <p:spPr>
          <a:xfrm>
            <a:off x="2341653" y="3352899"/>
            <a:ext cx="3992880" cy="24847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softmax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60" name="Forme libre 59"/>
          <p:cNvSpPr/>
          <p:nvPr/>
        </p:nvSpPr>
        <p:spPr>
          <a:xfrm rot="16200000">
            <a:off x="10467941" y="3747279"/>
            <a:ext cx="1686958" cy="464736"/>
          </a:xfrm>
          <a:custGeom>
            <a:avLst/>
            <a:gdLst>
              <a:gd name="connsiteX0" fmla="*/ 0 w 3836670"/>
              <a:gd name="connsiteY0" fmla="*/ 628650 h 632460"/>
              <a:gd name="connsiteX1" fmla="*/ 3836670 w 3836670"/>
              <a:gd name="connsiteY1" fmla="*/ 632460 h 632460"/>
              <a:gd name="connsiteX2" fmla="*/ 3787140 w 3836670"/>
              <a:gd name="connsiteY2" fmla="*/ 537210 h 632460"/>
              <a:gd name="connsiteX3" fmla="*/ 3657600 w 3836670"/>
              <a:gd name="connsiteY3" fmla="*/ 567690 h 632460"/>
              <a:gd name="connsiteX4" fmla="*/ 3558540 w 3836670"/>
              <a:gd name="connsiteY4" fmla="*/ 594360 h 632460"/>
              <a:gd name="connsiteX5" fmla="*/ 3467100 w 3836670"/>
              <a:gd name="connsiteY5" fmla="*/ 518160 h 632460"/>
              <a:gd name="connsiteX6" fmla="*/ 3322320 w 3836670"/>
              <a:gd name="connsiteY6" fmla="*/ 533400 h 632460"/>
              <a:gd name="connsiteX7" fmla="*/ 3185160 w 3836670"/>
              <a:gd name="connsiteY7" fmla="*/ 567690 h 632460"/>
              <a:gd name="connsiteX8" fmla="*/ 3112770 w 3836670"/>
              <a:gd name="connsiteY8" fmla="*/ 441960 h 632460"/>
              <a:gd name="connsiteX9" fmla="*/ 3009900 w 3836670"/>
              <a:gd name="connsiteY9" fmla="*/ 510540 h 632460"/>
              <a:gd name="connsiteX10" fmla="*/ 2918460 w 3836670"/>
              <a:gd name="connsiteY10" fmla="*/ 552450 h 632460"/>
              <a:gd name="connsiteX11" fmla="*/ 2727960 w 3836670"/>
              <a:gd name="connsiteY11" fmla="*/ 422910 h 632460"/>
              <a:gd name="connsiteX12" fmla="*/ 2667000 w 3836670"/>
              <a:gd name="connsiteY12" fmla="*/ 194310 h 632460"/>
              <a:gd name="connsiteX13" fmla="*/ 2579370 w 3836670"/>
              <a:gd name="connsiteY13" fmla="*/ 0 h 632460"/>
              <a:gd name="connsiteX14" fmla="*/ 2556510 w 3836670"/>
              <a:gd name="connsiteY14" fmla="*/ 87630 h 632460"/>
              <a:gd name="connsiteX15" fmla="*/ 2552700 w 3836670"/>
              <a:gd name="connsiteY15" fmla="*/ 266700 h 632460"/>
              <a:gd name="connsiteX16" fmla="*/ 2545080 w 3836670"/>
              <a:gd name="connsiteY16" fmla="*/ 422910 h 632460"/>
              <a:gd name="connsiteX17" fmla="*/ 2491740 w 3836670"/>
              <a:gd name="connsiteY17" fmla="*/ 491490 h 632460"/>
              <a:gd name="connsiteX18" fmla="*/ 2377440 w 3836670"/>
              <a:gd name="connsiteY18" fmla="*/ 510540 h 632460"/>
              <a:gd name="connsiteX19" fmla="*/ 2270760 w 3836670"/>
              <a:gd name="connsiteY19" fmla="*/ 525780 h 632460"/>
              <a:gd name="connsiteX20" fmla="*/ 2232660 w 3836670"/>
              <a:gd name="connsiteY20" fmla="*/ 521970 h 632460"/>
              <a:gd name="connsiteX21" fmla="*/ 2217420 w 3836670"/>
              <a:gd name="connsiteY21" fmla="*/ 506730 h 632460"/>
              <a:gd name="connsiteX22" fmla="*/ 2091690 w 3836670"/>
              <a:gd name="connsiteY22" fmla="*/ 411480 h 632460"/>
              <a:gd name="connsiteX23" fmla="*/ 2057400 w 3836670"/>
              <a:gd name="connsiteY23" fmla="*/ 323850 h 632460"/>
              <a:gd name="connsiteX24" fmla="*/ 1988820 w 3836670"/>
              <a:gd name="connsiteY24" fmla="*/ 377190 h 632460"/>
              <a:gd name="connsiteX25" fmla="*/ 1939290 w 3836670"/>
              <a:gd name="connsiteY25" fmla="*/ 464820 h 632460"/>
              <a:gd name="connsiteX26" fmla="*/ 1885950 w 3836670"/>
              <a:gd name="connsiteY26" fmla="*/ 487680 h 632460"/>
              <a:gd name="connsiteX27" fmla="*/ 1718310 w 3836670"/>
              <a:gd name="connsiteY27" fmla="*/ 502920 h 632460"/>
              <a:gd name="connsiteX28" fmla="*/ 1684020 w 3836670"/>
              <a:gd name="connsiteY28" fmla="*/ 499110 h 632460"/>
              <a:gd name="connsiteX29" fmla="*/ 1661160 w 3836670"/>
              <a:gd name="connsiteY29" fmla="*/ 491490 h 632460"/>
              <a:gd name="connsiteX30" fmla="*/ 1584960 w 3836670"/>
              <a:gd name="connsiteY30" fmla="*/ 445770 h 632460"/>
              <a:gd name="connsiteX31" fmla="*/ 1424940 w 3836670"/>
              <a:gd name="connsiteY31" fmla="*/ 491490 h 632460"/>
              <a:gd name="connsiteX32" fmla="*/ 1356360 w 3836670"/>
              <a:gd name="connsiteY32" fmla="*/ 537210 h 632460"/>
              <a:gd name="connsiteX33" fmla="*/ 1261110 w 3836670"/>
              <a:gd name="connsiteY33" fmla="*/ 552450 h 632460"/>
              <a:gd name="connsiteX34" fmla="*/ 1165860 w 3836670"/>
              <a:gd name="connsiteY34" fmla="*/ 533400 h 632460"/>
              <a:gd name="connsiteX35" fmla="*/ 1051560 w 3836670"/>
              <a:gd name="connsiteY35" fmla="*/ 525780 h 632460"/>
              <a:gd name="connsiteX36" fmla="*/ 967740 w 3836670"/>
              <a:gd name="connsiteY36" fmla="*/ 537210 h 632460"/>
              <a:gd name="connsiteX37" fmla="*/ 918210 w 3836670"/>
              <a:gd name="connsiteY37" fmla="*/ 541020 h 632460"/>
              <a:gd name="connsiteX38" fmla="*/ 815340 w 3836670"/>
              <a:gd name="connsiteY38" fmla="*/ 544830 h 632460"/>
              <a:gd name="connsiteX39" fmla="*/ 609600 w 3836670"/>
              <a:gd name="connsiteY39" fmla="*/ 567690 h 632460"/>
              <a:gd name="connsiteX40" fmla="*/ 560070 w 3836670"/>
              <a:gd name="connsiteY40" fmla="*/ 567690 h 632460"/>
              <a:gd name="connsiteX41" fmla="*/ 392430 w 3836670"/>
              <a:gd name="connsiteY41" fmla="*/ 579120 h 632460"/>
              <a:gd name="connsiteX42" fmla="*/ 232410 w 3836670"/>
              <a:gd name="connsiteY42" fmla="*/ 563880 h 632460"/>
              <a:gd name="connsiteX43" fmla="*/ 133350 w 3836670"/>
              <a:gd name="connsiteY43" fmla="*/ 563880 h 632460"/>
              <a:gd name="connsiteX44" fmla="*/ 0 w 3836670"/>
              <a:gd name="connsiteY44" fmla="*/ 628650 h 63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836670" h="632460">
                <a:moveTo>
                  <a:pt x="0" y="628650"/>
                </a:moveTo>
                <a:lnTo>
                  <a:pt x="3836670" y="632460"/>
                </a:lnTo>
                <a:lnTo>
                  <a:pt x="3787140" y="537210"/>
                </a:lnTo>
                <a:lnTo>
                  <a:pt x="3657600" y="567690"/>
                </a:lnTo>
                <a:lnTo>
                  <a:pt x="3558540" y="594360"/>
                </a:lnTo>
                <a:lnTo>
                  <a:pt x="3467100" y="518160"/>
                </a:lnTo>
                <a:lnTo>
                  <a:pt x="3322320" y="533400"/>
                </a:lnTo>
                <a:lnTo>
                  <a:pt x="3185160" y="567690"/>
                </a:lnTo>
                <a:lnTo>
                  <a:pt x="3112770" y="441960"/>
                </a:lnTo>
                <a:lnTo>
                  <a:pt x="3009900" y="510540"/>
                </a:lnTo>
                <a:lnTo>
                  <a:pt x="2918460" y="552450"/>
                </a:lnTo>
                <a:lnTo>
                  <a:pt x="2727960" y="422910"/>
                </a:lnTo>
                <a:lnTo>
                  <a:pt x="2667000" y="194310"/>
                </a:lnTo>
                <a:lnTo>
                  <a:pt x="2579370" y="0"/>
                </a:lnTo>
                <a:lnTo>
                  <a:pt x="2556510" y="87630"/>
                </a:lnTo>
                <a:lnTo>
                  <a:pt x="2552700" y="266700"/>
                </a:lnTo>
                <a:lnTo>
                  <a:pt x="2545080" y="422910"/>
                </a:lnTo>
                <a:lnTo>
                  <a:pt x="2491740" y="491490"/>
                </a:lnTo>
                <a:lnTo>
                  <a:pt x="2377440" y="510540"/>
                </a:lnTo>
                <a:lnTo>
                  <a:pt x="2270760" y="525780"/>
                </a:lnTo>
                <a:cubicBezTo>
                  <a:pt x="2258060" y="524510"/>
                  <a:pt x="2244680" y="526263"/>
                  <a:pt x="2232660" y="521970"/>
                </a:cubicBezTo>
                <a:cubicBezTo>
                  <a:pt x="2225894" y="519554"/>
                  <a:pt x="2217420" y="506730"/>
                  <a:pt x="2217420" y="506730"/>
                </a:cubicBezTo>
                <a:lnTo>
                  <a:pt x="2091690" y="411480"/>
                </a:lnTo>
                <a:lnTo>
                  <a:pt x="2057400" y="323850"/>
                </a:lnTo>
                <a:lnTo>
                  <a:pt x="1988820" y="377190"/>
                </a:lnTo>
                <a:lnTo>
                  <a:pt x="1939290" y="464820"/>
                </a:lnTo>
                <a:lnTo>
                  <a:pt x="1885950" y="487680"/>
                </a:lnTo>
                <a:lnTo>
                  <a:pt x="1718310" y="502920"/>
                </a:lnTo>
                <a:cubicBezTo>
                  <a:pt x="1706880" y="501650"/>
                  <a:pt x="1695297" y="501365"/>
                  <a:pt x="1684020" y="499110"/>
                </a:cubicBezTo>
                <a:cubicBezTo>
                  <a:pt x="1676144" y="497535"/>
                  <a:pt x="1661160" y="491490"/>
                  <a:pt x="1661160" y="491490"/>
                </a:cubicBezTo>
                <a:lnTo>
                  <a:pt x="1584960" y="445770"/>
                </a:lnTo>
                <a:lnTo>
                  <a:pt x="1424940" y="491490"/>
                </a:lnTo>
                <a:lnTo>
                  <a:pt x="1356360" y="537210"/>
                </a:lnTo>
                <a:lnTo>
                  <a:pt x="1261110" y="552450"/>
                </a:lnTo>
                <a:lnTo>
                  <a:pt x="1165860" y="533400"/>
                </a:lnTo>
                <a:lnTo>
                  <a:pt x="1051560" y="525780"/>
                </a:lnTo>
                <a:lnTo>
                  <a:pt x="967740" y="537210"/>
                </a:lnTo>
                <a:lnTo>
                  <a:pt x="918210" y="541020"/>
                </a:lnTo>
                <a:lnTo>
                  <a:pt x="815340" y="544830"/>
                </a:lnTo>
                <a:lnTo>
                  <a:pt x="609600" y="567690"/>
                </a:lnTo>
                <a:lnTo>
                  <a:pt x="560070" y="567690"/>
                </a:lnTo>
                <a:lnTo>
                  <a:pt x="392430" y="579120"/>
                </a:lnTo>
                <a:lnTo>
                  <a:pt x="232410" y="563880"/>
                </a:lnTo>
                <a:lnTo>
                  <a:pt x="133350" y="563880"/>
                </a:lnTo>
                <a:lnTo>
                  <a:pt x="0" y="62865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61" name="ZoneTexte 60"/>
          <p:cNvSpPr txBox="1"/>
          <p:nvPr/>
        </p:nvSpPr>
        <p:spPr>
          <a:xfrm>
            <a:off x="2459355" y="4353652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3408450" y="4354279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5783448" y="4323037"/>
            <a:ext cx="49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zoo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4741653" y="4323037"/>
            <a:ext cx="53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ZoneTexte 64"/>
          <p:cNvSpPr txBox="1"/>
          <p:nvPr/>
        </p:nvSpPr>
        <p:spPr>
          <a:xfrm>
            <a:off x="3997507" y="4297559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ZoneTexte 65"/>
          <p:cNvSpPr txBox="1"/>
          <p:nvPr/>
        </p:nvSpPr>
        <p:spPr>
          <a:xfrm>
            <a:off x="5139414" y="4290054"/>
            <a:ext cx="73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Image 66"/>
          <p:cNvPicPr>
            <a:picLocks noChangeAspect="1"/>
          </p:cNvPicPr>
          <p:nvPr/>
        </p:nvPicPr>
        <p:blipFill>
          <a:blip r:embed="rId17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54" y="2031768"/>
            <a:ext cx="360486" cy="349256"/>
          </a:xfrm>
          <a:prstGeom prst="rect">
            <a:avLst/>
          </a:prstGeom>
        </p:spPr>
      </p:pic>
      <p:pic>
        <p:nvPicPr>
          <p:cNvPr id="68" name="Image 67"/>
          <p:cNvPicPr>
            <a:picLocks noChangeAspect="1"/>
          </p:cNvPicPr>
          <p:nvPr/>
        </p:nvPicPr>
        <p:blipFill>
          <a:blip r:embed="rId17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541" y="1742834"/>
            <a:ext cx="360486" cy="349256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268181" y="1383456"/>
            <a:ext cx="2037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smtClean="0">
                <a:solidFill>
                  <a:schemeClr val="bg1">
                    <a:lumMod val="75000"/>
                  </a:schemeClr>
                </a:solidFill>
              </a:rPr>
              <a:t>downstream task</a:t>
            </a:r>
          </a:p>
          <a:p>
            <a:pPr algn="ctr"/>
            <a:r>
              <a:rPr lang="fr-FR" sz="1400" smtClean="0">
                <a:solidFill>
                  <a:schemeClr val="bg1">
                    <a:lumMod val="75000"/>
                  </a:schemeClr>
                </a:solidFill>
              </a:rPr>
              <a:t>(e.g. ImageNet)</a:t>
            </a:r>
          </a:p>
        </p:txBody>
      </p:sp>
      <p:cxnSp>
        <p:nvCxnSpPr>
          <p:cNvPr id="70" name="Connecteur droit avec flèche 69"/>
          <p:cNvCxnSpPr/>
          <p:nvPr/>
        </p:nvCxnSpPr>
        <p:spPr>
          <a:xfrm>
            <a:off x="2092685" y="1620505"/>
            <a:ext cx="435003" cy="6004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7393262" y="1576207"/>
            <a:ext cx="4176112" cy="9405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interpreted this way, the </a:t>
            </a:r>
            <a:r>
              <a:rPr lang="en-US" sz="1400">
                <a:solidFill>
                  <a:srgbClr val="5C34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encoder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computer vision backbone which computes a feature representation for the image and the </a:t>
            </a:r>
            <a:r>
              <a:rPr lang="en-US" sz="1400">
                <a:solidFill>
                  <a:srgbClr val="FC6DE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encoder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generates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weights of a linear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classifier.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à coins arrondis 79"/>
              <p:cNvSpPr/>
              <p:nvPr/>
            </p:nvSpPr>
            <p:spPr>
              <a:xfrm>
                <a:off x="8564908" y="3079042"/>
                <a:ext cx="312119" cy="1521080"/>
              </a:xfrm>
              <a:prstGeom prst="roundRect">
                <a:avLst/>
              </a:prstGeom>
              <a:solidFill>
                <a:srgbClr val="5C34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0" name="Rectangle à coins arrondis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908" y="3079042"/>
                <a:ext cx="312119" cy="1521080"/>
              </a:xfrm>
              <a:prstGeom prst="roundRect">
                <a:avLst/>
              </a:prstGeom>
              <a:blipFill>
                <a:blip r:embed="rId18"/>
                <a:stretch>
                  <a:fillRect l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Connecteur droit avec flèche 80"/>
          <p:cNvCxnSpPr/>
          <p:nvPr/>
        </p:nvCxnSpPr>
        <p:spPr>
          <a:xfrm>
            <a:off x="7980966" y="3843716"/>
            <a:ext cx="5839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à coins arrondis 78"/>
          <p:cNvSpPr/>
          <p:nvPr/>
        </p:nvSpPr>
        <p:spPr>
          <a:xfrm rot="16200000">
            <a:off x="7483492" y="3703359"/>
            <a:ext cx="1521082" cy="272444"/>
          </a:xfrm>
          <a:prstGeom prst="roundRect">
            <a:avLst/>
          </a:prstGeom>
          <a:solidFill>
            <a:srgbClr val="5C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chemeClr val="bg1"/>
                </a:solidFill>
              </a:rPr>
              <a:t>Image encoder</a:t>
            </a:r>
            <a:endParaRPr lang="en-US" sz="1400" dirty="0" smtClean="0">
              <a:solidFill>
                <a:schemeClr val="bg1"/>
              </a:solidFill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9585171" y="3136168"/>
            <a:ext cx="307777" cy="3077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86" name="Ellipse 85"/>
          <p:cNvSpPr/>
          <p:nvPr/>
        </p:nvSpPr>
        <p:spPr>
          <a:xfrm>
            <a:off x="9585170" y="3663490"/>
            <a:ext cx="307777" cy="3077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87" name="Ellipse 86"/>
          <p:cNvSpPr/>
          <p:nvPr/>
        </p:nvSpPr>
        <p:spPr>
          <a:xfrm>
            <a:off x="9585169" y="4190812"/>
            <a:ext cx="307777" cy="3077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88" name="ZoneTexte 87"/>
          <p:cNvSpPr txBox="1"/>
          <p:nvPr/>
        </p:nvSpPr>
        <p:spPr>
          <a:xfrm rot="5400000">
            <a:off x="9609599" y="4607096"/>
            <a:ext cx="409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Connecteur droit avec flèche 88"/>
          <p:cNvCxnSpPr>
            <a:endCxn id="85" idx="2"/>
          </p:cNvCxnSpPr>
          <p:nvPr/>
        </p:nvCxnSpPr>
        <p:spPr>
          <a:xfrm flipV="1">
            <a:off x="8876365" y="3290057"/>
            <a:ext cx="708806" cy="1391"/>
          </a:xfrm>
          <a:prstGeom prst="straightConnector1">
            <a:avLst/>
          </a:prstGeom>
          <a:ln w="19050">
            <a:solidFill>
              <a:srgbClr val="FC6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>
            <a:endCxn id="85" idx="2"/>
          </p:cNvCxnSpPr>
          <p:nvPr/>
        </p:nvCxnSpPr>
        <p:spPr>
          <a:xfrm flipV="1">
            <a:off x="8877027" y="3290057"/>
            <a:ext cx="708144" cy="530952"/>
          </a:xfrm>
          <a:prstGeom prst="straightConnector1">
            <a:avLst/>
          </a:prstGeom>
          <a:ln w="19050">
            <a:solidFill>
              <a:srgbClr val="FC6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>
            <a:endCxn id="87" idx="2"/>
          </p:cNvCxnSpPr>
          <p:nvPr/>
        </p:nvCxnSpPr>
        <p:spPr>
          <a:xfrm>
            <a:off x="8876365" y="4340594"/>
            <a:ext cx="708804" cy="410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>
            <a:off x="9892946" y="3290057"/>
            <a:ext cx="1527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/>
              <p:cNvSpPr txBox="1"/>
              <p:nvPr/>
            </p:nvSpPr>
            <p:spPr>
              <a:xfrm>
                <a:off x="9982443" y="3067450"/>
                <a:ext cx="728359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𝑎𝑝𝑝𝑙𝑒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1" name="ZoneTexte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443" y="3067450"/>
                <a:ext cx="728359" cy="390748"/>
              </a:xfrm>
              <a:prstGeom prst="rect">
                <a:avLst/>
              </a:prstGeom>
              <a:blipFill>
                <a:blip r:embed="rId19"/>
                <a:stretch>
                  <a:fillRect r="-1681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Connecteur droit avec flèche 101"/>
          <p:cNvCxnSpPr/>
          <p:nvPr/>
        </p:nvCxnSpPr>
        <p:spPr>
          <a:xfrm>
            <a:off x="9897422" y="3821485"/>
            <a:ext cx="1527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ZoneTexte 102"/>
              <p:cNvSpPr txBox="1"/>
              <p:nvPr/>
            </p:nvSpPr>
            <p:spPr>
              <a:xfrm>
                <a:off x="9971679" y="3598878"/>
                <a:ext cx="728359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3" name="ZoneTexte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679" y="3598878"/>
                <a:ext cx="728359" cy="391902"/>
              </a:xfrm>
              <a:prstGeom prst="rect">
                <a:avLst/>
              </a:prstGeom>
              <a:blipFill>
                <a:blip r:embed="rId2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Connecteur droit avec flèche 103"/>
          <p:cNvCxnSpPr/>
          <p:nvPr/>
        </p:nvCxnSpPr>
        <p:spPr>
          <a:xfrm>
            <a:off x="9892372" y="4343309"/>
            <a:ext cx="1527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ZoneTexte 104"/>
              <p:cNvSpPr txBox="1"/>
              <p:nvPr/>
            </p:nvSpPr>
            <p:spPr>
              <a:xfrm>
                <a:off x="9966629" y="4120702"/>
                <a:ext cx="728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5" name="ZoneTexte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629" y="4120702"/>
                <a:ext cx="72835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Connecteur droit avec flèche 106"/>
          <p:cNvCxnSpPr>
            <a:endCxn id="86" idx="2"/>
          </p:cNvCxnSpPr>
          <p:nvPr/>
        </p:nvCxnSpPr>
        <p:spPr>
          <a:xfrm>
            <a:off x="8876365" y="3287540"/>
            <a:ext cx="708805" cy="52983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/>
          <p:cNvCxnSpPr>
            <a:endCxn id="86" idx="2"/>
          </p:cNvCxnSpPr>
          <p:nvPr/>
        </p:nvCxnSpPr>
        <p:spPr>
          <a:xfrm flipV="1">
            <a:off x="8891866" y="3817379"/>
            <a:ext cx="693304" cy="410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/>
          <p:cNvCxnSpPr>
            <a:stCxn id="80" idx="3"/>
            <a:endCxn id="87" idx="2"/>
          </p:cNvCxnSpPr>
          <p:nvPr/>
        </p:nvCxnSpPr>
        <p:spPr>
          <a:xfrm>
            <a:off x="8877027" y="3839582"/>
            <a:ext cx="708142" cy="50511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avec flèche 119"/>
          <p:cNvCxnSpPr>
            <a:endCxn id="87" idx="2"/>
          </p:cNvCxnSpPr>
          <p:nvPr/>
        </p:nvCxnSpPr>
        <p:spPr>
          <a:xfrm>
            <a:off x="8876034" y="3293635"/>
            <a:ext cx="709135" cy="105106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avec flèche 121"/>
          <p:cNvCxnSpPr>
            <a:endCxn id="86" idx="2"/>
          </p:cNvCxnSpPr>
          <p:nvPr/>
        </p:nvCxnSpPr>
        <p:spPr>
          <a:xfrm flipV="1">
            <a:off x="8875840" y="3817379"/>
            <a:ext cx="709330" cy="52387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3"/>
          <p:cNvCxnSpPr>
            <a:endCxn id="85" idx="2"/>
          </p:cNvCxnSpPr>
          <p:nvPr/>
        </p:nvCxnSpPr>
        <p:spPr>
          <a:xfrm flipV="1">
            <a:off x="8878020" y="3290057"/>
            <a:ext cx="707151" cy="1048748"/>
          </a:xfrm>
          <a:prstGeom prst="straightConnector1">
            <a:avLst/>
          </a:prstGeom>
          <a:ln w="19050">
            <a:solidFill>
              <a:srgbClr val="FC6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à coins arrondis 125"/>
              <p:cNvSpPr/>
              <p:nvPr/>
            </p:nvSpPr>
            <p:spPr>
              <a:xfrm>
                <a:off x="9111578" y="2862818"/>
                <a:ext cx="312119" cy="320094"/>
              </a:xfrm>
              <a:prstGeom prst="roundRect">
                <a:avLst/>
              </a:prstGeom>
              <a:solidFill>
                <a:srgbClr val="FC6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126" name="Rectangle à coins arrondis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578" y="2862818"/>
                <a:ext cx="312119" cy="320094"/>
              </a:xfrm>
              <a:prstGeom prst="roundRect">
                <a:avLst/>
              </a:prstGeom>
              <a:blipFill>
                <a:blip r:embed="rId22"/>
                <a:stretch>
                  <a:fillRect l="-21569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Connecteur droit avec flèche 127"/>
          <p:cNvCxnSpPr/>
          <p:nvPr/>
        </p:nvCxnSpPr>
        <p:spPr>
          <a:xfrm>
            <a:off x="10675242" y="3285553"/>
            <a:ext cx="4661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/>
          <p:cNvCxnSpPr/>
          <p:nvPr/>
        </p:nvCxnSpPr>
        <p:spPr>
          <a:xfrm>
            <a:off x="10679718" y="3816981"/>
            <a:ext cx="461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/>
          <p:cNvCxnSpPr/>
          <p:nvPr/>
        </p:nvCxnSpPr>
        <p:spPr>
          <a:xfrm>
            <a:off x="10674668" y="4338805"/>
            <a:ext cx="46677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à coins arrondis 126"/>
          <p:cNvSpPr/>
          <p:nvPr/>
        </p:nvSpPr>
        <p:spPr>
          <a:xfrm rot="16200000">
            <a:off x="10125628" y="3733389"/>
            <a:ext cx="1521082" cy="21238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s</a:t>
            </a:r>
            <a:r>
              <a:rPr lang="en-US" sz="1600" smtClean="0">
                <a:solidFill>
                  <a:sysClr val="windowText" lastClr="000000"/>
                </a:solidFill>
              </a:rPr>
              <a:t>oftmax</a:t>
            </a:r>
            <a:endParaRPr lang="en-US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40" name="Forme libre 139"/>
          <p:cNvSpPr/>
          <p:nvPr/>
        </p:nvSpPr>
        <p:spPr>
          <a:xfrm>
            <a:off x="2387709" y="3797302"/>
            <a:ext cx="3836670" cy="518686"/>
          </a:xfrm>
          <a:custGeom>
            <a:avLst/>
            <a:gdLst>
              <a:gd name="connsiteX0" fmla="*/ 0 w 3836670"/>
              <a:gd name="connsiteY0" fmla="*/ 628650 h 632460"/>
              <a:gd name="connsiteX1" fmla="*/ 3836670 w 3836670"/>
              <a:gd name="connsiteY1" fmla="*/ 632460 h 632460"/>
              <a:gd name="connsiteX2" fmla="*/ 3787140 w 3836670"/>
              <a:gd name="connsiteY2" fmla="*/ 537210 h 632460"/>
              <a:gd name="connsiteX3" fmla="*/ 3657600 w 3836670"/>
              <a:gd name="connsiteY3" fmla="*/ 567690 h 632460"/>
              <a:gd name="connsiteX4" fmla="*/ 3558540 w 3836670"/>
              <a:gd name="connsiteY4" fmla="*/ 594360 h 632460"/>
              <a:gd name="connsiteX5" fmla="*/ 3467100 w 3836670"/>
              <a:gd name="connsiteY5" fmla="*/ 518160 h 632460"/>
              <a:gd name="connsiteX6" fmla="*/ 3322320 w 3836670"/>
              <a:gd name="connsiteY6" fmla="*/ 533400 h 632460"/>
              <a:gd name="connsiteX7" fmla="*/ 3185160 w 3836670"/>
              <a:gd name="connsiteY7" fmla="*/ 567690 h 632460"/>
              <a:gd name="connsiteX8" fmla="*/ 3112770 w 3836670"/>
              <a:gd name="connsiteY8" fmla="*/ 441960 h 632460"/>
              <a:gd name="connsiteX9" fmla="*/ 3009900 w 3836670"/>
              <a:gd name="connsiteY9" fmla="*/ 510540 h 632460"/>
              <a:gd name="connsiteX10" fmla="*/ 2918460 w 3836670"/>
              <a:gd name="connsiteY10" fmla="*/ 552450 h 632460"/>
              <a:gd name="connsiteX11" fmla="*/ 2727960 w 3836670"/>
              <a:gd name="connsiteY11" fmla="*/ 422910 h 632460"/>
              <a:gd name="connsiteX12" fmla="*/ 2667000 w 3836670"/>
              <a:gd name="connsiteY12" fmla="*/ 194310 h 632460"/>
              <a:gd name="connsiteX13" fmla="*/ 2579370 w 3836670"/>
              <a:gd name="connsiteY13" fmla="*/ 0 h 632460"/>
              <a:gd name="connsiteX14" fmla="*/ 2556510 w 3836670"/>
              <a:gd name="connsiteY14" fmla="*/ 87630 h 632460"/>
              <a:gd name="connsiteX15" fmla="*/ 2552700 w 3836670"/>
              <a:gd name="connsiteY15" fmla="*/ 266700 h 632460"/>
              <a:gd name="connsiteX16" fmla="*/ 2545080 w 3836670"/>
              <a:gd name="connsiteY16" fmla="*/ 422910 h 632460"/>
              <a:gd name="connsiteX17" fmla="*/ 2491740 w 3836670"/>
              <a:gd name="connsiteY17" fmla="*/ 491490 h 632460"/>
              <a:gd name="connsiteX18" fmla="*/ 2377440 w 3836670"/>
              <a:gd name="connsiteY18" fmla="*/ 510540 h 632460"/>
              <a:gd name="connsiteX19" fmla="*/ 2270760 w 3836670"/>
              <a:gd name="connsiteY19" fmla="*/ 525780 h 632460"/>
              <a:gd name="connsiteX20" fmla="*/ 2232660 w 3836670"/>
              <a:gd name="connsiteY20" fmla="*/ 521970 h 632460"/>
              <a:gd name="connsiteX21" fmla="*/ 2217420 w 3836670"/>
              <a:gd name="connsiteY21" fmla="*/ 506730 h 632460"/>
              <a:gd name="connsiteX22" fmla="*/ 2091690 w 3836670"/>
              <a:gd name="connsiteY22" fmla="*/ 411480 h 632460"/>
              <a:gd name="connsiteX23" fmla="*/ 2057400 w 3836670"/>
              <a:gd name="connsiteY23" fmla="*/ 323850 h 632460"/>
              <a:gd name="connsiteX24" fmla="*/ 1988820 w 3836670"/>
              <a:gd name="connsiteY24" fmla="*/ 377190 h 632460"/>
              <a:gd name="connsiteX25" fmla="*/ 1939290 w 3836670"/>
              <a:gd name="connsiteY25" fmla="*/ 464820 h 632460"/>
              <a:gd name="connsiteX26" fmla="*/ 1885950 w 3836670"/>
              <a:gd name="connsiteY26" fmla="*/ 487680 h 632460"/>
              <a:gd name="connsiteX27" fmla="*/ 1718310 w 3836670"/>
              <a:gd name="connsiteY27" fmla="*/ 502920 h 632460"/>
              <a:gd name="connsiteX28" fmla="*/ 1684020 w 3836670"/>
              <a:gd name="connsiteY28" fmla="*/ 499110 h 632460"/>
              <a:gd name="connsiteX29" fmla="*/ 1661160 w 3836670"/>
              <a:gd name="connsiteY29" fmla="*/ 491490 h 632460"/>
              <a:gd name="connsiteX30" fmla="*/ 1584960 w 3836670"/>
              <a:gd name="connsiteY30" fmla="*/ 445770 h 632460"/>
              <a:gd name="connsiteX31" fmla="*/ 1424940 w 3836670"/>
              <a:gd name="connsiteY31" fmla="*/ 491490 h 632460"/>
              <a:gd name="connsiteX32" fmla="*/ 1356360 w 3836670"/>
              <a:gd name="connsiteY32" fmla="*/ 537210 h 632460"/>
              <a:gd name="connsiteX33" fmla="*/ 1261110 w 3836670"/>
              <a:gd name="connsiteY33" fmla="*/ 552450 h 632460"/>
              <a:gd name="connsiteX34" fmla="*/ 1165860 w 3836670"/>
              <a:gd name="connsiteY34" fmla="*/ 533400 h 632460"/>
              <a:gd name="connsiteX35" fmla="*/ 1051560 w 3836670"/>
              <a:gd name="connsiteY35" fmla="*/ 525780 h 632460"/>
              <a:gd name="connsiteX36" fmla="*/ 967740 w 3836670"/>
              <a:gd name="connsiteY36" fmla="*/ 537210 h 632460"/>
              <a:gd name="connsiteX37" fmla="*/ 918210 w 3836670"/>
              <a:gd name="connsiteY37" fmla="*/ 541020 h 632460"/>
              <a:gd name="connsiteX38" fmla="*/ 815340 w 3836670"/>
              <a:gd name="connsiteY38" fmla="*/ 544830 h 632460"/>
              <a:gd name="connsiteX39" fmla="*/ 609600 w 3836670"/>
              <a:gd name="connsiteY39" fmla="*/ 567690 h 632460"/>
              <a:gd name="connsiteX40" fmla="*/ 560070 w 3836670"/>
              <a:gd name="connsiteY40" fmla="*/ 567690 h 632460"/>
              <a:gd name="connsiteX41" fmla="*/ 392430 w 3836670"/>
              <a:gd name="connsiteY41" fmla="*/ 579120 h 632460"/>
              <a:gd name="connsiteX42" fmla="*/ 232410 w 3836670"/>
              <a:gd name="connsiteY42" fmla="*/ 563880 h 632460"/>
              <a:gd name="connsiteX43" fmla="*/ 133350 w 3836670"/>
              <a:gd name="connsiteY43" fmla="*/ 563880 h 632460"/>
              <a:gd name="connsiteX44" fmla="*/ 0 w 3836670"/>
              <a:gd name="connsiteY44" fmla="*/ 628650 h 63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836670" h="632460">
                <a:moveTo>
                  <a:pt x="0" y="628650"/>
                </a:moveTo>
                <a:lnTo>
                  <a:pt x="3836670" y="632460"/>
                </a:lnTo>
                <a:lnTo>
                  <a:pt x="3787140" y="537210"/>
                </a:lnTo>
                <a:lnTo>
                  <a:pt x="3657600" y="567690"/>
                </a:lnTo>
                <a:lnTo>
                  <a:pt x="3558540" y="594360"/>
                </a:lnTo>
                <a:lnTo>
                  <a:pt x="3467100" y="518160"/>
                </a:lnTo>
                <a:lnTo>
                  <a:pt x="3322320" y="533400"/>
                </a:lnTo>
                <a:lnTo>
                  <a:pt x="3185160" y="567690"/>
                </a:lnTo>
                <a:lnTo>
                  <a:pt x="3112770" y="441960"/>
                </a:lnTo>
                <a:lnTo>
                  <a:pt x="3009900" y="510540"/>
                </a:lnTo>
                <a:lnTo>
                  <a:pt x="2918460" y="552450"/>
                </a:lnTo>
                <a:lnTo>
                  <a:pt x="2727960" y="422910"/>
                </a:lnTo>
                <a:lnTo>
                  <a:pt x="2667000" y="194310"/>
                </a:lnTo>
                <a:lnTo>
                  <a:pt x="2579370" y="0"/>
                </a:lnTo>
                <a:lnTo>
                  <a:pt x="2556510" y="87630"/>
                </a:lnTo>
                <a:lnTo>
                  <a:pt x="2552700" y="266700"/>
                </a:lnTo>
                <a:lnTo>
                  <a:pt x="2545080" y="422910"/>
                </a:lnTo>
                <a:lnTo>
                  <a:pt x="2491740" y="491490"/>
                </a:lnTo>
                <a:lnTo>
                  <a:pt x="2377440" y="510540"/>
                </a:lnTo>
                <a:lnTo>
                  <a:pt x="2270760" y="525780"/>
                </a:lnTo>
                <a:cubicBezTo>
                  <a:pt x="2258060" y="524510"/>
                  <a:pt x="2244680" y="526263"/>
                  <a:pt x="2232660" y="521970"/>
                </a:cubicBezTo>
                <a:cubicBezTo>
                  <a:pt x="2225894" y="519554"/>
                  <a:pt x="2217420" y="506730"/>
                  <a:pt x="2217420" y="506730"/>
                </a:cubicBezTo>
                <a:lnTo>
                  <a:pt x="2091690" y="411480"/>
                </a:lnTo>
                <a:lnTo>
                  <a:pt x="2057400" y="323850"/>
                </a:lnTo>
                <a:lnTo>
                  <a:pt x="1988820" y="377190"/>
                </a:lnTo>
                <a:lnTo>
                  <a:pt x="1939290" y="464820"/>
                </a:lnTo>
                <a:lnTo>
                  <a:pt x="1885950" y="487680"/>
                </a:lnTo>
                <a:lnTo>
                  <a:pt x="1718310" y="502920"/>
                </a:lnTo>
                <a:cubicBezTo>
                  <a:pt x="1706880" y="501650"/>
                  <a:pt x="1695297" y="501365"/>
                  <a:pt x="1684020" y="499110"/>
                </a:cubicBezTo>
                <a:cubicBezTo>
                  <a:pt x="1676144" y="497535"/>
                  <a:pt x="1661160" y="491490"/>
                  <a:pt x="1661160" y="491490"/>
                </a:cubicBezTo>
                <a:lnTo>
                  <a:pt x="1584960" y="445770"/>
                </a:lnTo>
                <a:lnTo>
                  <a:pt x="1424940" y="491490"/>
                </a:lnTo>
                <a:lnTo>
                  <a:pt x="1356360" y="537210"/>
                </a:lnTo>
                <a:lnTo>
                  <a:pt x="1261110" y="552450"/>
                </a:lnTo>
                <a:lnTo>
                  <a:pt x="1165860" y="533400"/>
                </a:lnTo>
                <a:lnTo>
                  <a:pt x="1051560" y="525780"/>
                </a:lnTo>
                <a:lnTo>
                  <a:pt x="967740" y="537210"/>
                </a:lnTo>
                <a:lnTo>
                  <a:pt x="918210" y="541020"/>
                </a:lnTo>
                <a:lnTo>
                  <a:pt x="815340" y="544830"/>
                </a:lnTo>
                <a:lnTo>
                  <a:pt x="609600" y="567690"/>
                </a:lnTo>
                <a:lnTo>
                  <a:pt x="560070" y="567690"/>
                </a:lnTo>
                <a:lnTo>
                  <a:pt x="392430" y="579120"/>
                </a:lnTo>
                <a:lnTo>
                  <a:pt x="232410" y="563880"/>
                </a:lnTo>
                <a:lnTo>
                  <a:pt x="133350" y="563880"/>
                </a:lnTo>
                <a:lnTo>
                  <a:pt x="0" y="62865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41" name="Rectangle 140"/>
          <p:cNvSpPr/>
          <p:nvPr/>
        </p:nvSpPr>
        <p:spPr>
          <a:xfrm>
            <a:off x="319587" y="5608096"/>
            <a:ext cx="61205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mtClean="0"/>
              <a:t>Performance on IN top-1 : 76%, ~ supervised ResNet-50 </a:t>
            </a:r>
            <a:endParaRPr lang="en-US" sz="1400"/>
          </a:p>
        </p:txBody>
      </p:sp>
      <p:sp>
        <p:nvSpPr>
          <p:cNvPr id="142" name="Rectangle 141"/>
          <p:cNvSpPr/>
          <p:nvPr/>
        </p:nvSpPr>
        <p:spPr>
          <a:xfrm>
            <a:off x="268181" y="852431"/>
            <a:ext cx="9597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mtClean="0"/>
              <a:t>Dataset size big enough to enable </a:t>
            </a:r>
            <a:r>
              <a:rPr lang="en-US" sz="1400" b="1" smtClean="0"/>
              <a:t>zero-shot</a:t>
            </a:r>
            <a:r>
              <a:rPr lang="en-US" sz="1400" smtClean="0"/>
              <a:t> (i.e. no fine-tuning) inference ( </a:t>
            </a:r>
            <a:r>
              <a:rPr lang="en-US" sz="1400" smtClean="0">
                <a:sym typeface="Wingdings" panose="05000000000000000000" pitchFamily="2" charset="2"/>
              </a:rPr>
              <a:t></a:t>
            </a:r>
            <a:r>
              <a:rPr lang="en-US" sz="1400" smtClean="0"/>
              <a:t> LLMs)</a:t>
            </a:r>
            <a:endParaRPr lang="en-US" sz="1400"/>
          </a:p>
        </p:txBody>
      </p:sp>
      <p:sp>
        <p:nvSpPr>
          <p:cNvPr id="143" name="Rectangle 142"/>
          <p:cNvSpPr/>
          <p:nvPr/>
        </p:nvSpPr>
        <p:spPr>
          <a:xfrm>
            <a:off x="331204" y="6034983"/>
            <a:ext cx="34148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mtClean="0"/>
              <a:t>Prompt engineering</a:t>
            </a:r>
            <a:r>
              <a:rPr lang="en-US" sz="1400" baseline="30000" smtClean="0"/>
              <a:t>1</a:t>
            </a:r>
            <a:r>
              <a:rPr lang="en-US" sz="1400" smtClean="0"/>
              <a:t> : ~ +5 points. </a:t>
            </a:r>
            <a:endParaRPr lang="en-US" sz="1400"/>
          </a:p>
        </p:txBody>
      </p:sp>
      <p:sp>
        <p:nvSpPr>
          <p:cNvPr id="144" name="ZoneTexte 143"/>
          <p:cNvSpPr txBox="1"/>
          <p:nvPr/>
        </p:nvSpPr>
        <p:spPr>
          <a:xfrm>
            <a:off x="3646714" y="6050371"/>
            <a:ext cx="2985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 apple » </a:t>
            </a:r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fr-FR" sz="1400">
                <a:latin typeface="Times New Roman" panose="02020603050405020304" pitchFamily="18" charset="0"/>
                <a:cs typeface="Times New Roman" panose="02020603050405020304" pitchFamily="18" charset="0"/>
              </a:rPr>
              <a:t>« a picture of an apple </a:t>
            </a:r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0" y="6605633"/>
            <a:ext cx="49682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Making </a:t>
            </a:r>
            <a:r>
              <a:rPr lang="en-US" sz="1000" i="1"/>
              <a:t>pre-trained language models better few-shot </a:t>
            </a:r>
            <a:r>
              <a:rPr lang="en-US" sz="1000" i="1" smtClean="0"/>
              <a:t>learners</a:t>
            </a:r>
            <a:r>
              <a:rPr lang="en-US" sz="1000" smtClean="0"/>
              <a:t>, Gao (2020)</a:t>
            </a:r>
            <a:endParaRPr lang="en-US" sz="1000"/>
          </a:p>
        </p:txBody>
      </p:sp>
      <p:sp>
        <p:nvSpPr>
          <p:cNvPr id="93" name="Rectangle 92"/>
          <p:cNvSpPr/>
          <p:nvPr/>
        </p:nvSpPr>
        <p:spPr>
          <a:xfrm>
            <a:off x="7393262" y="5476384"/>
            <a:ext cx="4176112" cy="9405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 can be applied to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visual classification benchmark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simply providing the names of the visual categories to be recognized, similar to the “zero-shot” capabilities of GPT-2 and GPT-3.</a:t>
            </a:r>
          </a:p>
        </p:txBody>
      </p:sp>
      <p:pic>
        <p:nvPicPr>
          <p:cNvPr id="92" name="Image 9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7657" y="3454431"/>
            <a:ext cx="720000" cy="720000"/>
          </a:xfrm>
          <a:prstGeom prst="rect">
            <a:avLst/>
          </a:prstGeom>
        </p:spPr>
      </p:pic>
      <p:cxnSp>
        <p:nvCxnSpPr>
          <p:cNvPr id="98" name="Connecteur droit avec flèche 97"/>
          <p:cNvCxnSpPr/>
          <p:nvPr/>
        </p:nvCxnSpPr>
        <p:spPr>
          <a:xfrm>
            <a:off x="2810566" y="4650884"/>
            <a:ext cx="0" cy="1108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avec flèche 99"/>
          <p:cNvCxnSpPr/>
          <p:nvPr/>
        </p:nvCxnSpPr>
        <p:spPr>
          <a:xfrm>
            <a:off x="3760564" y="4638025"/>
            <a:ext cx="0" cy="1237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>
            <a:off x="4985549" y="4588994"/>
            <a:ext cx="0" cy="1727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/>
          <p:cNvCxnSpPr/>
          <p:nvPr/>
        </p:nvCxnSpPr>
        <p:spPr>
          <a:xfrm>
            <a:off x="6028926" y="4588994"/>
            <a:ext cx="0" cy="1727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à coins arrondis 94"/>
          <p:cNvSpPr/>
          <p:nvPr/>
        </p:nvSpPr>
        <p:spPr>
          <a:xfrm>
            <a:off x="2341653" y="4761732"/>
            <a:ext cx="3992880" cy="24847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argmax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110" name="Connecteur droit avec flèche 109"/>
          <p:cNvCxnSpPr/>
          <p:nvPr/>
        </p:nvCxnSpPr>
        <p:spPr>
          <a:xfrm>
            <a:off x="4382765" y="5010210"/>
            <a:ext cx="0" cy="1727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ZoneTexte 110"/>
          <p:cNvSpPr txBox="1"/>
          <p:nvPr/>
        </p:nvSpPr>
        <p:spPr>
          <a:xfrm>
            <a:off x="4106374" y="5133119"/>
            <a:ext cx="53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6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/>
      <p:bldP spid="12" grpId="0"/>
      <p:bldP spid="13" grpId="0"/>
      <p:bldP spid="14" grpId="0"/>
      <p:bldP spid="10" grpId="0" animBg="1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  <p:bldP spid="41" grpId="0"/>
      <p:bldP spid="42" grpId="0"/>
      <p:bldP spid="43" grpId="0" animBg="1"/>
      <p:bldP spid="60" grpId="0" animBg="1"/>
      <p:bldP spid="61" grpId="0"/>
      <p:bldP spid="62" grpId="0"/>
      <p:bldP spid="63" grpId="0"/>
      <p:bldP spid="64" grpId="0"/>
      <p:bldP spid="65" grpId="0"/>
      <p:bldP spid="66" grpId="0"/>
      <p:bldP spid="69" grpId="0"/>
      <p:bldP spid="77" grpId="0" animBg="1"/>
      <p:bldP spid="80" grpId="0" animBg="1"/>
      <p:bldP spid="79" grpId="0" animBg="1"/>
      <p:bldP spid="85" grpId="0" animBg="1"/>
      <p:bldP spid="86" grpId="0" animBg="1"/>
      <p:bldP spid="87" grpId="0" animBg="1"/>
      <p:bldP spid="88" grpId="0"/>
      <p:bldP spid="101" grpId="0"/>
      <p:bldP spid="103" grpId="0"/>
      <p:bldP spid="105" grpId="0"/>
      <p:bldP spid="126" grpId="0" animBg="1"/>
      <p:bldP spid="127" grpId="0" animBg="1"/>
      <p:bldP spid="140" grpId="0" animBg="1"/>
      <p:bldP spid="141" grpId="0"/>
      <p:bldP spid="142" grpId="0"/>
      <p:bldP spid="143" grpId="0"/>
      <p:bldP spid="144" grpId="0"/>
      <p:bldP spid="146" grpId="0"/>
      <p:bldP spid="93" grpId="0" animBg="1"/>
      <p:bldP spid="95" grpId="0" animBg="1"/>
      <p:bldP spid="1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CLIP : Inspirations</a:t>
            </a:r>
            <a:endParaRPr lang="en-US"/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2291382" y="2100638"/>
            <a:ext cx="11083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9852" y="6602779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[2] </a:t>
            </a:r>
            <a:r>
              <a:rPr lang="en-US" sz="1000" i="1" smtClean="0"/>
              <a:t>Contrastive </a:t>
            </a:r>
            <a:r>
              <a:rPr lang="en-US" sz="1000" i="1"/>
              <a:t>Learning of Medical Visual Representations from Paired Images and </a:t>
            </a:r>
            <a:r>
              <a:rPr lang="en-US" sz="1000" i="1" smtClean="0"/>
              <a:t>Text</a:t>
            </a:r>
            <a:r>
              <a:rPr lang="en-US" sz="1000" smtClean="0"/>
              <a:t>, Zhang (2020) </a:t>
            </a:r>
            <a:endParaRPr lang="en-US" sz="1000"/>
          </a:p>
        </p:txBody>
      </p:sp>
      <p:sp>
        <p:nvSpPr>
          <p:cNvPr id="6" name="Rectangle à coins arrondis 5"/>
          <p:cNvSpPr/>
          <p:nvPr/>
        </p:nvSpPr>
        <p:spPr>
          <a:xfrm>
            <a:off x="2583622" y="1976444"/>
            <a:ext cx="643182" cy="25446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ysClr val="windowText" lastClr="000000"/>
                </a:solidFill>
              </a:rPr>
              <a:t>CNN</a:t>
            </a:r>
            <a:endParaRPr lang="en-US" sz="12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75" y="1237664"/>
            <a:ext cx="730706" cy="73277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465736" y="1581275"/>
            <a:ext cx="733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568821" y="3192273"/>
                <a:ext cx="265244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smtClean="0">
                    <a:solidFill>
                      <a:schemeClr val="bg1">
                        <a:lumMod val="65000"/>
                      </a:schemeClr>
                    </a:solidFill>
                  </a:rPr>
                  <a:t>most common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100" smtClean="0">
                    <a:solidFill>
                      <a:schemeClr val="bg1">
                        <a:lumMod val="65000"/>
                      </a:schemeClr>
                    </a:solidFill>
                  </a:rPr>
                  <a:t>-grams</a:t>
                </a:r>
              </a:p>
              <a:p>
                <a:pPr algn="ctr"/>
                <a:r>
                  <a:rPr lang="en-US" sz="1100" smtClean="0">
                    <a:solidFill>
                      <a:schemeClr val="bg1">
                        <a:lumMod val="65000"/>
                      </a:schemeClr>
                    </a:solidFill>
                  </a:rPr>
                  <a:t> in a corpus,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10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10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1,5</m:t>
                        </m:r>
                      </m:e>
                    </m:d>
                  </m:oMath>
                </a14:m>
                <a:endParaRPr lang="fr-FR" sz="1100" smtClean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821" y="3192273"/>
                <a:ext cx="2652446" cy="430887"/>
              </a:xfrm>
              <a:prstGeom prst="rect">
                <a:avLst/>
              </a:prstGeom>
              <a:blipFill>
                <a:blip r:embed="rId3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3477384" y="1749682"/>
            <a:ext cx="733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apple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472568" y="2755777"/>
            <a:ext cx="733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 was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820653" y="2343960"/>
            <a:ext cx="1407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lane approaching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643910" y="2171613"/>
            <a:ext cx="57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689802" y="2606284"/>
            <a:ext cx="29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3701805" y="2038804"/>
            <a:ext cx="29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4306102" y="1655303"/>
            <a:ext cx="0" cy="13935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4306102" y="1655303"/>
            <a:ext cx="4446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rme libre 17"/>
          <p:cNvSpPr/>
          <p:nvPr/>
        </p:nvSpPr>
        <p:spPr>
          <a:xfrm>
            <a:off x="4304267" y="1649727"/>
            <a:ext cx="370744" cy="1308100"/>
          </a:xfrm>
          <a:custGeom>
            <a:avLst/>
            <a:gdLst>
              <a:gd name="connsiteX0" fmla="*/ 2444 w 370744"/>
              <a:gd name="connsiteY0" fmla="*/ 0 h 1308100"/>
              <a:gd name="connsiteX1" fmla="*/ 59594 w 370744"/>
              <a:gd name="connsiteY1" fmla="*/ 101600 h 1308100"/>
              <a:gd name="connsiteX2" fmla="*/ 40544 w 370744"/>
              <a:gd name="connsiteY2" fmla="*/ 215900 h 1308100"/>
              <a:gd name="connsiteX3" fmla="*/ 84994 w 370744"/>
              <a:gd name="connsiteY3" fmla="*/ 266700 h 1308100"/>
              <a:gd name="connsiteX4" fmla="*/ 97694 w 370744"/>
              <a:gd name="connsiteY4" fmla="*/ 342900 h 1308100"/>
              <a:gd name="connsiteX5" fmla="*/ 78644 w 370744"/>
              <a:gd name="connsiteY5" fmla="*/ 444500 h 1308100"/>
              <a:gd name="connsiteX6" fmla="*/ 142144 w 370744"/>
              <a:gd name="connsiteY6" fmla="*/ 533400 h 1308100"/>
              <a:gd name="connsiteX7" fmla="*/ 307244 w 370744"/>
              <a:gd name="connsiteY7" fmla="*/ 571500 h 1308100"/>
              <a:gd name="connsiteX8" fmla="*/ 370744 w 370744"/>
              <a:gd name="connsiteY8" fmla="*/ 641350 h 1308100"/>
              <a:gd name="connsiteX9" fmla="*/ 288194 w 370744"/>
              <a:gd name="connsiteY9" fmla="*/ 679450 h 1308100"/>
              <a:gd name="connsiteX10" fmla="*/ 332644 w 370744"/>
              <a:gd name="connsiteY10" fmla="*/ 762000 h 1308100"/>
              <a:gd name="connsiteX11" fmla="*/ 275494 w 370744"/>
              <a:gd name="connsiteY11" fmla="*/ 812800 h 1308100"/>
              <a:gd name="connsiteX12" fmla="*/ 65944 w 370744"/>
              <a:gd name="connsiteY12" fmla="*/ 857250 h 1308100"/>
              <a:gd name="connsiteX13" fmla="*/ 53244 w 370744"/>
              <a:gd name="connsiteY13" fmla="*/ 933450 h 1308100"/>
              <a:gd name="connsiteX14" fmla="*/ 135794 w 370744"/>
              <a:gd name="connsiteY14" fmla="*/ 1060450 h 1308100"/>
              <a:gd name="connsiteX15" fmla="*/ 129444 w 370744"/>
              <a:gd name="connsiteY15" fmla="*/ 1098550 h 1308100"/>
              <a:gd name="connsiteX16" fmla="*/ 53244 w 370744"/>
              <a:gd name="connsiteY16" fmla="*/ 1174750 h 1308100"/>
              <a:gd name="connsiteX17" fmla="*/ 53244 w 370744"/>
              <a:gd name="connsiteY17" fmla="*/ 1231900 h 1308100"/>
              <a:gd name="connsiteX18" fmla="*/ 2444 w 370744"/>
              <a:gd name="connsiteY18" fmla="*/ 1308100 h 1308100"/>
              <a:gd name="connsiteX19" fmla="*/ 2444 w 370744"/>
              <a:gd name="connsiteY19" fmla="*/ 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0744" h="1308100">
                <a:moveTo>
                  <a:pt x="2444" y="0"/>
                </a:moveTo>
                <a:lnTo>
                  <a:pt x="59594" y="101600"/>
                </a:lnTo>
                <a:lnTo>
                  <a:pt x="40544" y="215900"/>
                </a:lnTo>
                <a:lnTo>
                  <a:pt x="84994" y="266700"/>
                </a:lnTo>
                <a:lnTo>
                  <a:pt x="97694" y="342900"/>
                </a:lnTo>
                <a:lnTo>
                  <a:pt x="78644" y="444500"/>
                </a:lnTo>
                <a:lnTo>
                  <a:pt x="142144" y="533400"/>
                </a:lnTo>
                <a:lnTo>
                  <a:pt x="307244" y="571500"/>
                </a:lnTo>
                <a:lnTo>
                  <a:pt x="370744" y="641350"/>
                </a:lnTo>
                <a:lnTo>
                  <a:pt x="288194" y="679450"/>
                </a:lnTo>
                <a:lnTo>
                  <a:pt x="332644" y="762000"/>
                </a:lnTo>
                <a:lnTo>
                  <a:pt x="275494" y="812800"/>
                </a:lnTo>
                <a:lnTo>
                  <a:pt x="65944" y="857250"/>
                </a:lnTo>
                <a:lnTo>
                  <a:pt x="53244" y="933450"/>
                </a:lnTo>
                <a:lnTo>
                  <a:pt x="135794" y="1060450"/>
                </a:lnTo>
                <a:lnTo>
                  <a:pt x="129444" y="1098550"/>
                </a:lnTo>
                <a:lnTo>
                  <a:pt x="53244" y="1174750"/>
                </a:lnTo>
                <a:lnTo>
                  <a:pt x="53244" y="1231900"/>
                </a:lnTo>
                <a:lnTo>
                  <a:pt x="2444" y="1308100"/>
                </a:lnTo>
                <a:cubicBezTo>
                  <a:pt x="327" y="884767"/>
                  <a:pt x="-1789" y="461433"/>
                  <a:pt x="2444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9" name="ZoneTexte 18"/>
          <p:cNvSpPr txBox="1"/>
          <p:nvPr/>
        </p:nvSpPr>
        <p:spPr>
          <a:xfrm>
            <a:off x="586531" y="3004149"/>
            <a:ext cx="1407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lane approaching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957218" y="2839486"/>
            <a:ext cx="57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60593" y="3195238"/>
            <a:ext cx="545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jet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695264" y="3363259"/>
            <a:ext cx="1082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jet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78603" y="762347"/>
                <a:ext cx="635295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fr-FR" sz="1400" b="1" smtClean="0"/>
                  <a:t>Visual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fr-FR" sz="1400" b="1" smtClean="0"/>
                  <a:t>-grams</a:t>
                </a:r>
                <a:r>
                  <a:rPr lang="fr-FR" sz="1400" b="1" baseline="30000" smtClean="0"/>
                  <a:t>1</a:t>
                </a:r>
                <a:r>
                  <a:rPr lang="fr-FR" sz="1400" b="1" smtClean="0"/>
                  <a:t> </a:t>
                </a:r>
                <a:r>
                  <a:rPr lang="fr-FR" sz="1400" smtClean="0"/>
                  <a:t>: large pre-training with NLS + ZS on downstream tasks.</a:t>
                </a:r>
                <a:r>
                  <a:rPr lang="fr-FR" sz="1400" b="1" baseline="30000" smtClean="0"/>
                  <a:t> </a:t>
                </a:r>
                <a:endParaRPr lang="en-US" sz="1400" b="1" baseline="3000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03" y="762347"/>
                <a:ext cx="6352958" cy="307777"/>
              </a:xfrm>
              <a:prstGeom prst="rect">
                <a:avLst/>
              </a:prstGeom>
              <a:blipFill>
                <a:blip r:embed="rId4"/>
                <a:stretch>
                  <a:fillRect l="-96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/>
          <p:cNvCxnSpPr/>
          <p:nvPr/>
        </p:nvCxnSpPr>
        <p:spPr>
          <a:xfrm flipH="1" flipV="1">
            <a:off x="3815465" y="2999808"/>
            <a:ext cx="163972" cy="241473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509040" y="1819623"/>
            <a:ext cx="238862" cy="238396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28900" y="3230112"/>
            <a:ext cx="2406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smtClean="0">
                <a:solidFill>
                  <a:schemeClr val="bg1">
                    <a:lumMod val="65000"/>
                  </a:schemeClr>
                </a:solidFill>
              </a:rPr>
              <a:t>classes of ImageNet also appearing in the pre-training task</a:t>
            </a:r>
            <a:endParaRPr lang="en-US" sz="11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 rotWithShape="1">
          <a:blip r:embed="rId6"/>
          <a:srcRect l="75063" b="12789"/>
          <a:stretch/>
        </p:blipFill>
        <p:spPr>
          <a:xfrm>
            <a:off x="5519596" y="1905615"/>
            <a:ext cx="749176" cy="708755"/>
          </a:xfrm>
          <a:prstGeom prst="rect">
            <a:avLst/>
          </a:prstGeom>
        </p:spPr>
      </p:pic>
      <p:cxnSp>
        <p:nvCxnSpPr>
          <p:cNvPr id="28" name="Connecteur droit avec flèche 27"/>
          <p:cNvCxnSpPr>
            <a:stCxn id="27" idx="3"/>
          </p:cNvCxnSpPr>
          <p:nvPr/>
        </p:nvCxnSpPr>
        <p:spPr>
          <a:xfrm>
            <a:off x="6268772" y="2259993"/>
            <a:ext cx="9071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7017338" y="1644980"/>
            <a:ext cx="733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6993064" y="1832301"/>
            <a:ext cx="733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6993064" y="2825852"/>
            <a:ext cx="733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zoo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7109997" y="2233509"/>
            <a:ext cx="673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leopard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 rot="16200000">
            <a:off x="7324064" y="2569921"/>
            <a:ext cx="29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 rot="16200000">
            <a:off x="7305204" y="2077681"/>
            <a:ext cx="29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Connecteur droit avec flèche 34"/>
          <p:cNvCxnSpPr/>
          <p:nvPr/>
        </p:nvCxnSpPr>
        <p:spPr>
          <a:xfrm flipH="1">
            <a:off x="7793634" y="1717199"/>
            <a:ext cx="0" cy="13935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7793634" y="1717199"/>
            <a:ext cx="4446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orme libre 36"/>
          <p:cNvSpPr/>
          <p:nvPr/>
        </p:nvSpPr>
        <p:spPr>
          <a:xfrm>
            <a:off x="7803991" y="1711623"/>
            <a:ext cx="411449" cy="1308100"/>
          </a:xfrm>
          <a:custGeom>
            <a:avLst/>
            <a:gdLst>
              <a:gd name="connsiteX0" fmla="*/ 2444 w 370744"/>
              <a:gd name="connsiteY0" fmla="*/ 0 h 1308100"/>
              <a:gd name="connsiteX1" fmla="*/ 59594 w 370744"/>
              <a:gd name="connsiteY1" fmla="*/ 101600 h 1308100"/>
              <a:gd name="connsiteX2" fmla="*/ 40544 w 370744"/>
              <a:gd name="connsiteY2" fmla="*/ 215900 h 1308100"/>
              <a:gd name="connsiteX3" fmla="*/ 84994 w 370744"/>
              <a:gd name="connsiteY3" fmla="*/ 266700 h 1308100"/>
              <a:gd name="connsiteX4" fmla="*/ 97694 w 370744"/>
              <a:gd name="connsiteY4" fmla="*/ 342900 h 1308100"/>
              <a:gd name="connsiteX5" fmla="*/ 78644 w 370744"/>
              <a:gd name="connsiteY5" fmla="*/ 444500 h 1308100"/>
              <a:gd name="connsiteX6" fmla="*/ 142144 w 370744"/>
              <a:gd name="connsiteY6" fmla="*/ 533400 h 1308100"/>
              <a:gd name="connsiteX7" fmla="*/ 307244 w 370744"/>
              <a:gd name="connsiteY7" fmla="*/ 571500 h 1308100"/>
              <a:gd name="connsiteX8" fmla="*/ 370744 w 370744"/>
              <a:gd name="connsiteY8" fmla="*/ 641350 h 1308100"/>
              <a:gd name="connsiteX9" fmla="*/ 288194 w 370744"/>
              <a:gd name="connsiteY9" fmla="*/ 679450 h 1308100"/>
              <a:gd name="connsiteX10" fmla="*/ 332644 w 370744"/>
              <a:gd name="connsiteY10" fmla="*/ 762000 h 1308100"/>
              <a:gd name="connsiteX11" fmla="*/ 275494 w 370744"/>
              <a:gd name="connsiteY11" fmla="*/ 812800 h 1308100"/>
              <a:gd name="connsiteX12" fmla="*/ 65944 w 370744"/>
              <a:gd name="connsiteY12" fmla="*/ 857250 h 1308100"/>
              <a:gd name="connsiteX13" fmla="*/ 53244 w 370744"/>
              <a:gd name="connsiteY13" fmla="*/ 933450 h 1308100"/>
              <a:gd name="connsiteX14" fmla="*/ 135794 w 370744"/>
              <a:gd name="connsiteY14" fmla="*/ 1060450 h 1308100"/>
              <a:gd name="connsiteX15" fmla="*/ 129444 w 370744"/>
              <a:gd name="connsiteY15" fmla="*/ 1098550 h 1308100"/>
              <a:gd name="connsiteX16" fmla="*/ 53244 w 370744"/>
              <a:gd name="connsiteY16" fmla="*/ 1174750 h 1308100"/>
              <a:gd name="connsiteX17" fmla="*/ 53244 w 370744"/>
              <a:gd name="connsiteY17" fmla="*/ 1231900 h 1308100"/>
              <a:gd name="connsiteX18" fmla="*/ 2444 w 370744"/>
              <a:gd name="connsiteY18" fmla="*/ 1308100 h 1308100"/>
              <a:gd name="connsiteX19" fmla="*/ 2444 w 370744"/>
              <a:gd name="connsiteY19" fmla="*/ 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0744" h="1308100">
                <a:moveTo>
                  <a:pt x="2444" y="0"/>
                </a:moveTo>
                <a:lnTo>
                  <a:pt x="59594" y="101600"/>
                </a:lnTo>
                <a:lnTo>
                  <a:pt x="40544" y="215900"/>
                </a:lnTo>
                <a:lnTo>
                  <a:pt x="84994" y="266700"/>
                </a:lnTo>
                <a:lnTo>
                  <a:pt x="97694" y="342900"/>
                </a:lnTo>
                <a:lnTo>
                  <a:pt x="78644" y="444500"/>
                </a:lnTo>
                <a:lnTo>
                  <a:pt x="142144" y="533400"/>
                </a:lnTo>
                <a:lnTo>
                  <a:pt x="307244" y="571500"/>
                </a:lnTo>
                <a:lnTo>
                  <a:pt x="370744" y="641350"/>
                </a:lnTo>
                <a:lnTo>
                  <a:pt x="288194" y="679450"/>
                </a:lnTo>
                <a:lnTo>
                  <a:pt x="332644" y="762000"/>
                </a:lnTo>
                <a:lnTo>
                  <a:pt x="275494" y="812800"/>
                </a:lnTo>
                <a:lnTo>
                  <a:pt x="65944" y="857250"/>
                </a:lnTo>
                <a:lnTo>
                  <a:pt x="53244" y="933450"/>
                </a:lnTo>
                <a:lnTo>
                  <a:pt x="135794" y="1060450"/>
                </a:lnTo>
                <a:lnTo>
                  <a:pt x="129444" y="1098550"/>
                </a:lnTo>
                <a:lnTo>
                  <a:pt x="53244" y="1174750"/>
                </a:lnTo>
                <a:lnTo>
                  <a:pt x="53244" y="1231900"/>
                </a:lnTo>
                <a:lnTo>
                  <a:pt x="2444" y="1308100"/>
                </a:lnTo>
                <a:cubicBezTo>
                  <a:pt x="327" y="884767"/>
                  <a:pt x="-1789" y="461433"/>
                  <a:pt x="2444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38" name="Connecteur droit avec flèche 37"/>
          <p:cNvCxnSpPr>
            <a:stCxn id="26" idx="0"/>
          </p:cNvCxnSpPr>
          <p:nvPr/>
        </p:nvCxnSpPr>
        <p:spPr>
          <a:xfrm flipV="1">
            <a:off x="7331964" y="3041467"/>
            <a:ext cx="78023" cy="1886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21917" y="3895079"/>
            <a:ext cx="93773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/>
              <a:t>Contrastive VIsual Representation </a:t>
            </a:r>
            <a:r>
              <a:rPr lang="en-US" sz="1400" b="1" smtClean="0"/>
              <a:t>learning </a:t>
            </a:r>
            <a:r>
              <a:rPr lang="en-US" sz="1400" b="1"/>
              <a:t>from </a:t>
            </a:r>
            <a:r>
              <a:rPr lang="en-US" sz="1400" b="1" smtClean="0"/>
              <a:t>Text (ConVIRT)</a:t>
            </a:r>
            <a:r>
              <a:rPr lang="en-US" sz="1400" b="1" baseline="30000" smtClean="0"/>
              <a:t>2</a:t>
            </a:r>
            <a:r>
              <a:rPr lang="en-US" sz="1400" smtClean="0"/>
              <a:t> : contrastive alignment of images and text.</a:t>
            </a:r>
            <a:endParaRPr lang="en-US" sz="1400" b="1" baseline="30000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 rotWithShape="1">
          <a:blip r:embed="rId7"/>
          <a:srcRect r="2156"/>
          <a:stretch/>
        </p:blipFill>
        <p:spPr>
          <a:xfrm>
            <a:off x="695264" y="4341698"/>
            <a:ext cx="5668771" cy="19711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2" name="Rectangle à coins arrondis 41"/>
          <p:cNvSpPr/>
          <p:nvPr/>
        </p:nvSpPr>
        <p:spPr>
          <a:xfrm>
            <a:off x="6364959" y="2142820"/>
            <a:ext cx="649232" cy="25446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ysClr val="windowText" lastClr="000000"/>
                </a:solidFill>
              </a:rPr>
              <a:t>CNN</a:t>
            </a:r>
            <a:endParaRPr lang="en-US" sz="12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43" name="Image 42"/>
          <p:cNvPicPr>
            <a:picLocks noChangeAspect="1"/>
          </p:cNvPicPr>
          <p:nvPr/>
        </p:nvPicPr>
        <p:blipFill>
          <a:blip r:embed="rId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841" y="1994418"/>
            <a:ext cx="270309" cy="261888"/>
          </a:xfrm>
          <a:prstGeom prst="rect">
            <a:avLst/>
          </a:prstGeom>
        </p:spPr>
      </p:pic>
      <p:sp>
        <p:nvSpPr>
          <p:cNvPr id="44" name="Rectangle à coins arrondis 43"/>
          <p:cNvSpPr/>
          <p:nvPr/>
        </p:nvSpPr>
        <p:spPr>
          <a:xfrm>
            <a:off x="2583622" y="1333704"/>
            <a:ext cx="986327" cy="28116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Training</a:t>
            </a:r>
            <a:endParaRPr lang="en-US" sz="1400" dirty="0" smtClean="0"/>
          </a:p>
        </p:txBody>
      </p:sp>
      <p:sp>
        <p:nvSpPr>
          <p:cNvPr id="45" name="Rectangle à coins arrondis 44"/>
          <p:cNvSpPr/>
          <p:nvPr/>
        </p:nvSpPr>
        <p:spPr>
          <a:xfrm>
            <a:off x="6337082" y="1325433"/>
            <a:ext cx="1136474" cy="2861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/>
              <a:t>Inference</a:t>
            </a:r>
            <a:endParaRPr lang="en-US" sz="1400" dirty="0" smtClean="0"/>
          </a:p>
        </p:txBody>
      </p:sp>
      <p:sp>
        <p:nvSpPr>
          <p:cNvPr id="48" name="Rectangle 47"/>
          <p:cNvSpPr/>
          <p:nvPr/>
        </p:nvSpPr>
        <p:spPr>
          <a:xfrm>
            <a:off x="21631" y="6439196"/>
            <a:ext cx="32640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Learning </a:t>
            </a:r>
            <a:r>
              <a:rPr lang="en-US" sz="1000" i="1"/>
              <a:t>Visual N-Grams from Web </a:t>
            </a:r>
            <a:r>
              <a:rPr lang="en-US" sz="1000" i="1" smtClean="0"/>
              <a:t>Data</a:t>
            </a:r>
            <a:r>
              <a:rPr lang="en-US" sz="1000" smtClean="0"/>
              <a:t>, Li (2016)</a:t>
            </a:r>
            <a:endParaRPr lang="en-US" sz="1000"/>
          </a:p>
        </p:txBody>
      </p:sp>
      <p:sp>
        <p:nvSpPr>
          <p:cNvPr id="50" name="Multiplication 49"/>
          <p:cNvSpPr/>
          <p:nvPr/>
        </p:nvSpPr>
        <p:spPr>
          <a:xfrm>
            <a:off x="2181611" y="4443799"/>
            <a:ext cx="675207" cy="675207"/>
          </a:xfrm>
          <a:prstGeom prst="mathMultiply">
            <a:avLst>
              <a:gd name="adj1" fmla="val 7093"/>
            </a:avLst>
          </a:prstGeom>
          <a:solidFill>
            <a:srgbClr val="CA382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Multiplication 50"/>
          <p:cNvSpPr/>
          <p:nvPr/>
        </p:nvSpPr>
        <p:spPr>
          <a:xfrm>
            <a:off x="2309274" y="5393000"/>
            <a:ext cx="675207" cy="675207"/>
          </a:xfrm>
          <a:prstGeom prst="mathMultiply">
            <a:avLst>
              <a:gd name="adj1" fmla="val 7093"/>
            </a:avLst>
          </a:prstGeom>
          <a:solidFill>
            <a:srgbClr val="CA382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Multiplication 51"/>
          <p:cNvSpPr/>
          <p:nvPr/>
        </p:nvSpPr>
        <p:spPr>
          <a:xfrm>
            <a:off x="4312539" y="4441742"/>
            <a:ext cx="675207" cy="675207"/>
          </a:xfrm>
          <a:prstGeom prst="mathMultiply">
            <a:avLst>
              <a:gd name="adj1" fmla="val 7093"/>
            </a:avLst>
          </a:prstGeom>
          <a:solidFill>
            <a:srgbClr val="CA382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ication 52"/>
          <p:cNvSpPr/>
          <p:nvPr/>
        </p:nvSpPr>
        <p:spPr>
          <a:xfrm>
            <a:off x="4351880" y="5417127"/>
            <a:ext cx="675207" cy="675207"/>
          </a:xfrm>
          <a:prstGeom prst="mathMultiply">
            <a:avLst>
              <a:gd name="adj1" fmla="val 7093"/>
            </a:avLst>
          </a:prstGeom>
          <a:solidFill>
            <a:srgbClr val="CA382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224038" y="4701329"/>
            <a:ext cx="41295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/>
              <a:t>Dataset : 200k image-text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>
                <a:sym typeface="Wingdings" panose="05000000000000000000" pitchFamily="2" charset="2"/>
              </a:rPr>
              <a:t>M</a:t>
            </a:r>
            <a:r>
              <a:rPr lang="en-US" sz="1400" smtClean="0"/>
              <a:t>ain </a:t>
            </a:r>
            <a:r>
              <a:rPr lang="en-US" sz="1400"/>
              <a:t>difference in CLIP : scale and </a:t>
            </a:r>
            <a:r>
              <a:rPr lang="en-US" sz="1400" smtClean="0"/>
              <a:t>scope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/>
              <a:t>CLIP training is simplified</a:t>
            </a:r>
            <a:endParaRPr lang="en-US" sz="1400"/>
          </a:p>
        </p:txBody>
      </p:sp>
      <p:sp>
        <p:nvSpPr>
          <p:cNvPr id="58" name="Rectangle 57"/>
          <p:cNvSpPr/>
          <p:nvPr/>
        </p:nvSpPr>
        <p:spPr>
          <a:xfrm>
            <a:off x="8624503" y="1941873"/>
            <a:ext cx="374823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/>
              <a:t>Dataset : YFCC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 </a:t>
            </a:r>
            <a:r>
              <a:rPr lang="en-US" sz="1400" smtClean="0">
                <a:sym typeface="Wingdings" panose="05000000000000000000" pitchFamily="2" charset="2"/>
              </a:rPr>
              <a:t>Zero-shot to IN : 11% accuracy</a:t>
            </a:r>
            <a:endParaRPr lang="en-US" sz="1400"/>
          </a:p>
        </p:txBody>
      </p:sp>
      <p:sp>
        <p:nvSpPr>
          <p:cNvPr id="59" name="Rectangle 58"/>
          <p:cNvSpPr/>
          <p:nvPr/>
        </p:nvSpPr>
        <p:spPr>
          <a:xfrm>
            <a:off x="444882" y="1968024"/>
            <a:ext cx="1555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lane approaching zrh avro regional jet rj</a:t>
            </a:r>
            <a:endParaRPr lang="en-US" sz="1200" baseline="30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Connecteur droit avec flèche 55"/>
          <p:cNvCxnSpPr/>
          <p:nvPr/>
        </p:nvCxnSpPr>
        <p:spPr>
          <a:xfrm>
            <a:off x="1222872" y="2446165"/>
            <a:ext cx="0" cy="4097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à coins arrondis 53"/>
          <p:cNvSpPr/>
          <p:nvPr/>
        </p:nvSpPr>
        <p:spPr>
          <a:xfrm>
            <a:off x="309777" y="2504633"/>
            <a:ext cx="1845234" cy="20378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200" smtClean="0">
                <a:solidFill>
                  <a:sysClr val="windowText" lastClr="000000"/>
                </a:solidFill>
              </a:rPr>
              <a:t>filtering most common</a:t>
            </a:r>
            <a:endParaRPr lang="en-US" sz="12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47" name="Connecteur droit 46"/>
          <p:cNvCxnSpPr/>
          <p:nvPr/>
        </p:nvCxnSpPr>
        <p:spPr>
          <a:xfrm flipV="1">
            <a:off x="2291382" y="1581278"/>
            <a:ext cx="0" cy="1746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1606379" y="1581275"/>
            <a:ext cx="6965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H="1">
            <a:off x="1608073" y="3328128"/>
            <a:ext cx="7012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35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8" grpId="0" animBg="1"/>
      <p:bldP spid="19" grpId="0"/>
      <p:bldP spid="20" grpId="0"/>
      <p:bldP spid="21" grpId="0"/>
      <p:bldP spid="22" grpId="0"/>
      <p:bldP spid="23" grpId="0"/>
      <p:bldP spid="26" grpId="0"/>
      <p:bldP spid="29" grpId="0"/>
      <p:bldP spid="30" grpId="0"/>
      <p:bldP spid="31" grpId="0"/>
      <p:bldP spid="32" grpId="0"/>
      <p:bldP spid="33" grpId="0"/>
      <p:bldP spid="34" grpId="0"/>
      <p:bldP spid="37" grpId="0" animBg="1"/>
      <p:bldP spid="40" grpId="0"/>
      <p:bldP spid="42" grpId="0" animBg="1"/>
      <p:bldP spid="44" grpId="0" animBg="1"/>
      <p:bldP spid="45" grpId="0" animBg="1"/>
      <p:bldP spid="48" grpId="0"/>
      <p:bldP spid="50" grpId="0" animBg="1"/>
      <p:bldP spid="51" grpId="0" animBg="1"/>
      <p:bldP spid="52" grpId="0" animBg="1"/>
      <p:bldP spid="53" grpId="0" animBg="1"/>
      <p:bldP spid="59" grpId="0"/>
      <p:bldP spid="5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CLIP : Performance (zero-shot)</a:t>
            </a:r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grayscl/>
          </a:blip>
          <a:srcRect b="4293"/>
          <a:stretch/>
        </p:blipFill>
        <p:spPr>
          <a:xfrm>
            <a:off x="4888287" y="1271576"/>
            <a:ext cx="3929008" cy="40839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à coins arrondis 6"/>
          <p:cNvSpPr/>
          <p:nvPr/>
        </p:nvSpPr>
        <p:spPr>
          <a:xfrm>
            <a:off x="10065745" y="3730361"/>
            <a:ext cx="771818" cy="25964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CLIP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067662" y="2492330"/>
            <a:ext cx="776795" cy="9821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9664" y="793981"/>
            <a:ext cx="5009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mtClean="0"/>
              <a:t>Comparison on several downstream tasks</a:t>
            </a:r>
            <a:endParaRPr lang="en-US" sz="1400"/>
          </a:p>
        </p:txBody>
      </p:sp>
      <p:sp>
        <p:nvSpPr>
          <p:cNvPr id="11" name="ZoneTexte 10"/>
          <p:cNvSpPr txBox="1"/>
          <p:nvPr/>
        </p:nvSpPr>
        <p:spPr>
          <a:xfrm>
            <a:off x="9720855" y="2319534"/>
            <a:ext cx="146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WebImageText</a:t>
            </a:r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10451654" y="3446015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647122" y="1966816"/>
            <a:ext cx="16090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Zero-shot CLIP</a:t>
            </a:r>
            <a:endParaRPr lang="en-US" sz="1400" i="1"/>
          </a:p>
        </p:txBody>
      </p:sp>
      <p:pic>
        <p:nvPicPr>
          <p:cNvPr id="42" name="Imag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012642" y="3628217"/>
            <a:ext cx="238862" cy="238396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515" y="2779900"/>
            <a:ext cx="666599" cy="675427"/>
          </a:xfrm>
          <a:prstGeom prst="rect">
            <a:avLst/>
          </a:prstGeom>
        </p:spPr>
      </p:pic>
      <p:sp>
        <p:nvSpPr>
          <p:cNvPr id="48" name="ZoneTexte 47"/>
          <p:cNvSpPr txBox="1"/>
          <p:nvPr/>
        </p:nvSpPr>
        <p:spPr>
          <a:xfrm>
            <a:off x="2631589" y="2320835"/>
            <a:ext cx="1461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Downstream task</a:t>
            </a:r>
          </a:p>
          <a:p>
            <a:pPr algn="ctr"/>
            <a:r>
              <a:rPr lang="fr-FR" sz="1200" i="1" smtClean="0"/>
              <a:t>(e.g. MNIST)</a:t>
            </a:r>
          </a:p>
        </p:txBody>
      </p:sp>
      <p:sp>
        <p:nvSpPr>
          <p:cNvPr id="49" name="Rectangle à coins arrondis 48"/>
          <p:cNvSpPr/>
          <p:nvPr/>
        </p:nvSpPr>
        <p:spPr>
          <a:xfrm>
            <a:off x="1003683" y="3700586"/>
            <a:ext cx="1298557" cy="2596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ResNet-50</a:t>
            </a:r>
            <a:r>
              <a:rPr lang="en-US" sz="1400" baseline="30000" smtClean="0">
                <a:solidFill>
                  <a:sysClr val="windowText" lastClr="000000"/>
                </a:solidFill>
              </a:rPr>
              <a:t>1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51" name="Image 50"/>
          <p:cNvPicPr>
            <a:picLocks noChangeAspect="1"/>
          </p:cNvPicPr>
          <p:nvPr/>
        </p:nvPicPr>
        <p:blipFill rotWithShape="1">
          <a:blip r:embed="rId6"/>
          <a:srcRect l="25413"/>
          <a:stretch/>
        </p:blipFill>
        <p:spPr>
          <a:xfrm>
            <a:off x="799986" y="2785846"/>
            <a:ext cx="1649411" cy="598211"/>
          </a:xfrm>
          <a:prstGeom prst="rect">
            <a:avLst/>
          </a:prstGeom>
        </p:spPr>
      </p:pic>
      <p:sp>
        <p:nvSpPr>
          <p:cNvPr id="52" name="ZoneTexte 51"/>
          <p:cNvSpPr txBox="1"/>
          <p:nvPr/>
        </p:nvSpPr>
        <p:spPr>
          <a:xfrm>
            <a:off x="893892" y="2500483"/>
            <a:ext cx="146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ImageNet</a:t>
            </a:r>
          </a:p>
        </p:txBody>
      </p:sp>
      <p:sp>
        <p:nvSpPr>
          <p:cNvPr id="54" name="Rectangle à coins arrondis 53"/>
          <p:cNvSpPr/>
          <p:nvPr/>
        </p:nvSpPr>
        <p:spPr>
          <a:xfrm>
            <a:off x="2518426" y="3700585"/>
            <a:ext cx="1748354" cy="25964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Linear classifier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55" name="Image 5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446541" y="3563832"/>
            <a:ext cx="238862" cy="238396"/>
          </a:xfrm>
          <a:prstGeom prst="rect">
            <a:avLst/>
          </a:prstGeom>
        </p:spPr>
      </p:pic>
      <p:cxnSp>
        <p:nvCxnSpPr>
          <p:cNvPr id="56" name="Connecteur droit avec flèche 55"/>
          <p:cNvCxnSpPr>
            <a:stCxn id="49" idx="3"/>
            <a:endCxn id="54" idx="1"/>
          </p:cNvCxnSpPr>
          <p:nvPr/>
        </p:nvCxnSpPr>
        <p:spPr>
          <a:xfrm flipV="1">
            <a:off x="2302240" y="3830406"/>
            <a:ext cx="2161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age 5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03450" y="3562734"/>
            <a:ext cx="238862" cy="238396"/>
          </a:xfrm>
          <a:prstGeom prst="rect">
            <a:avLst/>
          </a:prstGeom>
        </p:spPr>
      </p:pic>
      <p:cxnSp>
        <p:nvCxnSpPr>
          <p:cNvPr id="59" name="Connecteur droit avec flèche 58"/>
          <p:cNvCxnSpPr/>
          <p:nvPr/>
        </p:nvCxnSpPr>
        <p:spPr>
          <a:xfrm>
            <a:off x="1689093" y="3468258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>
            <a:off x="3363782" y="3472882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10466" y="1826245"/>
            <a:ext cx="37110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CNN features + linear probing</a:t>
            </a:r>
            <a:endParaRPr lang="en-US" sz="1400" i="1"/>
          </a:p>
        </p:txBody>
      </p:sp>
      <p:sp>
        <p:nvSpPr>
          <p:cNvPr id="63" name="Accolade fermante 62"/>
          <p:cNvSpPr/>
          <p:nvPr/>
        </p:nvSpPr>
        <p:spPr>
          <a:xfrm rot="16200000">
            <a:off x="7801617" y="261862"/>
            <a:ext cx="104353" cy="1834130"/>
          </a:xfrm>
          <a:prstGeom prst="rightBrace">
            <a:avLst>
              <a:gd name="adj1" fmla="val 4188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049262" y="778360"/>
            <a:ext cx="16090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CLIP ZS is better</a:t>
            </a:r>
            <a:endParaRPr lang="en-US" sz="1400" i="1"/>
          </a:p>
        </p:txBody>
      </p:sp>
      <p:sp>
        <p:nvSpPr>
          <p:cNvPr id="65" name="Rectangle 64"/>
          <p:cNvSpPr/>
          <p:nvPr/>
        </p:nvSpPr>
        <p:spPr>
          <a:xfrm>
            <a:off x="4916862" y="807170"/>
            <a:ext cx="18717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ResNet + LP is better</a:t>
            </a:r>
            <a:endParaRPr lang="en-US" sz="1400" i="1"/>
          </a:p>
        </p:txBody>
      </p:sp>
      <p:sp>
        <p:nvSpPr>
          <p:cNvPr id="66" name="Accolade fermante 65"/>
          <p:cNvSpPr/>
          <p:nvPr/>
        </p:nvSpPr>
        <p:spPr>
          <a:xfrm rot="16200000">
            <a:off x="5822347" y="192692"/>
            <a:ext cx="107729" cy="1975848"/>
          </a:xfrm>
          <a:prstGeom prst="rightBrace">
            <a:avLst>
              <a:gd name="adj1" fmla="val 4188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928124" y="1348831"/>
            <a:ext cx="936011" cy="429626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68" name="Rectangle 67"/>
          <p:cNvSpPr/>
          <p:nvPr/>
        </p:nvSpPr>
        <p:spPr>
          <a:xfrm>
            <a:off x="6864135" y="3986336"/>
            <a:ext cx="894313" cy="167037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69" name="Rectangle 68"/>
          <p:cNvSpPr/>
          <p:nvPr/>
        </p:nvSpPr>
        <p:spPr>
          <a:xfrm>
            <a:off x="6901424" y="3720382"/>
            <a:ext cx="929412" cy="167037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70" name="ZoneTexte 69"/>
          <p:cNvSpPr txBox="1"/>
          <p:nvPr/>
        </p:nvSpPr>
        <p:spPr>
          <a:xfrm>
            <a:off x="148380" y="5109336"/>
            <a:ext cx="69875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General classification </a:t>
            </a:r>
            <a:r>
              <a:rPr lang="en-US" sz="1400"/>
              <a:t>: </a:t>
            </a:r>
            <a:r>
              <a:rPr lang="en-US" sz="1400" smtClean="0"/>
              <a:t>similar performance.</a:t>
            </a:r>
            <a:endParaRPr lang="en-US" sz="140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>
                <a:solidFill>
                  <a:schemeClr val="accent2">
                    <a:lumMod val="50000"/>
                  </a:schemeClr>
                </a:solidFill>
              </a:rPr>
              <a:t>Fine-grained classification</a:t>
            </a:r>
            <a:r>
              <a:rPr lang="en-US" sz="140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400" smtClean="0"/>
              <a:t>: depends on relative amount of labels in training set.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>
                <a:solidFill>
                  <a:srgbClr val="DB67BA"/>
                </a:solidFill>
              </a:rPr>
              <a:t>Action recognition in videos </a:t>
            </a:r>
            <a:r>
              <a:rPr lang="en-US" sz="1400" smtClean="0"/>
              <a:t>: CLIP better thanks to natural language supervision.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mtClean="0">
                <a:solidFill>
                  <a:srgbClr val="FA8A0E"/>
                </a:solidFill>
              </a:rPr>
              <a:t>Specialized / Complex / Abstract </a:t>
            </a:r>
            <a:r>
              <a:rPr lang="en-US" sz="1400" smtClean="0"/>
              <a:t>: requires some examples.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84726" y="2399155"/>
            <a:ext cx="679410" cy="320923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157720" y="3076129"/>
            <a:ext cx="709360" cy="15441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781061" y="3319937"/>
            <a:ext cx="1088832" cy="18277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43614" y="1775084"/>
            <a:ext cx="832992" cy="143922"/>
          </a:xfrm>
          <a:prstGeom prst="rect">
            <a:avLst/>
          </a:prstGeom>
          <a:noFill/>
          <a:ln w="28575">
            <a:solidFill>
              <a:srgbClr val="DB6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271250" y="2135827"/>
            <a:ext cx="606204" cy="169176"/>
          </a:xfrm>
          <a:prstGeom prst="rect">
            <a:avLst/>
          </a:prstGeom>
          <a:noFill/>
          <a:ln w="28575">
            <a:solidFill>
              <a:srgbClr val="DB6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877454" y="4266329"/>
            <a:ext cx="1104609" cy="674780"/>
          </a:xfrm>
          <a:prstGeom prst="rect">
            <a:avLst/>
          </a:prstGeom>
          <a:noFill/>
          <a:ln w="28575">
            <a:solidFill>
              <a:srgbClr val="FA8A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79" name="Rectangle 78"/>
          <p:cNvSpPr/>
          <p:nvPr/>
        </p:nvSpPr>
        <p:spPr>
          <a:xfrm>
            <a:off x="9092232" y="4400049"/>
            <a:ext cx="2679128" cy="950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find that CLIP, similar to the GPT family, learns to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a wide set of tasks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during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pre-training. 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780" y="3994714"/>
            <a:ext cx="332191" cy="332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63013" y="6609286"/>
            <a:ext cx="42899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Deep </a:t>
            </a:r>
            <a:r>
              <a:rPr lang="en-US" sz="1000" i="1"/>
              <a:t>Residual Learning for Image </a:t>
            </a:r>
            <a:r>
              <a:rPr lang="en-US" sz="1000" i="1" smtClean="0"/>
              <a:t>Recognition</a:t>
            </a:r>
            <a:r>
              <a:rPr lang="en-US" sz="1000" smtClean="0"/>
              <a:t>, He (Microsoft) (2015)</a:t>
            </a:r>
            <a:endParaRPr lang="en-US" sz="1000"/>
          </a:p>
        </p:txBody>
      </p:sp>
      <p:pic>
        <p:nvPicPr>
          <p:cNvPr id="40" name="Image 39"/>
          <p:cNvPicPr>
            <a:picLocks noChangeAspect="1"/>
          </p:cNvPicPr>
          <p:nvPr/>
        </p:nvPicPr>
        <p:blipFill>
          <a:blip r:embed="rId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69" y="3472093"/>
            <a:ext cx="383424" cy="371479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74" y="3553781"/>
            <a:ext cx="383424" cy="37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41" grpId="0"/>
      <p:bldP spid="48" grpId="0"/>
      <p:bldP spid="49" grpId="0" animBg="1"/>
      <p:bldP spid="52" grpId="0"/>
      <p:bldP spid="54" grpId="0" animBg="1"/>
      <p:bldP spid="61" grpId="0"/>
      <p:bldP spid="63" grpId="0" animBg="1"/>
      <p:bldP spid="64" grpId="0"/>
      <p:bldP spid="65" grpId="0"/>
      <p:bldP spid="66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9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grayscl/>
          </a:blip>
          <a:srcRect b="4626"/>
          <a:stretch/>
        </p:blipFill>
        <p:spPr>
          <a:xfrm>
            <a:off x="4187316" y="1708201"/>
            <a:ext cx="4189641" cy="43447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à coins arrondis 4"/>
          <p:cNvSpPr/>
          <p:nvPr/>
        </p:nvSpPr>
        <p:spPr>
          <a:xfrm>
            <a:off x="8852519" y="4088314"/>
            <a:ext cx="771818" cy="25964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CLIP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854436" y="2850283"/>
            <a:ext cx="776795" cy="98217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507629" y="2667962"/>
            <a:ext cx="146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WebImageText</a:t>
            </a:r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9238428" y="3803968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771086" y="2337993"/>
            <a:ext cx="27331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CLIP features + linear probing</a:t>
            </a:r>
            <a:endParaRPr lang="en-US" sz="1400" i="1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922" y="3265503"/>
            <a:ext cx="666599" cy="67542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2144011" y="2988288"/>
            <a:ext cx="146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downstream task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507617" y="4186189"/>
            <a:ext cx="1321030" cy="2596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EfficientNet</a:t>
            </a:r>
            <a:r>
              <a:rPr lang="en-US" sz="1400" baseline="30000" smtClean="0">
                <a:solidFill>
                  <a:sysClr val="windowText" lastClr="000000"/>
                </a:solidFill>
              </a:rPr>
              <a:t>1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 rotWithShape="1">
          <a:blip r:embed="rId5"/>
          <a:srcRect l="25413"/>
          <a:stretch/>
        </p:blipFill>
        <p:spPr>
          <a:xfrm>
            <a:off x="326393" y="3271449"/>
            <a:ext cx="1649411" cy="598211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420299" y="2986086"/>
            <a:ext cx="146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ImageNet</a:t>
            </a:r>
          </a:p>
        </p:txBody>
      </p:sp>
      <p:sp>
        <p:nvSpPr>
          <p:cNvPr id="16" name="Rectangle à coins arrondis 15"/>
          <p:cNvSpPr/>
          <p:nvPr/>
        </p:nvSpPr>
        <p:spPr>
          <a:xfrm>
            <a:off x="2044833" y="4186188"/>
            <a:ext cx="1748354" cy="25964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Linear classifier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972948" y="4049435"/>
            <a:ext cx="238862" cy="238396"/>
          </a:xfrm>
          <a:prstGeom prst="rect">
            <a:avLst/>
          </a:prstGeom>
        </p:spPr>
      </p:pic>
      <p:cxnSp>
        <p:nvCxnSpPr>
          <p:cNvPr id="18" name="Connecteur droit avec flèche 17"/>
          <p:cNvCxnSpPr>
            <a:stCxn id="13" idx="3"/>
            <a:endCxn id="16" idx="1"/>
          </p:cNvCxnSpPr>
          <p:nvPr/>
        </p:nvCxnSpPr>
        <p:spPr>
          <a:xfrm flipV="1">
            <a:off x="1828647" y="4316009"/>
            <a:ext cx="2161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1215500" y="3953861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2890189" y="3958485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0090" y="2224428"/>
            <a:ext cx="29563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CNN features + linear probing</a:t>
            </a:r>
            <a:endParaRPr lang="en-US" sz="1400" i="1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262" y="3163627"/>
            <a:ext cx="666599" cy="675427"/>
          </a:xfrm>
          <a:prstGeom prst="rect">
            <a:avLst/>
          </a:prstGeom>
        </p:spPr>
      </p:pic>
      <p:sp>
        <p:nvSpPr>
          <p:cNvPr id="25" name="ZoneTexte 24"/>
          <p:cNvSpPr txBox="1"/>
          <p:nvPr/>
        </p:nvSpPr>
        <p:spPr>
          <a:xfrm>
            <a:off x="10022762" y="2886412"/>
            <a:ext cx="146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i="1" smtClean="0"/>
              <a:t>downstream task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9914173" y="4084312"/>
            <a:ext cx="1748354" cy="25964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r>
              <a:rPr lang="en-US" sz="1400" smtClean="0">
                <a:solidFill>
                  <a:sysClr val="windowText" lastClr="000000"/>
                </a:solidFill>
              </a:rPr>
              <a:t>Linear classifier</a:t>
            </a:r>
            <a:endParaRPr lang="en-US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9842288" y="3947559"/>
            <a:ext cx="238862" cy="238396"/>
          </a:xfrm>
          <a:prstGeom prst="rect">
            <a:avLst/>
          </a:prstGeom>
        </p:spPr>
      </p:pic>
      <p:cxnSp>
        <p:nvCxnSpPr>
          <p:cNvPr id="28" name="Connecteur droit avec flèche 27"/>
          <p:cNvCxnSpPr/>
          <p:nvPr/>
        </p:nvCxnSpPr>
        <p:spPr>
          <a:xfrm flipV="1">
            <a:off x="9659887" y="4214133"/>
            <a:ext cx="2161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>
            <a:off x="10759529" y="3856609"/>
            <a:ext cx="1" cy="210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ccolade fermante 29"/>
          <p:cNvSpPr/>
          <p:nvPr/>
        </p:nvSpPr>
        <p:spPr>
          <a:xfrm rot="16200000">
            <a:off x="6790606" y="158699"/>
            <a:ext cx="174195" cy="2831002"/>
          </a:xfrm>
          <a:prstGeom prst="rightBrace">
            <a:avLst>
              <a:gd name="adj1" fmla="val 4188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070801" y="1173439"/>
            <a:ext cx="18240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CLIP + LP is better</a:t>
            </a:r>
            <a:endParaRPr lang="en-US" sz="1400" i="1"/>
          </a:p>
        </p:txBody>
      </p:sp>
      <p:sp>
        <p:nvSpPr>
          <p:cNvPr id="32" name="Rectangle 31"/>
          <p:cNvSpPr/>
          <p:nvPr/>
        </p:nvSpPr>
        <p:spPr>
          <a:xfrm>
            <a:off x="3624495" y="1173440"/>
            <a:ext cx="24463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smtClean="0"/>
              <a:t>EfficientNet + LP is better</a:t>
            </a:r>
            <a:endParaRPr lang="en-US" sz="1400" i="1"/>
          </a:p>
        </p:txBody>
      </p:sp>
      <p:sp>
        <p:nvSpPr>
          <p:cNvPr id="33" name="Accolade fermante 32"/>
          <p:cNvSpPr/>
          <p:nvPr/>
        </p:nvSpPr>
        <p:spPr>
          <a:xfrm rot="16200000">
            <a:off x="4686105" y="959387"/>
            <a:ext cx="176188" cy="1231621"/>
          </a:xfrm>
          <a:prstGeom prst="rightBrace">
            <a:avLst>
              <a:gd name="adj1" fmla="val 4188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CLIP : Performance (linear probing)</a:t>
            </a:r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457347" y="4710827"/>
            <a:ext cx="21070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smtClean="0">
                <a:solidFill>
                  <a:schemeClr val="bg1">
                    <a:lumMod val="65000"/>
                  </a:schemeClr>
                </a:solidFill>
              </a:rPr>
              <a:t>dataset on which EfficientNet features were trained</a:t>
            </a:r>
            <a:endParaRPr lang="en-US" sz="14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flipH="1">
            <a:off x="6262826" y="5329881"/>
            <a:ext cx="492201" cy="21825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 3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280" y="4480953"/>
            <a:ext cx="332191" cy="332191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990" y="4378636"/>
            <a:ext cx="332191" cy="332191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01013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smtClean="0"/>
              <a:t>[1] </a:t>
            </a:r>
            <a:r>
              <a:rPr lang="en-US" sz="1000" i="1" smtClean="0"/>
              <a:t>EfficientNet</a:t>
            </a:r>
            <a:r>
              <a:rPr lang="en-US" sz="1000" i="1"/>
              <a:t>: Rethinking Model Scaling for Convolutional Neural </a:t>
            </a:r>
            <a:r>
              <a:rPr lang="en-US" sz="1000" i="1" smtClean="0"/>
              <a:t>Networks</a:t>
            </a:r>
            <a:r>
              <a:rPr lang="en-US" sz="1000" smtClean="0"/>
              <a:t>, Tan (Google) (2019)</a:t>
            </a:r>
            <a:endParaRPr lang="en-US" sz="1000"/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71" y="3985936"/>
            <a:ext cx="383424" cy="371479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09" y="3867429"/>
            <a:ext cx="383424" cy="37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3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  <p:bldP spid="12" grpId="0"/>
      <p:bldP spid="13" grpId="0" animBg="1"/>
      <p:bldP spid="15" grpId="0"/>
      <p:bldP spid="16" grpId="0" animBg="1"/>
      <p:bldP spid="22" grpId="0"/>
      <p:bldP spid="25" grpId="0"/>
      <p:bldP spid="26" grpId="0" animBg="1"/>
      <p:bldP spid="30" grpId="0" animBg="1"/>
      <p:bldP spid="31" grpId="0"/>
      <p:bldP spid="32" grpId="0"/>
      <p:bldP spid="33" grpId="0" animBg="1"/>
      <p:bldP spid="35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9319925" y="0"/>
            <a:ext cx="2872075" cy="174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5" name="Titre 2"/>
          <p:cNvSpPr>
            <a:spLocks noGrp="1"/>
          </p:cNvSpPr>
          <p:nvPr>
            <p:ph type="title"/>
          </p:nvPr>
        </p:nvSpPr>
        <p:spPr>
          <a:xfrm>
            <a:off x="189664" y="206215"/>
            <a:ext cx="11543334" cy="871827"/>
          </a:xfrm>
        </p:spPr>
        <p:txBody>
          <a:bodyPr/>
          <a:lstStyle/>
          <a:p>
            <a:r>
              <a:rPr lang="en-US" smtClean="0"/>
              <a:t>CLIP : Generalization</a:t>
            </a:r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36" y="2326805"/>
            <a:ext cx="5163245" cy="32340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189664" y="728056"/>
            <a:ext cx="115093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/>
              <a:t>G</a:t>
            </a:r>
            <a:r>
              <a:rPr lang="en-US" sz="1400" smtClean="0"/>
              <a:t>ood performance on benchmark (</a:t>
            </a:r>
            <a:r>
              <a:rPr lang="en-US" sz="1400" i="1" smtClean="0"/>
              <a:t>e.g.</a:t>
            </a:r>
            <a:r>
              <a:rPr lang="en-US" sz="1400" smtClean="0"/>
              <a:t> IN) does not guarantee good performance on other distributions.</a:t>
            </a:r>
            <a:r>
              <a:rPr lang="en-US" sz="1400" baseline="30000" smtClean="0"/>
              <a:t>1,2</a:t>
            </a:r>
          </a:p>
        </p:txBody>
      </p:sp>
      <p:sp>
        <p:nvSpPr>
          <p:cNvPr id="9" name="Rectangle 8"/>
          <p:cNvSpPr/>
          <p:nvPr/>
        </p:nvSpPr>
        <p:spPr>
          <a:xfrm>
            <a:off x="8440849" y="216047"/>
            <a:ext cx="379142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smtClean="0"/>
              <a:t>[2]</a:t>
            </a:r>
            <a:r>
              <a:rPr lang="en-US" sz="1050" i="1" smtClean="0"/>
              <a:t> Do </a:t>
            </a:r>
            <a:r>
              <a:rPr lang="en-US" sz="1050" i="1"/>
              <a:t>ImageNet Classifiers Generalize to ImageNet</a:t>
            </a:r>
            <a:r>
              <a:rPr lang="en-US" sz="1050" i="1" smtClean="0"/>
              <a:t>? (2019)</a:t>
            </a:r>
            <a:endParaRPr lang="en-US" sz="1050" i="1"/>
          </a:p>
        </p:txBody>
      </p:sp>
      <p:sp>
        <p:nvSpPr>
          <p:cNvPr id="12" name="Rectangle 11"/>
          <p:cNvSpPr/>
          <p:nvPr/>
        </p:nvSpPr>
        <p:spPr>
          <a:xfrm>
            <a:off x="7595275" y="34126"/>
            <a:ext cx="45977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050" smtClean="0"/>
              <a:t>[1] </a:t>
            </a:r>
            <a:r>
              <a:rPr lang="de-DE" sz="1050" i="1" smtClean="0"/>
              <a:t>Do </a:t>
            </a:r>
            <a:r>
              <a:rPr lang="de-DE" sz="1050" i="1"/>
              <a:t>Better ImageNet Models Transfer Better</a:t>
            </a:r>
            <a:r>
              <a:rPr lang="de-DE" sz="1050" i="1" smtClean="0"/>
              <a:t>?, Kornblith (Google) (2018)</a:t>
            </a:r>
            <a:endParaRPr lang="en-US" sz="1050" i="1"/>
          </a:p>
        </p:txBody>
      </p:sp>
      <p:sp>
        <p:nvSpPr>
          <p:cNvPr id="13" name="Rectangle 12"/>
          <p:cNvSpPr/>
          <p:nvPr/>
        </p:nvSpPr>
        <p:spPr>
          <a:xfrm>
            <a:off x="348092" y="1614905"/>
            <a:ext cx="6508389" cy="48854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Intuitively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zero-shot model should not be able to exploit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spurious correlations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that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only on a specific distribution, since it is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trained on that distribution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092" y="5828186"/>
            <a:ext cx="6569699" cy="731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shift towards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large-scale task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agnostic pre-training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benchmarking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evaluation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suites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 promotes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robust systems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provides a more accurate assessment of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 rotWithShape="1">
          <a:blip r:embed="rId4">
            <a:grayscl/>
          </a:blip>
          <a:srcRect b="4748"/>
          <a:stretch/>
        </p:blipFill>
        <p:spPr>
          <a:xfrm>
            <a:off x="8267022" y="1982404"/>
            <a:ext cx="2843337" cy="29414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/>
          <p:cNvSpPr/>
          <p:nvPr/>
        </p:nvSpPr>
        <p:spPr>
          <a:xfrm>
            <a:off x="223672" y="1185632"/>
            <a:ext cx="28975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smtClean="0">
                <a:sym typeface="Wingdings" panose="05000000000000000000" pitchFamily="2" charset="2"/>
              </a:rPr>
              <a:t>Distribution shift</a:t>
            </a:r>
            <a:endParaRPr lang="en-US" sz="1400" b="1" baseline="30000" smtClean="0"/>
          </a:p>
        </p:txBody>
      </p:sp>
      <p:sp>
        <p:nvSpPr>
          <p:cNvPr id="20" name="Rectangle 19"/>
          <p:cNvSpPr/>
          <p:nvPr/>
        </p:nvSpPr>
        <p:spPr>
          <a:xfrm>
            <a:off x="7601818" y="5109719"/>
            <a:ext cx="4226886" cy="14345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little to address the underlying problem of brittle generalization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DL models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Instead </a:t>
            </a:r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 (…) 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hopes that by training on such a large and varied dataset that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data will be effectively in-distribution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is a naive assumption that, as MNIST demonstrates, is </a:t>
            </a: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violate</a:t>
            </a: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1521" y="1242184"/>
            <a:ext cx="3921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smtClean="0">
                <a:sym typeface="Wingdings" panose="05000000000000000000" pitchFamily="2" charset="2"/>
              </a:rPr>
              <a:t>Out-of-distribution generalization</a:t>
            </a:r>
            <a:endParaRPr lang="en-US" sz="1400" b="1" baseline="30000" smtClean="0"/>
          </a:p>
        </p:txBody>
      </p:sp>
      <p:cxnSp>
        <p:nvCxnSpPr>
          <p:cNvPr id="22" name="Connecteur droit 21"/>
          <p:cNvCxnSpPr/>
          <p:nvPr/>
        </p:nvCxnSpPr>
        <p:spPr>
          <a:xfrm>
            <a:off x="7211951" y="1242184"/>
            <a:ext cx="0" cy="5302087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1125908">
            <a:off x="9723535" y="3282165"/>
            <a:ext cx="1461319" cy="2929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just"/>
            <a:r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“embarrassing”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72880" y="3651171"/>
            <a:ext cx="1087120" cy="127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26" name="Rectangle 25"/>
          <p:cNvSpPr/>
          <p:nvPr/>
        </p:nvSpPr>
        <p:spPr>
          <a:xfrm>
            <a:off x="8209011" y="1676736"/>
            <a:ext cx="11860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smtClean="0"/>
              <a:t>(zero-shot)</a:t>
            </a:r>
            <a:endParaRPr lang="en-US" sz="1200" baseline="30000" smtClean="0"/>
          </a:p>
        </p:txBody>
      </p:sp>
      <p:sp>
        <p:nvSpPr>
          <p:cNvPr id="2" name="Rectangle 1"/>
          <p:cNvSpPr/>
          <p:nvPr/>
        </p:nvSpPr>
        <p:spPr>
          <a:xfrm>
            <a:off x="4663440" y="2326805"/>
            <a:ext cx="440538" cy="3234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  <p:sp>
        <p:nvSpPr>
          <p:cNvPr id="19" name="Rectangle 18"/>
          <p:cNvSpPr/>
          <p:nvPr/>
        </p:nvSpPr>
        <p:spPr>
          <a:xfrm>
            <a:off x="5112779" y="2348790"/>
            <a:ext cx="1044101" cy="3212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noAutofit/>
          </a:bodyPr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392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 animBg="1"/>
      <p:bldP spid="14" grpId="0" animBg="1"/>
      <p:bldP spid="18" grpId="0"/>
      <p:bldP spid="20" grpId="0" animBg="1"/>
      <p:bldP spid="21" grpId="0"/>
      <p:bldP spid="23" grpId="0" animBg="1"/>
      <p:bldP spid="24" grpId="0" animBg="1"/>
      <p:bldP spid="26" grpId="0"/>
      <p:bldP spid="2" grpId="0" animBg="1"/>
      <p:bldP spid="19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A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ctr">
        <a:spAutoFit/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PPT_CEA-Leti.pptx" id="{73C8AF55-6FBF-474C-9754-1ADF0374ADF2}" vid="{3615D593-4403-4ED1-BC66-F7CAE051EE9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>Français (France)</Language>
    <TypologyTaxHTField0 xmlns="582fa2ad-bcfb-4c30-8490-7bbd511b1880">
      <Terms xmlns="http://schemas.microsoft.com/office/infopath/2007/PartnerControls"/>
    </TypologyTaxHTField0>
    <PublicTaxHTField0 xmlns="582fa2ad-bcfb-4c30-8490-7bbd511b1880">
      <Terms xmlns="http://schemas.microsoft.com/office/infopath/2007/PartnerControls"/>
    </PublicTaxHTField0>
    <Summary xmlns="582fa2ad-bcfb-4c30-8490-7bbd511b1880" xsi:nil="true"/>
    <ManualDate xmlns="582fa2ad-bcfb-4c30-8490-7bbd511b1880" xsi:nil="true"/>
    <TaxKeywordTaxHTField xmlns="151dffeb-2989-4a61-aef8-844a993007f8">
      <Terms xmlns="http://schemas.microsoft.com/office/infopath/2007/PartnerControls"/>
    </TaxKeywordTaxHTField>
    <ThumbnailImageUrl xmlns="582fa2ad-bcfb-4c30-8490-7bbd511b1880" xsi:nil="true"/>
    <TaxCatchAll xmlns="151dffeb-2989-4a61-aef8-844a993007f8"/>
    <ThumbnailImage xmlns="582fa2ad-bcfb-4c30-8490-7bbd511b1880" xsi:nil="true"/>
    <OrganisationTaxHTField0 xmlns="582fa2ad-bcfb-4c30-8490-7bbd511b1880">
      <Terms xmlns="http://schemas.microsoft.com/office/infopath/2007/PartnerControls"/>
    </OrganisationTaxHTField0>
    <BigPictureUrl xmlns="582fa2ad-bcfb-4c30-8490-7bbd511b1880" xsi:nil="true"/>
    <BigPicture xmlns="582fa2ad-bcfb-4c30-8490-7bbd511b1880" xsi:nil="true"/>
    <BackwardLinks xmlns="582fa2ad-bcfb-4c30-8490-7bbd511b1880">2</BackwardLinks>
    <ThematicsTaxHTField0 xmlns="582fa2ad-bcfb-4c30-8490-7bbd511b1880">
      <Terms xmlns="http://schemas.microsoft.com/office/infopath/2007/PartnerControls"/>
    </ThematicsTaxHTField0>
    <CenterAndUnitTaxHTField0 xmlns="582fa2ad-bcfb-4c30-8490-7bbd511b1880">
      <Terms xmlns="http://schemas.microsoft.com/office/infopath/2007/PartnerControls"/>
    </CenterAndUnitTaxHTField0>
    <DisplayedDate xmlns="582fa2ad-bcfb-4c30-8490-7bbd511b1880">2023-01-25T10:00:27+00:00</DisplayedDat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Office document_ItemAdded</Name>
    <Synchronization>Synchronous</Synchronization>
    <Type>10001</Type>
    <SequenceNumber>11001</SequenceNumber>
    <Url/>
    <Assembly>CEA.I2I.Web.Core, Version=1.0.0.0, Culture=neutral, PublicKeyToken=39d5d856cb1a3e17</Assembly>
    <Class>CEA.I2I.Web.Core.Receivers.OfficeDocumentEventReceiver</Class>
    <Data/>
    <Filter/>
  </Receiver>
  <Receiver>
    <Name>Office document_ItemUpdated</Name>
    <Synchronization>Synchronous</Synchronization>
    <Type>10002</Type>
    <SequenceNumber>11001</SequenceNumber>
    <Url/>
    <Assembly>CEA.I2I.Web.Core, Version=1.0.0.0, Culture=neutral, PublicKeyToken=39d5d856cb1a3e17</Assembly>
    <Class>CEA.I2I.Web.Core.Receivers.OfficeDocumentEventReceiver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 bureautique" ma:contentTypeID="0x0101009AC65FE4C57B4241B7BB126C82049321006502EDEDC0136B40BE1694CA6DFB09E5" ma:contentTypeVersion="20" ma:contentTypeDescription="Crée un document." ma:contentTypeScope="" ma:versionID="f1b05a092d0904e6962f83cebf818255">
  <xsd:schema xmlns:xsd="http://www.w3.org/2001/XMLSchema" xmlns:xs="http://www.w3.org/2001/XMLSchema" xmlns:p="http://schemas.microsoft.com/office/2006/metadata/properties" xmlns:ns1="http://schemas.microsoft.com/sharepoint/v3" xmlns:ns2="582fa2ad-bcfb-4c30-8490-7bbd511b1880" xmlns:ns3="151dffeb-2989-4a61-aef8-844a993007f8" targetNamespace="http://schemas.microsoft.com/office/2006/metadata/properties" ma:root="true" ma:fieldsID="7c3819e88b0869059371fc3b24198fff" ns1:_="" ns2:_="" ns3:_="">
    <xsd:import namespace="http://schemas.microsoft.com/sharepoint/v3"/>
    <xsd:import namespace="582fa2ad-bcfb-4c30-8490-7bbd511b1880"/>
    <xsd:import namespace="151dffeb-2989-4a61-aef8-844a993007f8"/>
    <xsd:element name="properties">
      <xsd:complexType>
        <xsd:sequence>
          <xsd:element name="documentManagement">
            <xsd:complexType>
              <xsd:all>
                <xsd:element ref="ns1:Language" minOccurs="0"/>
                <xsd:element ref="ns2:BackwardLinks" minOccurs="0"/>
                <xsd:element ref="ns2:ThematicsTaxHTField0" minOccurs="0"/>
                <xsd:element ref="ns3:TaxCatchAll" minOccurs="0"/>
                <xsd:element ref="ns3:TaxCatchAllLabel" minOccurs="0"/>
                <xsd:element ref="ns2:CenterAndUnitTaxHTField0" minOccurs="0"/>
                <xsd:element ref="ns3:TaxKeywordTaxHTField" minOccurs="0"/>
                <xsd:element ref="ns2:TypologyTaxHTField0" minOccurs="0"/>
                <xsd:element ref="ns2:OrganisationTaxHTField0" minOccurs="0"/>
                <xsd:element ref="ns2:PublicTaxHTField0" minOccurs="0"/>
                <xsd:element ref="ns2:Summary" minOccurs="0"/>
                <xsd:element ref="ns2:ThumbnailImage" minOccurs="0"/>
                <xsd:element ref="ns2:ThumbnailImageUrl" minOccurs="0"/>
                <xsd:element ref="ns2:BigPicture" minOccurs="0"/>
                <xsd:element ref="ns2:BigPictureUrl" minOccurs="0"/>
                <xsd:element ref="ns2:ManualDate" minOccurs="0"/>
                <xsd:element ref="ns2:Displayed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5" nillable="true" ma:displayName="Langue" ma:default="Français (France)" ma:internalName="Language">
      <xsd:simpleType>
        <xsd:union memberTypes="dms:Text">
          <xsd:simpleType>
            <xsd:restriction base="dms:Choice">
              <xsd:enumeration value="Arabe (Arabie saoudite)"/>
              <xsd:enumeration value="Bulgare (Bulgarie)"/>
              <xsd:enumeration value="Chinois (R.A.S. de Hong Kong)"/>
              <xsd:enumeration value="Chinois (République populaire de Chine)"/>
              <xsd:enumeration value="Chinois (Taïwan)"/>
              <xsd:enumeration value="Croate (Croatie)"/>
              <xsd:enumeration value="Tchèque (République tchèque)"/>
              <xsd:enumeration value="Danois (Danemark)"/>
              <xsd:enumeration value="Néerlandais (Pays-Bas)"/>
              <xsd:enumeration value="Anglais"/>
              <xsd:enumeration value="Estonien (Estonie)"/>
              <xsd:enumeration value="Finnois (Finlande)"/>
              <xsd:enumeration value="Français (France)"/>
              <xsd:enumeration value="Allemand (Allemagne)"/>
              <xsd:enumeration value="Grec (Grèce)"/>
              <xsd:enumeration value="Hébreu (Israël)"/>
              <xsd:enumeration value="Hindi (Inde)"/>
              <xsd:enumeration value="Hongrois (Hongrie)"/>
              <xsd:enumeration value="Indonésien (Indonésie)"/>
              <xsd:enumeration value="Italien (Italie)"/>
              <xsd:enumeration value="Japonais (Japon)"/>
              <xsd:enumeration value="Coréen (Corée)"/>
              <xsd:enumeration value="Letton (Lettonie)"/>
              <xsd:enumeration value="Lituanien (Lituanie)"/>
              <xsd:enumeration value="Malais (Malaisie)"/>
              <xsd:enumeration value="Norvégien (Bokmal) (Norvège)"/>
              <xsd:enumeration value="Polonais (Pologne)"/>
              <xsd:enumeration value="Portugais (Brésil)"/>
              <xsd:enumeration value="Portugais (Portugal)"/>
              <xsd:enumeration value="Roumain (Roumanie)"/>
              <xsd:enumeration value="Russe (Russie)"/>
              <xsd:enumeration value="Serbe (Latin, Serbie)"/>
              <xsd:enumeration value="Slovaque (Slovaquie)"/>
              <xsd:enumeration value="Slovène (Slovénie)"/>
              <xsd:enumeration value="Espagnol (Espagne)"/>
              <xsd:enumeration value="Suédois (Suède)"/>
              <xsd:enumeration value="Thaï (Thaïlande)"/>
              <xsd:enumeration value="Turc (Turquie)"/>
              <xsd:enumeration value="Ukrainien (Ukraine)"/>
              <xsd:enumeration value="Ourdou (République islamique du Pakistan)"/>
              <xsd:enumeration value="Vietnamien (Vietnam)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2fa2ad-bcfb-4c30-8490-7bbd511b1880" elementFormDefault="qualified">
    <xsd:import namespace="http://schemas.microsoft.com/office/2006/documentManagement/types"/>
    <xsd:import namespace="http://schemas.microsoft.com/office/infopath/2007/PartnerControls"/>
    <xsd:element name="BackwardLinks" ma:index="6" nillable="true" ma:displayName="Liens entrants" ma:internalName="BackwardLinks" ma:readOnly="false">
      <xsd:simpleType>
        <xsd:restriction base="dms:Text"/>
      </xsd:simpleType>
    </xsd:element>
    <xsd:element name="ThematicsTaxHTField0" ma:index="8" nillable="true" ma:taxonomy="true" ma:internalName="ThematicsTaxHTField0" ma:taxonomyFieldName="Thematics" ma:displayName="Thématiques" ma:fieldId="{c4af68e9-307a-4318-8504-f93285936fc7}" ma:taxonomyMulti="true" ma:sspId="a6e70cbb-a60f-4600-a53f-b7ff8cffd0af" ma:termSetId="a10a44d9-d1f6-48e5-bb68-cccd1ea072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enterAndUnitTaxHTField0" ma:index="12" nillable="true" ma:taxonomy="true" ma:internalName="CenterAndUnitTaxHTField0" ma:taxonomyFieldName="CenterAndUnit" ma:displayName="Centre et unité" ma:fieldId="{facf9d3d-8cf6-4fab-8f4b-dfbbe29f3a4b}" ma:taxonomyMulti="true" ma:sspId="a6e70cbb-a60f-4600-a53f-b7ff8cffd0af" ma:termSetId="88381266-4cf9-4d0f-9f66-bc7ee8b8f5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ypologyTaxHTField0" ma:index="18" nillable="true" ma:taxonomy="true" ma:internalName="TypologyTaxHTField0" ma:taxonomyFieldName="Typology" ma:displayName="Type de contenu" ma:readOnly="false" ma:default="" ma:fieldId="{fca8d298-920d-4815-a20b-c1a36091f1f7}" ma:taxonomyMulti="true" ma:sspId="a6e70cbb-a60f-4600-a53f-b7ff8cffd0af" ma:termSetId="092849f7-9260-4df9-99c4-635fefe8f60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rganisationTaxHTField0" ma:index="20" nillable="true" ma:taxonomy="true" ma:internalName="OrganisationTaxHTField0" ma:taxonomyFieldName="Organisation" ma:displayName="Organisation" ma:readOnly="false" ma:fieldId="{dacc8977-bae2-4cdb-ba56-0a020a4af99a}" ma:taxonomyMulti="true" ma:sspId="a6e70cbb-a60f-4600-a53f-b7ff8cffd0af" ma:termSetId="88381266-4cf9-4d0f-9f66-bc7ee8b8f5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ublicTaxHTField0" ma:index="22" nillable="true" ma:taxonomy="true" ma:internalName="PublicTaxHTField0" ma:taxonomyFieldName="Public" ma:displayName="Public" ma:readOnly="false" ma:fieldId="{7196c7f4-9f00-45cf-9674-ae6fd7f8c9dc}" ma:taxonomyMulti="true" ma:sspId="a6e70cbb-a60f-4600-a53f-b7ff8cffd0af" ma:termSetId="d1bb7582-47f0-4b95-a8a0-54d382c0433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ummary" ma:index="24" nillable="true" ma:displayName="Résumé" ma:internalName="Summary" ma:readOnly="false">
      <xsd:simpleType>
        <xsd:restriction base="dms:Note">
          <xsd:maxLength value="255"/>
        </xsd:restriction>
      </xsd:simpleType>
    </xsd:element>
    <xsd:element name="ThumbnailImage" ma:index="25" nillable="true" ma:displayName="Image poster" ma:internalName="ThumbnailImage" ma:readOnly="false">
      <xsd:simpleType>
        <xsd:restriction base="dms:Unknown"/>
      </xsd:simpleType>
    </xsd:element>
    <xsd:element name="ThumbnailImageUrl" ma:index="26" nillable="true" ma:displayName="ThumbnailImageUrl" ma:hidden="true" ma:internalName="ThumbnailImageUrl" ma:readOnly="false" ma:showField="FALSE">
      <xsd:simpleType>
        <xsd:restriction base="dms:Text"/>
      </xsd:simpleType>
    </xsd:element>
    <xsd:element name="BigPicture" ma:index="27" nillable="true" ma:displayName="Grande image" ma:internalName="BigPicture" ma:readOnly="false">
      <xsd:simpleType>
        <xsd:restriction base="dms:Unknown"/>
      </xsd:simpleType>
    </xsd:element>
    <xsd:element name="BigPictureUrl" ma:index="28" nillable="true" ma:displayName="BigPictureUrl" ma:hidden="true" ma:internalName="BigPictureUrl" ma:readOnly="false" ma:showField="FALSE">
      <xsd:simpleType>
        <xsd:restriction base="dms:Text"/>
      </xsd:simpleType>
    </xsd:element>
    <xsd:element name="ManualDate" ma:index="29" nillable="true" ma:displayName="Date manuelle" ma:format="DateTime" ma:LCID="1036" ma:internalName="ManualDate" ma:readOnly="false">
      <xsd:simpleType>
        <xsd:restriction base="dms:DateTime"/>
      </xsd:simpleType>
    </xsd:element>
    <xsd:element name="DisplayedDate" ma:index="30" nillable="true" ma:displayName="Date affichée" ma:format="DateTime" ma:LCID="1036" ma:internalName="DisplayedDat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dffeb-2989-4a61-aef8-844a993007f8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3ac70b-b933-4e26-b91d-fb6c0c0cea2a}" ma:internalName="TaxCatchAll" ma:showField="CatchAllData" ma:web="151dffeb-2989-4a61-aef8-844a993007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3ac70b-b933-4e26-b91d-fb6c0c0cea2a}" ma:internalName="TaxCatchAllLabel" ma:readOnly="true" ma:showField="CatchAllDataLabel" ma:web="151dffeb-2989-4a61-aef8-844a993007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4" nillable="true" ma:taxonomy="true" ma:internalName="TaxKeywordTaxHTField" ma:taxonomyFieldName="TaxKeyword" ma:displayName="Mots clés d’entreprise" ma:fieldId="{23f27201-bee3-471e-b2e7-b64fd8b7ca38}" ma:taxonomyMulti="true" ma:sspId="a6e70cbb-a60f-4600-a53f-b7ff8cffd0a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5003DA-E900-47F2-BA91-7AD870D471EB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51dffeb-2989-4a61-aef8-844a993007f8"/>
    <ds:schemaRef ds:uri="http://purl.org/dc/elements/1.1/"/>
    <ds:schemaRef ds:uri="582fa2ad-bcfb-4c30-8490-7bbd511b188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971FD6-17CC-4F23-9DB3-D1FB3A6D1E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C6F6A1-DBB8-49CB-9A01-6DDECDCC9EE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6654F01-D451-414A-9EDC-9425484D29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82fa2ad-bcfb-4c30-8490-7bbd511b1880"/>
    <ds:schemaRef ds:uri="151dffeb-2989-4a61-aef8-844a993007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template_CEA_23_all</Template>
  <TotalTime>22562</TotalTime>
  <Words>3293</Words>
  <Application>Microsoft Office PowerPoint</Application>
  <PresentationFormat>Grand écran</PresentationFormat>
  <Paragraphs>507</Paragraphs>
  <Slides>19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Times New Roman</vt:lpstr>
      <vt:lpstr>Wingdings</vt:lpstr>
      <vt:lpstr>Thème Office</vt:lpstr>
      <vt:lpstr>CLIP it real</vt:lpstr>
      <vt:lpstr>Foundation models : a « paradigm shift » 1 in AI ?</vt:lpstr>
      <vt:lpstr>Foundation models : a « paradigm shift » 1 in AI ?</vt:lpstr>
      <vt:lpstr>Foundation models scale up pre-training</vt:lpstr>
      <vt:lpstr>Foundation models scale up pre-training</vt:lpstr>
      <vt:lpstr>Foundation models started in NLP</vt:lpstr>
      <vt:lpstr>What of vision ?</vt:lpstr>
      <vt:lpstr>How to scale CV datasets ?</vt:lpstr>
      <vt:lpstr>NLS is easily scalable</vt:lpstr>
      <vt:lpstr>Self-supervision with NLS : generative methods</vt:lpstr>
      <vt:lpstr>Self-supervision with NLS : contrastive methods</vt:lpstr>
      <vt:lpstr>Contrastive loss</vt:lpstr>
      <vt:lpstr>Contrastive loss</vt:lpstr>
      <vt:lpstr>CLIP : training</vt:lpstr>
      <vt:lpstr>CLIP : inference</vt:lpstr>
      <vt:lpstr>CLIP : Inspirations</vt:lpstr>
      <vt:lpstr>CLIP : Performance (zero-shot)</vt:lpstr>
      <vt:lpstr>CLIP : Performance (linear probing)</vt:lpstr>
      <vt:lpstr>CLIP : Generalization</vt:lpstr>
    </vt:vector>
  </TitlesOfParts>
  <Company>CEA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DOUARRE Clément</dc:creator>
  <cp:lastModifiedBy>DOUARRE Clément</cp:lastModifiedBy>
  <cp:revision>1065</cp:revision>
  <dcterms:created xsi:type="dcterms:W3CDTF">2023-03-06T13:52:44Z</dcterms:created>
  <dcterms:modified xsi:type="dcterms:W3CDTF">2023-10-26T18:07:22Z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0x0101009AC65FE4C57B4241B7BB126C82049321006502EDEDC0136B40BE1694CA6DFB09E5</vt:lpwstr>
  </property>
  <property fmtid="{D5CDD505-2E9C-101B-9397-08002B2CF9AE}" pid="3" name="TaxKeyword">
    <vt:lpwstr/>
  </property>
  <property fmtid="{D5CDD505-2E9C-101B-9397-08002B2CF9AE}" pid="4" name="I2ICODE">
    <vt:lpwstr>WEB</vt:lpwstr>
  </property>
  <property fmtid="{D5CDD505-2E9C-101B-9397-08002B2CF9AE}" pid="5" name="WebApplicationID">
    <vt:lpwstr>3f72b11a-dedf-47a1-b48a-dfd7b45017bd</vt:lpwstr>
  </property>
  <property fmtid="{D5CDD505-2E9C-101B-9397-08002B2CF9AE}" pid="6" name="I2ISITECODE">
    <vt:lpwstr/>
  </property>
</Properties>
</file>
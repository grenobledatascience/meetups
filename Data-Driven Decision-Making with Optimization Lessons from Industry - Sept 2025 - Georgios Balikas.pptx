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j4HeJamEw4iNZb0YrpJndDveER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378fbe7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378fbe7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378fbe7a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378fbe7a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378fbe7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378fbe7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driven decision making with Optimization: lessons from the industry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95777"/>
            <a:ext cx="85206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Grenoble Data Science Meetup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Georgios Balikas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673100" y="4076050"/>
            <a:ext cx="57978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Sept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Agenda 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we use Optimization at Kelkoo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Simple problems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Code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Passionate about Machine Learning: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Information Retrieval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NLP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Forecasting and Optimization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Currently at Kelkoo Group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Community contributor: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Academic and industry conferences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Grenoble Data Science Meetup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Some open source contributions  </a:t>
            </a:r>
            <a:endParaRPr/>
          </a:p>
        </p:txBody>
      </p:sp>
      <p:pic>
        <p:nvPicPr>
          <p:cNvPr id="68" name="Google Shape;68;p3" title="Screenshot 2025-09-19 at 18.42.1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5482" y="261550"/>
            <a:ext cx="2587225" cy="26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 title="Screenshot 2025-09-19 at 18.49.3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100" y="3436850"/>
            <a:ext cx="3429600" cy="14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>
                <a:solidFill>
                  <a:srgbClr val="38761D"/>
                </a:solidFill>
              </a:rPr>
              <a:t>Data driven decision making</a:t>
            </a:r>
            <a:r>
              <a:rPr lang="en" sz="5200">
                <a:solidFill>
                  <a:schemeClr val="dk1"/>
                </a:solidFill>
              </a:rPr>
              <a:t> with </a:t>
            </a:r>
            <a:r>
              <a:rPr lang="en" sz="5200">
                <a:solidFill>
                  <a:srgbClr val="990000"/>
                </a:solidFill>
              </a:rPr>
              <a:t>Optimization</a:t>
            </a:r>
            <a:r>
              <a:rPr lang="en" sz="5200">
                <a:solidFill>
                  <a:schemeClr val="dk1"/>
                </a:solidFill>
              </a:rPr>
              <a:t>: lessons from the industry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&amp; Mixed Integer Linear Programming</a:t>
            </a:r>
            <a:endParaRPr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It’s about finding the best solution to a problem, under some constraints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Linear Optimization: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Continuous decision variables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Maximization/Minimization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Constraints are inequalities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Fast, scalable, approximate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Linear &amp; Mixed Integer Linear Programming</a:t>
            </a:r>
            <a:endParaRPr/>
          </a:p>
        </p:txBody>
      </p:sp>
      <p:sp>
        <p:nvSpPr>
          <p:cNvPr id="86" name="Google Shape;8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It’s about finding the best solution to a problem, under some constraints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Linear Optimization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Mixed Integer Linear Optimization: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decision variables are integers or binary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Expressive, realistic but harder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235974" y="1017725"/>
            <a:ext cx="8524568" cy="362064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At Kelkoo, we do traffic allocation and price optimization</a:t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408561" y="1647217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703633" y="2065912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Darty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998705" y="2484607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Fnac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1271080" y="2903302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Courir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6579141" y="1647217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6874213" y="2065912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Bing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7169285" y="2484607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Kelkoo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7441660" y="2903302"/>
            <a:ext cx="862519" cy="5058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 rot="-5400000">
            <a:off x="1053033" y="3231811"/>
            <a:ext cx="163717" cy="114786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24975" y="3891174"/>
            <a:ext cx="10198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Merchants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 rot="-5400000">
            <a:off x="7376012" y="3193450"/>
            <a:ext cx="163717" cy="114786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947153" y="3849242"/>
            <a:ext cx="1021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Publishers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739473" y="2197438"/>
            <a:ext cx="1256490" cy="748624"/>
          </a:xfrm>
          <a:prstGeom prst="rect">
            <a:avLst/>
          </a:prstGeom>
          <a:solidFill>
            <a:srgbClr val="B1CDFB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/>
          </a:p>
        </p:txBody>
      </p:sp>
      <p:cxnSp>
        <p:nvCxnSpPr>
          <p:cNvPr id="106" name="Google Shape;106;p15"/>
          <p:cNvCxnSpPr/>
          <p:nvPr/>
        </p:nvCxnSpPr>
        <p:spPr>
          <a:xfrm>
            <a:off x="2521974" y="2571750"/>
            <a:ext cx="88490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15"/>
          <p:cNvCxnSpPr/>
          <p:nvPr/>
        </p:nvCxnSpPr>
        <p:spPr>
          <a:xfrm>
            <a:off x="5432322" y="2552700"/>
            <a:ext cx="88490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15"/>
          <p:cNvSpPr txBox="1"/>
          <p:nvPr/>
        </p:nvSpPr>
        <p:spPr>
          <a:xfrm>
            <a:off x="7637129" y="4330591"/>
            <a:ext cx="115929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countries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The problem we are trying to solve</a:t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Maximize (a set of business KPIs)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/>
              <a:t>so that we satisfy our collaborators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/>
              <a:t>and our shareholders 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 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Decision variables: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/>
              <a:t>Traffic allocation: mostly binary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"/>
              <a:t>Pricing: mostly float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Very complex pre-processing of past data to fill the holes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 simplified version</a:t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311700" y="1184787"/>
            <a:ext cx="4095600" cy="37828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make two products: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 A (Orange Juice)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Product B (Lemon Juice)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Resources: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glass of A uses 2 lemons + 1 cup sugar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glass of B uses 1 lemon + 2 cups sugar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most 10 lemons and 8 cups sugar.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can’t make negative quantities.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Profit per unit: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→ 3€</a:t>
            </a:r>
            <a:endParaRPr/>
          </a:p>
          <a:p>
            <a:pPr indent="-285750" lvl="0" marL="4706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→ 2€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maximize your profit?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 simplified version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311700" y="1184787"/>
            <a:ext cx="4095600" cy="37828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You make two products: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Product A (Orange Juice)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Product B (Lemon Juice)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Resources: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Each glass of A uses 2 lemons + 1 cup sugar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Each glass of B uses 1 lemon + 2 cups sugar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At most 10 lemons and 8 cups sugar.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You can’t make negative quantities.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Profit per unit: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A → 3€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B → 2€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Arial"/>
              <a:buNone/>
            </a:pPr>
            <a:r>
              <a:rPr lang="en" sz="1300"/>
              <a:t>How to maximize your profit?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736700" y="1362145"/>
            <a:ext cx="409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Let x</a:t>
            </a:r>
            <a:r>
              <a:rPr baseline="-25000" lang="en" sz="1300"/>
              <a:t>1</a:t>
            </a:r>
            <a:r>
              <a:rPr lang="en" sz="1300"/>
              <a:t>: number of orange juice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Let x</a:t>
            </a:r>
            <a:r>
              <a:rPr baseline="-25000" lang="en" sz="1300"/>
              <a:t>2</a:t>
            </a:r>
            <a:r>
              <a:rPr lang="en" sz="1300"/>
              <a:t>: number of lemon juice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max 3 * x</a:t>
            </a:r>
            <a:r>
              <a:rPr baseline="-25000" lang="en" sz="1300"/>
              <a:t>1 </a:t>
            </a:r>
            <a:r>
              <a:rPr lang="en" sz="1300"/>
              <a:t>+ 2 * x</a:t>
            </a:r>
            <a:r>
              <a:rPr baseline="-25000" lang="en" sz="1300"/>
              <a:t>2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2*x</a:t>
            </a:r>
            <a:r>
              <a:rPr baseline="-25000" lang="en" sz="1300"/>
              <a:t>1</a:t>
            </a:r>
            <a:r>
              <a:rPr lang="en" sz="1300"/>
              <a:t>+x</a:t>
            </a:r>
            <a:r>
              <a:rPr baseline="-25000" lang="en" sz="1300"/>
              <a:t>2</a:t>
            </a:r>
            <a:r>
              <a:rPr lang="en" sz="1300"/>
              <a:t> ≤ 10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+2*x</a:t>
            </a:r>
            <a:r>
              <a:rPr baseline="-25000" lang="en" sz="1300"/>
              <a:t>2</a:t>
            </a:r>
            <a:r>
              <a:rPr lang="en" sz="1300"/>
              <a:t> ≤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&gt;=0, int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2</a:t>
            </a:r>
            <a:r>
              <a:rPr lang="en" sz="1300"/>
              <a:t>&gt;=0, int     </a:t>
            </a:r>
            <a:endParaRPr sz="1300"/>
          </a:p>
        </p:txBody>
      </p:sp>
      <p:sp>
        <p:nvSpPr>
          <p:cNvPr id="128" name="Google Shape;128;p8"/>
          <p:cNvSpPr/>
          <p:nvPr/>
        </p:nvSpPr>
        <p:spPr>
          <a:xfrm>
            <a:off x="5972068" y="2869139"/>
            <a:ext cx="175098" cy="54474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6566544" y="2216269"/>
            <a:ext cx="14991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 Function </a:t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6059617" y="3953463"/>
            <a:ext cx="16433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Variables,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Non-neg. constraints </a:t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5749813" y="3911922"/>
            <a:ext cx="175098" cy="54474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347272" y="2174020"/>
            <a:ext cx="107828" cy="36149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167700" y="3003013"/>
            <a:ext cx="10038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Constraints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78fbe7a5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visual representation of the problem</a:t>
            </a:r>
            <a:endParaRPr/>
          </a:p>
        </p:txBody>
      </p:sp>
      <p:sp>
        <p:nvSpPr>
          <p:cNvPr id="139" name="Google Shape;139;g38378fbe7a5_0_13"/>
          <p:cNvSpPr txBox="1"/>
          <p:nvPr>
            <p:ph idx="1" type="body"/>
          </p:nvPr>
        </p:nvSpPr>
        <p:spPr>
          <a:xfrm>
            <a:off x="614675" y="1291850"/>
            <a:ext cx="2637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Let x</a:t>
            </a:r>
            <a:r>
              <a:rPr baseline="-25000" lang="en" sz="1300"/>
              <a:t>1</a:t>
            </a:r>
            <a:r>
              <a:rPr lang="en" sz="1300"/>
              <a:t>: number of orange juice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Let x</a:t>
            </a:r>
            <a:r>
              <a:rPr baseline="-25000" lang="en" sz="1300"/>
              <a:t>2</a:t>
            </a:r>
            <a:r>
              <a:rPr lang="en" sz="1300"/>
              <a:t>: number of lemon juice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max 3 * x</a:t>
            </a:r>
            <a:r>
              <a:rPr baseline="-25000" lang="en" sz="1300"/>
              <a:t>1 </a:t>
            </a:r>
            <a:r>
              <a:rPr lang="en" sz="1300"/>
              <a:t>+ 2 * x</a:t>
            </a:r>
            <a:r>
              <a:rPr baseline="-25000" lang="en" sz="1300"/>
              <a:t>2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2*x</a:t>
            </a:r>
            <a:r>
              <a:rPr baseline="-25000" lang="en" sz="1300"/>
              <a:t>1</a:t>
            </a:r>
            <a:r>
              <a:rPr lang="en" sz="1300"/>
              <a:t>+x</a:t>
            </a:r>
            <a:r>
              <a:rPr baseline="-25000" lang="en" sz="1300"/>
              <a:t>2</a:t>
            </a:r>
            <a:r>
              <a:rPr lang="en" sz="1300"/>
              <a:t> ≤ 10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+2*x</a:t>
            </a:r>
            <a:r>
              <a:rPr baseline="-25000" lang="en" sz="1300"/>
              <a:t>2</a:t>
            </a:r>
            <a:r>
              <a:rPr lang="en" sz="1300"/>
              <a:t> ≤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&gt;=0, int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2</a:t>
            </a:r>
            <a:r>
              <a:rPr lang="en" sz="1300"/>
              <a:t>&gt;=0, int     </a:t>
            </a:r>
            <a:endParaRPr sz="1300"/>
          </a:p>
        </p:txBody>
      </p:sp>
      <p:pic>
        <p:nvPicPr>
          <p:cNvPr id="140" name="Google Shape;140;g38378fbe7a5_0_13" title="Screenshot 2025-09-25 at 17.25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450" y="1053725"/>
            <a:ext cx="4439274" cy="39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A simplified 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311700" y="1184787"/>
            <a:ext cx="4095600" cy="37828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D6D6D6"/>
                </a:solidFill>
              </a:rPr>
              <a:t>You make two products: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Product A (Orange Juice)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Product B (Lemon Juice)</a:t>
            </a:r>
            <a:endParaRPr sz="1300"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D6D6D6"/>
                </a:solidFill>
              </a:rPr>
              <a:t>Resources: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Each glass of A uses 2 lemons + 1 cup sugar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Each glass of B uses 1 lemon + 2 cups sugar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At most 10 lemons and 8 cups sugar.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You can’t make negative quantities.</a:t>
            </a:r>
            <a:endParaRPr sz="1300"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D6D6D6"/>
                </a:solidFill>
              </a:rPr>
              <a:t>Profit per unit: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A → 3€</a:t>
            </a:r>
            <a:endParaRPr sz="1300">
              <a:solidFill>
                <a:srgbClr val="D6D6D6"/>
              </a:solidFill>
            </a:endParaRPr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>
                <a:solidFill>
                  <a:srgbClr val="D6D6D6"/>
                </a:solidFill>
              </a:rPr>
              <a:t>B → 2€</a:t>
            </a:r>
            <a:endParaRPr sz="1300"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Arial"/>
              <a:buNone/>
            </a:pPr>
            <a:r>
              <a:rPr lang="en" sz="1300">
                <a:solidFill>
                  <a:srgbClr val="D6D6D6"/>
                </a:solidFill>
              </a:rPr>
              <a:t>How to maximize your profit?</a:t>
            </a:r>
            <a:endParaRPr sz="1300"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4736700" y="1362145"/>
            <a:ext cx="409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Let x</a:t>
            </a:r>
            <a:r>
              <a:rPr baseline="-25000" lang="en">
                <a:solidFill>
                  <a:srgbClr val="D6D6D6"/>
                </a:solidFill>
              </a:rPr>
              <a:t>1</a:t>
            </a:r>
            <a:r>
              <a:rPr lang="en">
                <a:solidFill>
                  <a:srgbClr val="D6D6D6"/>
                </a:solidFill>
              </a:rPr>
              <a:t>: number of orange juice </a:t>
            </a:r>
            <a:endParaRPr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Let x</a:t>
            </a:r>
            <a:r>
              <a:rPr baseline="-25000" lang="en">
                <a:solidFill>
                  <a:srgbClr val="D6D6D6"/>
                </a:solidFill>
              </a:rPr>
              <a:t>2</a:t>
            </a:r>
            <a:r>
              <a:rPr lang="en">
                <a:solidFill>
                  <a:srgbClr val="D6D6D6"/>
                </a:solidFill>
              </a:rPr>
              <a:t>: number of lemon juice</a:t>
            </a:r>
            <a:endParaRPr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max 3 * x</a:t>
            </a:r>
            <a:r>
              <a:rPr baseline="-25000" lang="en">
                <a:solidFill>
                  <a:srgbClr val="D6D6D6"/>
                </a:solidFill>
              </a:rPr>
              <a:t>1 </a:t>
            </a:r>
            <a:r>
              <a:rPr lang="en">
                <a:solidFill>
                  <a:srgbClr val="D6D6D6"/>
                </a:solidFill>
              </a:rPr>
              <a:t>+ 2 * x</a:t>
            </a:r>
            <a:r>
              <a:rPr baseline="-25000" lang="en">
                <a:solidFill>
                  <a:srgbClr val="D6D6D6"/>
                </a:solidFill>
              </a:rPr>
              <a:t>2</a:t>
            </a:r>
            <a:endParaRPr>
              <a:solidFill>
                <a:srgbClr val="D6D6D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2*x</a:t>
            </a:r>
            <a:r>
              <a:rPr baseline="-25000" lang="en">
                <a:solidFill>
                  <a:srgbClr val="D6D6D6"/>
                </a:solidFill>
              </a:rPr>
              <a:t>1</a:t>
            </a:r>
            <a:r>
              <a:rPr lang="en">
                <a:solidFill>
                  <a:srgbClr val="D6D6D6"/>
                </a:solidFill>
              </a:rPr>
              <a:t>+x</a:t>
            </a:r>
            <a:r>
              <a:rPr baseline="-25000" lang="en">
                <a:solidFill>
                  <a:srgbClr val="D6D6D6"/>
                </a:solidFill>
              </a:rPr>
              <a:t>2</a:t>
            </a:r>
            <a:r>
              <a:rPr lang="en">
                <a:solidFill>
                  <a:srgbClr val="D6D6D6"/>
                </a:solidFill>
              </a:rPr>
              <a:t> ≤ 10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x</a:t>
            </a:r>
            <a:r>
              <a:rPr baseline="-25000" lang="en">
                <a:solidFill>
                  <a:srgbClr val="D6D6D6"/>
                </a:solidFill>
              </a:rPr>
              <a:t>1</a:t>
            </a:r>
            <a:r>
              <a:rPr lang="en">
                <a:solidFill>
                  <a:srgbClr val="D6D6D6"/>
                </a:solidFill>
              </a:rPr>
              <a:t>+2*x</a:t>
            </a:r>
            <a:r>
              <a:rPr baseline="-25000" lang="en">
                <a:solidFill>
                  <a:srgbClr val="D6D6D6"/>
                </a:solidFill>
              </a:rPr>
              <a:t>2</a:t>
            </a:r>
            <a:r>
              <a:rPr lang="en">
                <a:solidFill>
                  <a:srgbClr val="D6D6D6"/>
                </a:solidFill>
              </a:rPr>
              <a:t> ≤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x</a:t>
            </a:r>
            <a:r>
              <a:rPr baseline="-25000" lang="en">
                <a:solidFill>
                  <a:srgbClr val="D6D6D6"/>
                </a:solidFill>
              </a:rPr>
              <a:t>1</a:t>
            </a:r>
            <a:r>
              <a:rPr lang="en">
                <a:solidFill>
                  <a:srgbClr val="D6D6D6"/>
                </a:solidFill>
              </a:rPr>
              <a:t>&gt;=0, int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ct val="117647"/>
              <a:buNone/>
            </a:pPr>
            <a:r>
              <a:rPr lang="en">
                <a:solidFill>
                  <a:srgbClr val="D6D6D6"/>
                </a:solidFill>
              </a:rPr>
              <a:t>x</a:t>
            </a:r>
            <a:r>
              <a:rPr baseline="-25000" lang="en">
                <a:solidFill>
                  <a:srgbClr val="D6D6D6"/>
                </a:solidFill>
              </a:rPr>
              <a:t>2</a:t>
            </a:r>
            <a:r>
              <a:rPr lang="en">
                <a:solidFill>
                  <a:srgbClr val="D6D6D6"/>
                </a:solidFill>
              </a:rPr>
              <a:t>&gt;=0, int     </a:t>
            </a:r>
            <a:endParaRPr>
              <a:solidFill>
                <a:srgbClr val="D6D6D6"/>
              </a:solidFill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6784500" y="2133263"/>
            <a:ext cx="17171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6D6D6"/>
                </a:solidFill>
                <a:latin typeface="Arial"/>
                <a:ea typeface="Arial"/>
                <a:cs typeface="Arial"/>
                <a:sym typeface="Arial"/>
              </a:rPr>
              <a:t>Objective Function 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6089611" y="3841987"/>
            <a:ext cx="18854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6D6D6"/>
                </a:solidFill>
                <a:latin typeface="Arial"/>
                <a:ea typeface="Arial"/>
                <a:cs typeface="Arial"/>
                <a:sym typeface="Arial"/>
              </a:rPr>
              <a:t>Decision Variables,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6D6D6"/>
                </a:solidFill>
                <a:latin typeface="Arial"/>
                <a:ea typeface="Arial"/>
                <a:cs typeface="Arial"/>
                <a:sym typeface="Arial"/>
              </a:rPr>
              <a:t>Non-neg. constraints </a:t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6401773" y="2904381"/>
            <a:ext cx="11400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6D6D6"/>
                </a:solidFill>
                <a:latin typeface="Arial"/>
                <a:ea typeface="Arial"/>
                <a:cs typeface="Arial"/>
                <a:sym typeface="Arial"/>
              </a:rPr>
              <a:t>Constraints 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1821999" y="1027991"/>
            <a:ext cx="91242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3594417" y="1018608"/>
            <a:ext cx="162576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 Formulation </a:t>
            </a:r>
            <a:endParaRPr/>
          </a:p>
        </p:txBody>
      </p:sp>
      <p:cxnSp>
        <p:nvCxnSpPr>
          <p:cNvPr id="153" name="Google Shape;153;p9"/>
          <p:cNvCxnSpPr>
            <a:stCxn id="151" idx="3"/>
            <a:endCxn id="152" idx="1"/>
          </p:cNvCxnSpPr>
          <p:nvPr/>
        </p:nvCxnSpPr>
        <p:spPr>
          <a:xfrm flipH="1" rot="10800000">
            <a:off x="2734428" y="1172580"/>
            <a:ext cx="860100" cy="9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9"/>
          <p:cNvCxnSpPr/>
          <p:nvPr/>
        </p:nvCxnSpPr>
        <p:spPr>
          <a:xfrm>
            <a:off x="5279832" y="1172332"/>
            <a:ext cx="7373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9"/>
          <p:cNvSpPr txBox="1"/>
          <p:nvPr/>
        </p:nvSpPr>
        <p:spPr>
          <a:xfrm>
            <a:off x="6108739" y="1016253"/>
            <a:ext cx="7825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Demo - iterations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Coding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PuLP: Python Unstructured Linear Programming, a </a:t>
            </a:r>
            <a:r>
              <a:rPr i="1" lang="en"/>
              <a:t>modeling framework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540837" y="1576153"/>
            <a:ext cx="263686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 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number of orange juice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 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number of lemonade juice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 3 * 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+ 2 * 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2*x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≤ 10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+2*x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≤ 8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&gt;=0, int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&gt;=0, int     </a:t>
            </a:r>
            <a:endParaRPr/>
          </a:p>
        </p:txBody>
      </p:sp>
      <p:pic>
        <p:nvPicPr>
          <p:cNvPr descr="A computer screen shot of a program&#10;&#10;AI-generated content may be incorrect." id="169" name="Google Shape;1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1483" y="1633488"/>
            <a:ext cx="3718582" cy="33017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3"/>
          <p:cNvCxnSpPr/>
          <p:nvPr/>
        </p:nvCxnSpPr>
        <p:spPr>
          <a:xfrm>
            <a:off x="2944239" y="3284353"/>
            <a:ext cx="144617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A simplified version with a twist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 txBox="1"/>
          <p:nvPr>
            <p:ph idx="1" type="body"/>
          </p:nvPr>
        </p:nvSpPr>
        <p:spPr>
          <a:xfrm>
            <a:off x="311700" y="1184787"/>
            <a:ext cx="4095600" cy="37828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100"/>
              <a:t>You make two products: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Product A (Orange Juice)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Product B (Lemon Juice)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100"/>
              <a:t>Resources: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Each glass of A uses 2 lemons + 1 cup sugar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Each glass of B uses 1 lemon + 2 cups sugar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At most 10 lemons and 8 cups sugar.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You can’t make negative quantities.</a:t>
            </a:r>
            <a:endParaRPr/>
          </a:p>
          <a:p>
            <a:pPr indent="-285749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b="1" lang="en" sz="1100"/>
              <a:t>Setting up a production line costs 3€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100"/>
              <a:t>Profit per unit: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A → 3€</a:t>
            </a:r>
            <a:endParaRPr sz="1100"/>
          </a:p>
          <a:p>
            <a:pPr indent="-285749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2"/>
              <a:buFont typeface="Noto Sans Symbols"/>
              <a:buChar char="▪"/>
            </a:pPr>
            <a:r>
              <a:rPr lang="en" sz="1100"/>
              <a:t>B → 2€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2"/>
              <a:buFont typeface="Arial"/>
              <a:buNone/>
            </a:pPr>
            <a:r>
              <a:rPr lang="en" sz="1100"/>
              <a:t>How to maximize your profit?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A simplified version with a twist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 txBox="1"/>
          <p:nvPr>
            <p:ph idx="1" type="body"/>
          </p:nvPr>
        </p:nvSpPr>
        <p:spPr>
          <a:xfrm>
            <a:off x="311700" y="1061572"/>
            <a:ext cx="4095600" cy="37828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You make two products: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Product A (Orange Juice)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Product B (Lemon Juice)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Resources: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Each glass of A uses 2 lemons + 1 cup sugar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Each glass of B uses 1 lemon + 2 cups sugar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At most 10 lemons and 8 cups sugar.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You can’t make negative quantities.</a:t>
            </a:r>
            <a:endParaRPr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Setting up a production line costs 3€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Profit per unit: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A → 3€</a:t>
            </a:r>
            <a:endParaRPr sz="1300"/>
          </a:p>
          <a:p>
            <a:pPr indent="-285750" lvl="0" marL="4706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4"/>
              <a:buFont typeface="Noto Sans Symbols"/>
              <a:buChar char="▪"/>
            </a:pPr>
            <a:r>
              <a:rPr lang="en" sz="1300"/>
              <a:t>B → 2€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94"/>
              <a:buFont typeface="Arial"/>
              <a:buNone/>
            </a:pPr>
            <a:r>
              <a:rPr lang="en" sz="1300"/>
              <a:t>How to maximize your profit?</a:t>
            </a:r>
            <a:endParaRPr sz="1300"/>
          </a:p>
        </p:txBody>
      </p:sp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4736702" y="1070852"/>
            <a:ext cx="409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Let x</a:t>
            </a:r>
            <a:r>
              <a:rPr baseline="-25000" lang="en" sz="1300"/>
              <a:t>1</a:t>
            </a:r>
            <a:r>
              <a:rPr lang="en" sz="1300"/>
              <a:t>, x</a:t>
            </a:r>
            <a:r>
              <a:rPr baseline="-25000" lang="en" sz="1300"/>
              <a:t>2</a:t>
            </a:r>
            <a:r>
              <a:rPr lang="en" sz="1300"/>
              <a:t>: number of orange and lemon juice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Let y</a:t>
            </a:r>
            <a:r>
              <a:rPr baseline="-25000" lang="en" sz="1300"/>
              <a:t>1</a:t>
            </a:r>
            <a:r>
              <a:rPr lang="en" sz="1300"/>
              <a:t>, y</a:t>
            </a:r>
            <a:r>
              <a:rPr baseline="-25000" lang="en" sz="1300"/>
              <a:t>2</a:t>
            </a:r>
            <a:r>
              <a:rPr lang="en" sz="1300"/>
              <a:t>: binary dec. variables per prod. line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max 3*x</a:t>
            </a:r>
            <a:r>
              <a:rPr baseline="-25000" lang="en" sz="1300"/>
              <a:t>1 </a:t>
            </a:r>
            <a:r>
              <a:rPr lang="en" sz="1300"/>
              <a:t>+ 2 *x</a:t>
            </a:r>
            <a:r>
              <a:rPr baseline="-25000" lang="en" sz="1300"/>
              <a:t>2 </a:t>
            </a:r>
            <a:r>
              <a:rPr lang="en" sz="1300"/>
              <a:t>– 3*y</a:t>
            </a:r>
            <a:r>
              <a:rPr baseline="-25000" lang="en" sz="1300"/>
              <a:t>1</a:t>
            </a:r>
            <a:r>
              <a:rPr lang="en" sz="1300"/>
              <a:t> – 3*y</a:t>
            </a:r>
            <a:r>
              <a:rPr baseline="-25000" lang="en" sz="1300"/>
              <a:t>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2*x</a:t>
            </a:r>
            <a:r>
              <a:rPr baseline="-25000" lang="en" sz="1300"/>
              <a:t>1</a:t>
            </a:r>
            <a:r>
              <a:rPr lang="en" sz="1300"/>
              <a:t>+x</a:t>
            </a:r>
            <a:r>
              <a:rPr baseline="-25000" lang="en" sz="1300"/>
              <a:t>2</a:t>
            </a:r>
            <a:r>
              <a:rPr lang="en" sz="1300"/>
              <a:t> ≤ 10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+2*x</a:t>
            </a:r>
            <a:r>
              <a:rPr baseline="-25000" lang="en" sz="1300"/>
              <a:t>2</a:t>
            </a:r>
            <a:r>
              <a:rPr lang="en" sz="1300"/>
              <a:t> ≤ 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 ≤ M*y</a:t>
            </a:r>
            <a:r>
              <a:rPr baseline="-25000" lang="en" sz="1300"/>
              <a:t>1</a:t>
            </a:r>
            <a:r>
              <a:rPr lang="en" sz="1300"/>
              <a:t>, x</a:t>
            </a:r>
            <a:r>
              <a:rPr baseline="-25000" lang="en" sz="1300"/>
              <a:t>2</a:t>
            </a:r>
            <a:r>
              <a:rPr lang="en" sz="1300"/>
              <a:t> ≤ M*y</a:t>
            </a:r>
            <a:r>
              <a:rPr baseline="-25000" lang="en" sz="1300"/>
              <a:t>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ts val="1800"/>
              <a:buNone/>
            </a:pPr>
            <a:r>
              <a:rPr lang="en" sz="1300"/>
              <a:t>x</a:t>
            </a:r>
            <a:r>
              <a:rPr baseline="-25000" lang="en" sz="1300"/>
              <a:t>1</a:t>
            </a:r>
            <a:r>
              <a:rPr lang="en" sz="1300"/>
              <a:t>&gt;=0, x</a:t>
            </a:r>
            <a:r>
              <a:rPr baseline="-25000" lang="en" sz="1300"/>
              <a:t>2</a:t>
            </a:r>
            <a:r>
              <a:rPr lang="en" sz="1300"/>
              <a:t>&gt;=0, y</a:t>
            </a:r>
            <a:r>
              <a:rPr baseline="-25000" lang="en" sz="1300"/>
              <a:t>1</a:t>
            </a:r>
            <a:r>
              <a:rPr lang="en" sz="1300"/>
              <a:t>,y</a:t>
            </a:r>
            <a:r>
              <a:rPr baseline="-25000" lang="en" sz="1300"/>
              <a:t>2</a:t>
            </a:r>
            <a:r>
              <a:rPr lang="en" sz="1300"/>
              <a:t> = {0,1}</a:t>
            </a:r>
            <a:endParaRPr sz="1300"/>
          </a:p>
        </p:txBody>
      </p:sp>
      <p:sp>
        <p:nvSpPr>
          <p:cNvPr id="184" name="Google Shape;184;p11"/>
          <p:cNvSpPr/>
          <p:nvPr/>
        </p:nvSpPr>
        <p:spPr>
          <a:xfrm>
            <a:off x="6505640" y="3474798"/>
            <a:ext cx="89713" cy="33196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6707051" y="3425335"/>
            <a:ext cx="18838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Big-M method, links binary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cont. variables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Demo again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378fbe7a5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these techniques </a:t>
            </a:r>
            <a:endParaRPr/>
          </a:p>
        </p:txBody>
      </p:sp>
      <p:sp>
        <p:nvSpPr>
          <p:cNvPr id="197" name="Google Shape;197;g38378fbe7a5_0_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Predict-then-optimize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Resource allocation, combinatorial problems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Limited resources, competing objectives, </a:t>
            </a:r>
            <a:r>
              <a:rPr lang="en"/>
              <a:t>constraints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Clear, quantifiable objectives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problems feels like “Maximize XYZ”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When small improvements can have sizeable impact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Otherwise, heuristics could work fine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378fbe7a5_0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 </a:t>
            </a:r>
            <a:endParaRPr/>
          </a:p>
        </p:txBody>
      </p:sp>
      <p:sp>
        <p:nvSpPr>
          <p:cNvPr id="203" name="Google Shape;203;g38378fbe7a5_0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very flexible and scalable framework, with great modeling power.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Allows for translating (complex) business problems to solutions.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lot of effort goes to data preparation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model, in most cases, is not that complex at the 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Garbage in, garbage 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Counter-intuitive behaviour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Designing a model in paper vs running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Tooling to allow for quick iterations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Explainability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Especially with a lot of Big-M types of variables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 simple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 title="ChatGPT Image Sep 25, 2025 at 04_01_1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800" y="590675"/>
            <a:ext cx="6368452" cy="424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